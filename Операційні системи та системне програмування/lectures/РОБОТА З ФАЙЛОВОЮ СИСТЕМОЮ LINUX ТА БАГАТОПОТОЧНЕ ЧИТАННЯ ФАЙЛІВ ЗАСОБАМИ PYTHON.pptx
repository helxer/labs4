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embeddedFontLst>
    <p:embeddedFont>
      <p:font typeface="Lustria"/>
      <p:regular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B06355-525E-4C45-AF68-5B78CF9EEBC0}">
  <a:tblStyle styleId="{47B06355-525E-4C45-AF68-5B78CF9EEBC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3.xml"/><Relationship Id="rId41" Type="http://schemas.openxmlformats.org/officeDocument/2006/relationships/font" Target="fonts/OpenSans-bold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Lustria-regular.fntdata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OpenSans-bold.fntdata"/><Relationship Id="rId16" Type="http://schemas.openxmlformats.org/officeDocument/2006/relationships/slide" Target="slides/slide9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d8a67a4f5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cd8a67a4f5_2_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d8a67a4f5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cd8a67a4f5_2_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d8a67a4f5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cd8a67a4f5_2_1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d8a67a4f5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cd8a67a4f5_2_1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d8a67a4f5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cd8a67a4f5_2_1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d8a67a4f5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cd8a67a4f5_2_1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d8a67a4f5_2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cd8a67a4f5_2_1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d8a67a4f5_2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cd8a67a4f5_2_1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d8a67a4f5_2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cd8a67a4f5_2_2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d8a67a4f5_2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cd8a67a4f5_2_2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d8a67a4f5_2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cd8a67a4f5_2_2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d8a67a4f5_2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cd8a67a4f5_2_2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d8a67a4f5_2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cd8a67a4f5_2_2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d8a67a4f5_2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cd8a67a4f5_2_2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d8a67a4f5_2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cd8a67a4f5_2_2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d8a67a4f5_2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cd8a67a4f5_2_3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cd8a67a4f5_2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cd8a67a4f5_2_3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d8a67a4f5_2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cd8a67a4f5_2_3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d8a67a4f5_2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cd8a67a4f5_2_3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cd8a67a4f5_2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cd8a67a4f5_2_3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cd8a67a4f5_2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cd8a67a4f5_2_3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cd8a67a4f5_2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cd8a67a4f5_2_3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cd8a67a4f5_2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cd8a67a4f5_2_4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cd8a67a4f5_2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cd8a67a4f5_2_4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cd8a67a4f5_2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cd8a67a4f5_2_4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cd8a67a4f5_2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cd8a67a4f5_2_4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cd8a67a4f5_2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cd8a67a4f5_2_4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cd8a67a4f5_2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cd8a67a4f5_2_4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cd8a67a4f5_2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cd8a67a4f5_2_5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528066" y="667365"/>
            <a:ext cx="7492181" cy="26989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528066" y="3366319"/>
            <a:ext cx="5243832" cy="97708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lvl="1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528066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525476" y="685800"/>
            <a:ext cx="8018449" cy="9806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525476" y="1666494"/>
            <a:ext cx="8018449" cy="28049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528066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536537" y="1282304"/>
            <a:ext cx="797405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536537" y="3442097"/>
            <a:ext cx="797405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528066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525476" y="685800"/>
            <a:ext cx="8018449" cy="9806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528066" y="1666494"/>
            <a:ext cx="3909060" cy="28049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body"/>
          </p:nvPr>
        </p:nvSpPr>
        <p:spPr>
          <a:xfrm>
            <a:off x="4636008" y="1666494"/>
            <a:ext cx="3909060" cy="28049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528066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528065" y="696860"/>
            <a:ext cx="8017002" cy="5988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528066" y="1317404"/>
            <a:ext cx="3909060" cy="49291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2" type="body"/>
          </p:nvPr>
        </p:nvSpPr>
        <p:spPr>
          <a:xfrm>
            <a:off x="528066" y="1832027"/>
            <a:ext cx="3909060" cy="26393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3" type="body"/>
          </p:nvPr>
        </p:nvSpPr>
        <p:spPr>
          <a:xfrm>
            <a:off x="4636008" y="1317404"/>
            <a:ext cx="3909060" cy="49291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8"/>
          <p:cNvSpPr txBox="1"/>
          <p:nvPr>
            <p:ph idx="4" type="body"/>
          </p:nvPr>
        </p:nvSpPr>
        <p:spPr>
          <a:xfrm>
            <a:off x="4636008" y="1832027"/>
            <a:ext cx="3909060" cy="26393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0" type="dt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528066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525476" y="685800"/>
            <a:ext cx="8018449" cy="9806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0" type="dt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1" type="ftr"/>
          </p:nvPr>
        </p:nvSpPr>
        <p:spPr>
          <a:xfrm>
            <a:off x="528066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idx="10" type="dt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528066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528066" y="802386"/>
            <a:ext cx="3070199" cy="98755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887391" y="802386"/>
            <a:ext cx="4629150" cy="35934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p21"/>
          <p:cNvSpPr txBox="1"/>
          <p:nvPr>
            <p:ph idx="2" type="body"/>
          </p:nvPr>
        </p:nvSpPr>
        <p:spPr>
          <a:xfrm>
            <a:off x="528066" y="1913382"/>
            <a:ext cx="3070199" cy="24894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p21"/>
          <p:cNvSpPr txBox="1"/>
          <p:nvPr>
            <p:ph idx="10" type="dt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1" type="ftr"/>
          </p:nvPr>
        </p:nvSpPr>
        <p:spPr>
          <a:xfrm>
            <a:off x="528066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528066" y="800100"/>
            <a:ext cx="3077573" cy="98814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/>
          <p:nvPr>
            <p:ph idx="2" type="pic"/>
          </p:nvPr>
        </p:nvSpPr>
        <p:spPr>
          <a:xfrm>
            <a:off x="3887391" y="800100"/>
            <a:ext cx="4629150" cy="3595688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528066" y="1914525"/>
            <a:ext cx="3077573" cy="24872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p22"/>
          <p:cNvSpPr txBox="1"/>
          <p:nvPr>
            <p:ph idx="10" type="dt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1" type="ftr"/>
          </p:nvPr>
        </p:nvSpPr>
        <p:spPr>
          <a:xfrm>
            <a:off x="528066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525476" y="685800"/>
            <a:ext cx="8018449" cy="9806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 rot="5400000">
            <a:off x="3132240" y="-940269"/>
            <a:ext cx="2804922" cy="80184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0" type="dt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1" type="ftr"/>
          </p:nvPr>
        </p:nvSpPr>
        <p:spPr>
          <a:xfrm>
            <a:off x="528066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 rot="5400000">
            <a:off x="5943274" y="1736948"/>
            <a:ext cx="3738717" cy="17617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 rot="5400000">
            <a:off x="1884860" y="-559685"/>
            <a:ext cx="3738717" cy="63550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0" type="dt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1" type="ftr"/>
          </p:nvPr>
        </p:nvSpPr>
        <p:spPr>
          <a:xfrm>
            <a:off x="528066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25476" y="685800"/>
            <a:ext cx="8018449" cy="9806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0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25476" y="1666494"/>
            <a:ext cx="8018449" cy="28049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98450" lvl="4" marL="22860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77086" y="4767263"/>
            <a:ext cx="191217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528066" y="4767263"/>
            <a:ext cx="34047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189259" y="4767263"/>
            <a:ext cx="5042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" name="Google Shape;57;p13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2" name="Google Shape;132;p25"/>
          <p:cNvSpPr txBox="1"/>
          <p:nvPr>
            <p:ph type="ctrTitle"/>
          </p:nvPr>
        </p:nvSpPr>
        <p:spPr>
          <a:xfrm>
            <a:off x="527550" y="653825"/>
            <a:ext cx="4190400" cy="29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None/>
            </a:pPr>
            <a:r>
              <a:rPr lang="uk" sz="3200"/>
              <a:t>РОБОТА З ФАЙЛОВОЮ СИСТЕМОЮ LINUX ТА БАГАТОПОТОЧНЕ ЧИТАННЯ ФАЙЛІВ ЗАСОБАМИ PYTHON</a:t>
            </a:r>
            <a:endParaRPr sz="3200"/>
          </a:p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541266" y="3589157"/>
            <a:ext cx="3643393" cy="75424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uk"/>
              <a:t>Лабораторна робота №1</a:t>
            </a:r>
            <a:endParaRPr/>
          </a:p>
        </p:txBody>
      </p:sp>
      <p:cxnSp>
        <p:nvCxnSpPr>
          <p:cNvPr id="134" name="Google Shape;134;p25"/>
          <p:cNvCxnSpPr/>
          <p:nvPr/>
        </p:nvCxnSpPr>
        <p:spPr>
          <a:xfrm>
            <a:off x="600075" y="542925"/>
            <a:ext cx="3686175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25"/>
          <p:cNvCxnSpPr/>
          <p:nvPr/>
        </p:nvCxnSpPr>
        <p:spPr>
          <a:xfrm>
            <a:off x="600075" y="4600575"/>
            <a:ext cx="368617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6" name="Google Shape;136;p25"/>
          <p:cNvPicPr preferRelativeResize="0"/>
          <p:nvPr/>
        </p:nvPicPr>
        <p:blipFill rotWithShape="1">
          <a:blip r:embed="rId3">
            <a:alphaModFix/>
          </a:blip>
          <a:srcRect b="2" l="26813" r="23728" t="0"/>
          <a:stretch/>
        </p:blipFill>
        <p:spPr>
          <a:xfrm>
            <a:off x="4886325" y="8"/>
            <a:ext cx="4257675" cy="5143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42" name="Google Shape;142;p26"/>
          <p:cNvSpPr txBox="1"/>
          <p:nvPr>
            <p:ph type="title"/>
          </p:nvPr>
        </p:nvSpPr>
        <p:spPr>
          <a:xfrm>
            <a:off x="365612" y="685800"/>
            <a:ext cx="4501134" cy="9806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МЕТА РОБОТИ</a:t>
            </a:r>
            <a:endParaRPr/>
          </a:p>
        </p:txBody>
      </p:sp>
      <p:cxnSp>
        <p:nvCxnSpPr>
          <p:cNvPr id="143" name="Google Shape;143;p26"/>
          <p:cNvCxnSpPr/>
          <p:nvPr/>
        </p:nvCxnSpPr>
        <p:spPr>
          <a:xfrm>
            <a:off x="603504" y="541782"/>
            <a:ext cx="1228725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Linux File System Explained!" id="144" name="Google Shape;1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8615" y="1666494"/>
            <a:ext cx="4195970" cy="236023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grpSp>
        <p:nvGrpSpPr>
          <p:cNvPr id="145" name="Google Shape;145;p26"/>
          <p:cNvGrpSpPr/>
          <p:nvPr/>
        </p:nvGrpSpPr>
        <p:grpSpPr>
          <a:xfrm>
            <a:off x="243741" y="1525668"/>
            <a:ext cx="4501134" cy="2915123"/>
            <a:chOff x="0" y="22544"/>
            <a:chExt cx="6001512" cy="3886831"/>
          </a:xfrm>
        </p:grpSpPr>
        <p:sp>
          <p:nvSpPr>
            <p:cNvPr id="146" name="Google Shape;146;p26"/>
            <p:cNvSpPr/>
            <p:nvPr/>
          </p:nvSpPr>
          <p:spPr>
            <a:xfrm>
              <a:off x="0" y="22544"/>
              <a:ext cx="6001512" cy="73359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6"/>
            <p:cNvSpPr txBox="1"/>
            <p:nvPr/>
          </p:nvSpPr>
          <p:spPr>
            <a:xfrm>
              <a:off x="35811" y="58355"/>
              <a:ext cx="5929890" cy="6619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Lustria"/>
                <a:buNone/>
              </a:pPr>
              <a:r>
                <a:rPr b="0" i="0" lang="uk" sz="14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Ознайомитися зі структурою файлової системи Linux</a:t>
              </a:r>
              <a:endPara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0" y="810855"/>
              <a:ext cx="6001512" cy="73359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6"/>
            <p:cNvSpPr txBox="1"/>
            <p:nvPr/>
          </p:nvSpPr>
          <p:spPr>
            <a:xfrm>
              <a:off x="35811" y="846666"/>
              <a:ext cx="5929890" cy="6619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Lustria"/>
                <a:buNone/>
              </a:pPr>
              <a:r>
                <a:rPr b="0" i="0" lang="uk" sz="14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Навчитися працювати з каталогами та файлами через системні виклики</a:t>
              </a:r>
              <a:endPara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0" y="1599165"/>
              <a:ext cx="6001512" cy="73359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6"/>
            <p:cNvSpPr txBox="1"/>
            <p:nvPr/>
          </p:nvSpPr>
          <p:spPr>
            <a:xfrm>
              <a:off x="35811" y="1634976"/>
              <a:ext cx="5929890" cy="6619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Lustria"/>
                <a:buNone/>
              </a:pPr>
              <a:r>
                <a:rPr b="0" i="0" lang="uk" sz="14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Дослідити механізми прав доступу у Linux</a:t>
              </a:r>
              <a:endPara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0" y="2387475"/>
              <a:ext cx="6001512" cy="73359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6"/>
            <p:cNvSpPr txBox="1"/>
            <p:nvPr/>
          </p:nvSpPr>
          <p:spPr>
            <a:xfrm>
              <a:off x="35811" y="2423286"/>
              <a:ext cx="5929890" cy="6619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Lustria"/>
                <a:buNone/>
              </a:pPr>
              <a:r>
                <a:rPr b="0" i="0" lang="uk" sz="14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Реалізувати читання файлів послідовним та багатопоточним способом</a:t>
              </a:r>
              <a:endPara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0" y="3175785"/>
              <a:ext cx="6001512" cy="73359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6"/>
            <p:cNvSpPr txBox="1"/>
            <p:nvPr/>
          </p:nvSpPr>
          <p:spPr>
            <a:xfrm>
              <a:off x="35811" y="3211596"/>
              <a:ext cx="5929890" cy="6619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Lustria"/>
                <a:buNone/>
              </a:pPr>
              <a:r>
                <a:rPr b="0" i="0" lang="uk" sz="14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Порівняти продуктивність різних підходів до обробки файлів</a:t>
              </a:r>
              <a:endPara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7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" name="Google Shape;161;p27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2" name="Google Shape;162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3" name="Google Shape;163;p27"/>
          <p:cNvSpPr txBox="1"/>
          <p:nvPr>
            <p:ph type="title"/>
          </p:nvPr>
        </p:nvSpPr>
        <p:spPr>
          <a:xfrm>
            <a:off x="600076" y="720446"/>
            <a:ext cx="4371086" cy="3702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None/>
            </a:pPr>
            <a:r>
              <a:rPr lang="uk" sz="4500"/>
              <a:t>1. ТЕОРЕТИЧНІ ВІДОМОСТІ</a:t>
            </a:r>
            <a:endParaRPr/>
          </a:p>
        </p:txBody>
      </p:sp>
      <p:cxnSp>
        <p:nvCxnSpPr>
          <p:cNvPr id="164" name="Google Shape;164;p27"/>
          <p:cNvCxnSpPr/>
          <p:nvPr/>
        </p:nvCxnSpPr>
        <p:spPr>
          <a:xfrm rot="10800000">
            <a:off x="5486400" y="1300162"/>
            <a:ext cx="0" cy="2543176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70" name="Google Shape;170;p28"/>
          <p:cNvSpPr txBox="1"/>
          <p:nvPr>
            <p:ph type="title"/>
          </p:nvPr>
        </p:nvSpPr>
        <p:spPr>
          <a:xfrm>
            <a:off x="4713562" y="682229"/>
            <a:ext cx="3900841" cy="9885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1.1 ФАЙЛОВА СИСТЕМА LINUX</a:t>
            </a:r>
            <a:endParaRPr/>
          </a:p>
        </p:txBody>
      </p:sp>
      <p:pic>
        <p:nvPicPr>
          <p:cNvPr descr="Understanding Linux Directory Structure and Important Files" id="171" name="Google Shape;171;p28"/>
          <p:cNvPicPr preferRelativeResize="0"/>
          <p:nvPr/>
        </p:nvPicPr>
        <p:blipFill rotWithShape="1">
          <a:blip r:embed="rId3">
            <a:alphaModFix/>
          </a:blip>
          <a:srcRect b="1918" l="0" r="1" t="1606"/>
          <a:stretch/>
        </p:blipFill>
        <p:spPr>
          <a:xfrm>
            <a:off x="15" y="8"/>
            <a:ext cx="4265055" cy="514349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cxnSp>
        <p:nvCxnSpPr>
          <p:cNvPr id="172" name="Google Shape;172;p28"/>
          <p:cNvCxnSpPr/>
          <p:nvPr/>
        </p:nvCxnSpPr>
        <p:spPr>
          <a:xfrm>
            <a:off x="4817054" y="541782"/>
            <a:ext cx="12001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73" name="Google Shape;173;p28"/>
          <p:cNvGrpSpPr/>
          <p:nvPr/>
        </p:nvGrpSpPr>
        <p:grpSpPr>
          <a:xfrm>
            <a:off x="4817054" y="2151007"/>
            <a:ext cx="3900841" cy="1540176"/>
            <a:chOff x="0" y="0"/>
            <a:chExt cx="5201121" cy="2053568"/>
          </a:xfrm>
        </p:grpSpPr>
        <p:cxnSp>
          <p:nvCxnSpPr>
            <p:cNvPr id="174" name="Google Shape;174;p28"/>
            <p:cNvCxnSpPr/>
            <p:nvPr/>
          </p:nvCxnSpPr>
          <p:spPr>
            <a:xfrm>
              <a:off x="0" y="0"/>
              <a:ext cx="5201121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5" name="Google Shape;175;p28"/>
            <p:cNvSpPr/>
            <p:nvPr/>
          </p:nvSpPr>
          <p:spPr>
            <a:xfrm>
              <a:off x="0" y="0"/>
              <a:ext cx="5201121" cy="1026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8"/>
            <p:cNvSpPr txBox="1"/>
            <p:nvPr/>
          </p:nvSpPr>
          <p:spPr>
            <a:xfrm>
              <a:off x="0" y="0"/>
              <a:ext cx="5201121" cy="1026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Lustria"/>
                <a:buNone/>
              </a:pPr>
              <a:r>
                <a:rPr b="0" i="0" lang="uk" sz="1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У Linux всі ресурси системи представлені у вигляді файлів.</a:t>
              </a:r>
              <a:endParaRPr b="0" i="0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77" name="Google Shape;177;p28"/>
            <p:cNvCxnSpPr/>
            <p:nvPr/>
          </p:nvCxnSpPr>
          <p:spPr>
            <a:xfrm>
              <a:off x="0" y="1026784"/>
              <a:ext cx="5201121" cy="0"/>
            </a:xfrm>
            <a:prstGeom prst="straightConnector1">
              <a:avLst/>
            </a:prstGeom>
            <a:solidFill>
              <a:srgbClr val="59657F"/>
            </a:solidFill>
            <a:ln cap="flat" cmpd="sng" w="12700">
              <a:solidFill>
                <a:srgbClr val="5965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8" name="Google Shape;178;p28"/>
            <p:cNvSpPr/>
            <p:nvPr/>
          </p:nvSpPr>
          <p:spPr>
            <a:xfrm>
              <a:off x="0" y="1026784"/>
              <a:ext cx="5201121" cy="1026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8"/>
            <p:cNvSpPr txBox="1"/>
            <p:nvPr/>
          </p:nvSpPr>
          <p:spPr>
            <a:xfrm>
              <a:off x="0" y="1026784"/>
              <a:ext cx="5201121" cy="1026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Lustria"/>
                <a:buNone/>
              </a:pPr>
              <a:r>
                <a:rPr b="0" i="0" lang="uk" sz="1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Файлова система має </a:t>
              </a:r>
              <a:r>
                <a:rPr b="1" i="0" lang="uk" sz="1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ієрархічну структуру каталогів</a:t>
              </a:r>
              <a:r>
                <a:rPr b="0" i="0" lang="uk" sz="1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, яка починається з кореневого каталогу: </a:t>
              </a:r>
              <a:r>
                <a:rPr b="1" i="0" lang="uk" sz="1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/</a:t>
              </a:r>
              <a:endParaRPr b="0" i="0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525476" y="685800"/>
            <a:ext cx="8018449" cy="9806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ХАРАКТЕРИСТИКИ ФАЙЛІВ</a:t>
            </a:r>
            <a:endParaRPr/>
          </a:p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357675" y="1691446"/>
            <a:ext cx="2961889" cy="30029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uk"/>
              <a:t>Кожен файл або каталог має:</a:t>
            </a:r>
            <a:endParaRPr/>
          </a:p>
        </p:txBody>
      </p:sp>
      <p:sp>
        <p:nvSpPr>
          <p:cNvPr id="186" name="Google Shape;186;p29"/>
          <p:cNvSpPr txBox="1"/>
          <p:nvPr/>
        </p:nvSpPr>
        <p:spPr>
          <a:xfrm>
            <a:off x="5997895" y="1691446"/>
            <a:ext cx="1845032" cy="30029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uk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Ключові поняття:</a:t>
            </a:r>
            <a:endParaRPr b="0" i="0" sz="15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187" name="Google Shape;187;p29"/>
          <p:cNvGrpSpPr/>
          <p:nvPr/>
        </p:nvGrpSpPr>
        <p:grpSpPr>
          <a:xfrm>
            <a:off x="469530" y="2133840"/>
            <a:ext cx="2431931" cy="2205969"/>
            <a:chOff x="0" y="1437"/>
            <a:chExt cx="3242575" cy="2941292"/>
          </a:xfrm>
        </p:grpSpPr>
        <p:cxnSp>
          <p:nvCxnSpPr>
            <p:cNvPr id="188" name="Google Shape;188;p29"/>
            <p:cNvCxnSpPr/>
            <p:nvPr/>
          </p:nvCxnSpPr>
          <p:spPr>
            <a:xfrm>
              <a:off x="0" y="1437"/>
              <a:ext cx="3242575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9" name="Google Shape;189;p29"/>
            <p:cNvSpPr/>
            <p:nvPr/>
          </p:nvSpPr>
          <p:spPr>
            <a:xfrm>
              <a:off x="0" y="1437"/>
              <a:ext cx="3242575" cy="49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9"/>
            <p:cNvSpPr txBox="1"/>
            <p:nvPr/>
          </p:nvSpPr>
          <p:spPr>
            <a:xfrm>
              <a:off x="0" y="1437"/>
              <a:ext cx="3242575" cy="49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725" lIns="65725" spcFirstLastPara="1" rIns="65725" wrap="square" tIns="6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Lustria"/>
                <a:buNone/>
              </a:pPr>
              <a:r>
                <a:rPr b="0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ім'я</a:t>
              </a:r>
              <a:endParaRPr b="0" i="0" sz="17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91" name="Google Shape;191;p29"/>
            <p:cNvCxnSpPr/>
            <p:nvPr/>
          </p:nvCxnSpPr>
          <p:spPr>
            <a:xfrm>
              <a:off x="0" y="491653"/>
              <a:ext cx="3242575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2" name="Google Shape;192;p29"/>
            <p:cNvSpPr/>
            <p:nvPr/>
          </p:nvSpPr>
          <p:spPr>
            <a:xfrm>
              <a:off x="0" y="491653"/>
              <a:ext cx="3242575" cy="49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9"/>
            <p:cNvSpPr txBox="1"/>
            <p:nvPr/>
          </p:nvSpPr>
          <p:spPr>
            <a:xfrm>
              <a:off x="0" y="491653"/>
              <a:ext cx="3242575" cy="49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725" lIns="65725" spcFirstLastPara="1" rIns="65725" wrap="square" tIns="6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Lustria"/>
                <a:buNone/>
              </a:pPr>
              <a:r>
                <a:rPr b="0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тип</a:t>
              </a:r>
              <a:endParaRPr b="0" i="0" sz="17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94" name="Google Shape;194;p29"/>
            <p:cNvCxnSpPr/>
            <p:nvPr/>
          </p:nvCxnSpPr>
          <p:spPr>
            <a:xfrm>
              <a:off x="0" y="981868"/>
              <a:ext cx="3242575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5" name="Google Shape;195;p29"/>
            <p:cNvSpPr/>
            <p:nvPr/>
          </p:nvSpPr>
          <p:spPr>
            <a:xfrm>
              <a:off x="0" y="981868"/>
              <a:ext cx="3242575" cy="49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9"/>
            <p:cNvSpPr txBox="1"/>
            <p:nvPr/>
          </p:nvSpPr>
          <p:spPr>
            <a:xfrm>
              <a:off x="0" y="981868"/>
              <a:ext cx="3242575" cy="49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725" lIns="65725" spcFirstLastPara="1" rIns="65725" wrap="square" tIns="6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Lustria"/>
                <a:buNone/>
              </a:pPr>
              <a:r>
                <a:rPr b="0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права доступу</a:t>
              </a:r>
              <a:endParaRPr b="0" i="0" sz="17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97" name="Google Shape;197;p29"/>
            <p:cNvCxnSpPr/>
            <p:nvPr/>
          </p:nvCxnSpPr>
          <p:spPr>
            <a:xfrm>
              <a:off x="0" y="1472083"/>
              <a:ext cx="3242575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8" name="Google Shape;198;p29"/>
            <p:cNvSpPr/>
            <p:nvPr/>
          </p:nvSpPr>
          <p:spPr>
            <a:xfrm>
              <a:off x="0" y="1472083"/>
              <a:ext cx="3242575" cy="49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9"/>
            <p:cNvSpPr txBox="1"/>
            <p:nvPr/>
          </p:nvSpPr>
          <p:spPr>
            <a:xfrm>
              <a:off x="0" y="1472083"/>
              <a:ext cx="3242575" cy="49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725" lIns="65725" spcFirstLastPara="1" rIns="65725" wrap="square" tIns="6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Lustria"/>
                <a:buNone/>
              </a:pPr>
              <a:r>
                <a:rPr b="0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власника</a:t>
              </a:r>
              <a:endParaRPr b="0" i="0" sz="17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200" name="Google Shape;200;p29"/>
            <p:cNvCxnSpPr/>
            <p:nvPr/>
          </p:nvCxnSpPr>
          <p:spPr>
            <a:xfrm>
              <a:off x="0" y="1962299"/>
              <a:ext cx="3242575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1" name="Google Shape;201;p29"/>
            <p:cNvSpPr/>
            <p:nvPr/>
          </p:nvSpPr>
          <p:spPr>
            <a:xfrm>
              <a:off x="0" y="1962299"/>
              <a:ext cx="3242575" cy="49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9"/>
            <p:cNvSpPr txBox="1"/>
            <p:nvPr/>
          </p:nvSpPr>
          <p:spPr>
            <a:xfrm>
              <a:off x="0" y="1962299"/>
              <a:ext cx="3242575" cy="49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725" lIns="65725" spcFirstLastPara="1" rIns="65725" wrap="square" tIns="6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Lustria"/>
                <a:buNone/>
              </a:pPr>
              <a:r>
                <a:rPr b="0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групу</a:t>
              </a:r>
              <a:endParaRPr b="0" i="0" sz="17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203" name="Google Shape;203;p29"/>
            <p:cNvCxnSpPr/>
            <p:nvPr/>
          </p:nvCxnSpPr>
          <p:spPr>
            <a:xfrm>
              <a:off x="0" y="2452514"/>
              <a:ext cx="3242575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4" name="Google Shape;204;p29"/>
            <p:cNvSpPr/>
            <p:nvPr/>
          </p:nvSpPr>
          <p:spPr>
            <a:xfrm>
              <a:off x="0" y="2452514"/>
              <a:ext cx="3242575" cy="49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9"/>
            <p:cNvSpPr txBox="1"/>
            <p:nvPr/>
          </p:nvSpPr>
          <p:spPr>
            <a:xfrm>
              <a:off x="0" y="2452514"/>
              <a:ext cx="3242575" cy="49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725" lIns="65725" spcFirstLastPara="1" rIns="65725" wrap="square" tIns="6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Lustria"/>
                <a:buNone/>
              </a:pPr>
              <a:r>
                <a:rPr b="0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часові мітки</a:t>
              </a:r>
              <a:endParaRPr b="0" i="0" sz="17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206" name="Google Shape;206;p29"/>
          <p:cNvGrpSpPr/>
          <p:nvPr/>
        </p:nvGrpSpPr>
        <p:grpSpPr>
          <a:xfrm>
            <a:off x="5997900" y="2132749"/>
            <a:ext cx="3051549" cy="2408034"/>
            <a:chOff x="-1" y="0"/>
            <a:chExt cx="3730500" cy="2943807"/>
          </a:xfrm>
        </p:grpSpPr>
        <p:cxnSp>
          <p:nvCxnSpPr>
            <p:cNvPr id="207" name="Google Shape;207;p29"/>
            <p:cNvCxnSpPr/>
            <p:nvPr/>
          </p:nvCxnSpPr>
          <p:spPr>
            <a:xfrm>
              <a:off x="0" y="0"/>
              <a:ext cx="3242575" cy="0"/>
            </a:xfrm>
            <a:prstGeom prst="straightConnector1">
              <a:avLst/>
            </a:prstGeom>
            <a:solidFill>
              <a:srgbClr val="1B1B32"/>
            </a:solidFill>
            <a:ln cap="flat" cmpd="sng" w="1385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8" name="Google Shape;208;p29"/>
            <p:cNvSpPr/>
            <p:nvPr/>
          </p:nvSpPr>
          <p:spPr>
            <a:xfrm>
              <a:off x="0" y="359"/>
              <a:ext cx="3242575" cy="588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800" lIns="74800" spcFirstLastPara="1" rIns="74800" wrap="square" tIns="7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9"/>
            <p:cNvSpPr txBox="1"/>
            <p:nvPr/>
          </p:nvSpPr>
          <p:spPr>
            <a:xfrm>
              <a:off x="-1" y="338"/>
              <a:ext cx="3730500" cy="7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450" lIns="65450" spcFirstLastPara="1" rIns="65450" wrap="square" tIns="65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45"/>
                <a:buFont typeface="Lustria"/>
                <a:buNone/>
              </a:pPr>
              <a:r>
                <a:rPr b="0" i="0" lang="uk" sz="1745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Linux file system hierarchy</a:t>
              </a:r>
              <a:endParaRPr sz="1199"/>
            </a:p>
          </p:txBody>
        </p:sp>
        <p:cxnSp>
          <p:nvCxnSpPr>
            <p:cNvPr id="210" name="Google Shape;210;p29"/>
            <p:cNvCxnSpPr/>
            <p:nvPr/>
          </p:nvCxnSpPr>
          <p:spPr>
            <a:xfrm>
              <a:off x="0" y="589049"/>
              <a:ext cx="3242575" cy="0"/>
            </a:xfrm>
            <a:prstGeom prst="straightConnector1">
              <a:avLst/>
            </a:prstGeom>
            <a:solidFill>
              <a:srgbClr val="1B1B32"/>
            </a:solidFill>
            <a:ln cap="flat" cmpd="sng" w="1385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1" name="Google Shape;211;p29"/>
            <p:cNvSpPr/>
            <p:nvPr/>
          </p:nvSpPr>
          <p:spPr>
            <a:xfrm>
              <a:off x="0" y="589049"/>
              <a:ext cx="3242575" cy="588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800" lIns="74800" spcFirstLastPara="1" rIns="74800" wrap="square" tIns="7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9"/>
            <p:cNvSpPr txBox="1"/>
            <p:nvPr/>
          </p:nvSpPr>
          <p:spPr>
            <a:xfrm>
              <a:off x="0" y="589049"/>
              <a:ext cx="3242575" cy="588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450" lIns="65450" spcFirstLastPara="1" rIns="65450" wrap="square" tIns="65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45"/>
                <a:buFont typeface="Lustria"/>
                <a:buNone/>
              </a:pPr>
              <a:r>
                <a:rPr b="0" i="0" lang="uk" sz="1745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inode</a:t>
              </a:r>
              <a:endParaRPr sz="1199"/>
            </a:p>
          </p:txBody>
        </p:sp>
        <p:cxnSp>
          <p:nvCxnSpPr>
            <p:cNvPr id="213" name="Google Shape;213;p29"/>
            <p:cNvCxnSpPr/>
            <p:nvPr/>
          </p:nvCxnSpPr>
          <p:spPr>
            <a:xfrm>
              <a:off x="0" y="1177739"/>
              <a:ext cx="3242575" cy="0"/>
            </a:xfrm>
            <a:prstGeom prst="straightConnector1">
              <a:avLst/>
            </a:prstGeom>
            <a:solidFill>
              <a:srgbClr val="1B1B32"/>
            </a:solidFill>
            <a:ln cap="flat" cmpd="sng" w="1385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4" name="Google Shape;214;p29"/>
            <p:cNvSpPr/>
            <p:nvPr/>
          </p:nvSpPr>
          <p:spPr>
            <a:xfrm>
              <a:off x="0" y="1177739"/>
              <a:ext cx="3242575" cy="588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800" lIns="74800" spcFirstLastPara="1" rIns="74800" wrap="square" tIns="7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9"/>
            <p:cNvSpPr txBox="1"/>
            <p:nvPr/>
          </p:nvSpPr>
          <p:spPr>
            <a:xfrm>
              <a:off x="0" y="1177739"/>
              <a:ext cx="3242575" cy="588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450" lIns="65450" spcFirstLastPara="1" rIns="65450" wrap="square" tIns="65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45"/>
                <a:buFont typeface="Lustria"/>
                <a:buNone/>
              </a:pPr>
              <a:r>
                <a:rPr b="0" i="0" lang="uk" sz="1745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file descriptor</a:t>
              </a:r>
              <a:endParaRPr sz="1199"/>
            </a:p>
          </p:txBody>
        </p:sp>
        <p:cxnSp>
          <p:nvCxnSpPr>
            <p:cNvPr id="216" name="Google Shape;216;p29"/>
            <p:cNvCxnSpPr/>
            <p:nvPr/>
          </p:nvCxnSpPr>
          <p:spPr>
            <a:xfrm>
              <a:off x="0" y="1766428"/>
              <a:ext cx="3242575" cy="0"/>
            </a:xfrm>
            <a:prstGeom prst="straightConnector1">
              <a:avLst/>
            </a:prstGeom>
            <a:solidFill>
              <a:srgbClr val="1B1B32"/>
            </a:solidFill>
            <a:ln cap="flat" cmpd="sng" w="1385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7" name="Google Shape;217;p29"/>
            <p:cNvSpPr/>
            <p:nvPr/>
          </p:nvSpPr>
          <p:spPr>
            <a:xfrm>
              <a:off x="0" y="1766428"/>
              <a:ext cx="3242575" cy="588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800" lIns="74800" spcFirstLastPara="1" rIns="74800" wrap="square" tIns="7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9"/>
            <p:cNvSpPr txBox="1"/>
            <p:nvPr/>
          </p:nvSpPr>
          <p:spPr>
            <a:xfrm>
              <a:off x="0" y="1766428"/>
              <a:ext cx="3242575" cy="588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450" lIns="65450" spcFirstLastPara="1" rIns="65450" wrap="square" tIns="65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45"/>
                <a:buFont typeface="Lustria"/>
                <a:buNone/>
              </a:pPr>
              <a:r>
                <a:rPr b="0" i="0" lang="uk" sz="1745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system call</a:t>
              </a:r>
              <a:endParaRPr sz="1199"/>
            </a:p>
          </p:txBody>
        </p:sp>
        <p:cxnSp>
          <p:nvCxnSpPr>
            <p:cNvPr id="219" name="Google Shape;219;p29"/>
            <p:cNvCxnSpPr/>
            <p:nvPr/>
          </p:nvCxnSpPr>
          <p:spPr>
            <a:xfrm>
              <a:off x="0" y="2355118"/>
              <a:ext cx="3242575" cy="0"/>
            </a:xfrm>
            <a:prstGeom prst="straightConnector1">
              <a:avLst/>
            </a:prstGeom>
            <a:solidFill>
              <a:srgbClr val="1B1B32"/>
            </a:solidFill>
            <a:ln cap="flat" cmpd="sng" w="1385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0" name="Google Shape;220;p29"/>
            <p:cNvSpPr/>
            <p:nvPr/>
          </p:nvSpPr>
          <p:spPr>
            <a:xfrm>
              <a:off x="0" y="2355118"/>
              <a:ext cx="3242575" cy="588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800" lIns="74800" spcFirstLastPara="1" rIns="74800" wrap="square" tIns="7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9"/>
            <p:cNvSpPr txBox="1"/>
            <p:nvPr/>
          </p:nvSpPr>
          <p:spPr>
            <a:xfrm>
              <a:off x="0" y="2355118"/>
              <a:ext cx="3242575" cy="588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450" lIns="65450" spcFirstLastPara="1" rIns="65450" wrap="square" tIns="65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45"/>
                <a:buFont typeface="Lustria"/>
                <a:buNone/>
              </a:pPr>
              <a:r>
                <a:rPr b="0" i="0" lang="uk" sz="1745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POSIX file API</a:t>
              </a:r>
              <a:endParaRPr sz="1199"/>
            </a:p>
          </p:txBody>
        </p:sp>
      </p:grpSp>
      <p:pic>
        <p:nvPicPr>
          <p:cNvPr descr="What is iNode in Linux / Unit | PremAseem.me" id="222" name="Google Shape;2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9311" y="0"/>
            <a:ext cx="2504689" cy="1583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8" name="Google Shape;228;p30"/>
          <p:cNvSpPr txBox="1"/>
          <p:nvPr>
            <p:ph type="title"/>
          </p:nvPr>
        </p:nvSpPr>
        <p:spPr>
          <a:xfrm>
            <a:off x="528066" y="3017743"/>
            <a:ext cx="2846070" cy="1582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1.2 ПРАВА ДОСТУПУ ДО ФАЙЛІВ</a:t>
            </a:r>
            <a:endParaRPr/>
          </a:p>
        </p:txBody>
      </p:sp>
      <p:cxnSp>
        <p:nvCxnSpPr>
          <p:cNvPr id="229" name="Google Shape;229;p30"/>
          <p:cNvCxnSpPr/>
          <p:nvPr/>
        </p:nvCxnSpPr>
        <p:spPr>
          <a:xfrm flipH="1" rot="10800000">
            <a:off x="3657600" y="3085943"/>
            <a:ext cx="7364" cy="1514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0" name="Google Shape;230;p30"/>
          <p:cNvSpPr txBox="1"/>
          <p:nvPr>
            <p:ph idx="1" type="body"/>
          </p:nvPr>
        </p:nvSpPr>
        <p:spPr>
          <a:xfrm>
            <a:off x="3812683" y="3085943"/>
            <a:ext cx="4601943" cy="15704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uk" sz="1200"/>
              <a:t>У Linux використовується </a:t>
            </a:r>
            <a:r>
              <a:rPr b="1" lang="uk" sz="1200"/>
              <a:t>модель прав доступу POSIX</a:t>
            </a:r>
            <a:r>
              <a:rPr lang="uk" sz="1200"/>
              <a:t>.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uk" sz="1200"/>
              <a:t>Для кожного файлу визначаються права для:</a:t>
            </a:r>
            <a:endParaRPr/>
          </a:p>
          <a:p>
            <a:pPr indent="-114300" lvl="0" marL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/>
          </a:p>
        </p:txBody>
      </p:sp>
      <p:grpSp>
        <p:nvGrpSpPr>
          <p:cNvPr id="231" name="Google Shape;231;p30"/>
          <p:cNvGrpSpPr/>
          <p:nvPr/>
        </p:nvGrpSpPr>
        <p:grpSpPr>
          <a:xfrm>
            <a:off x="4403350" y="3612050"/>
            <a:ext cx="4105818" cy="1454014"/>
            <a:chOff x="0" y="97"/>
            <a:chExt cx="4051927" cy="1434929"/>
          </a:xfrm>
        </p:grpSpPr>
        <p:sp>
          <p:nvSpPr>
            <p:cNvPr id="232" name="Google Shape;232;p30"/>
            <p:cNvSpPr/>
            <p:nvPr/>
          </p:nvSpPr>
          <p:spPr>
            <a:xfrm>
              <a:off x="0" y="97"/>
              <a:ext cx="4051927" cy="46892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2675" lIns="92675" spcFirstLastPara="1" rIns="92675" wrap="square" tIns="9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0"/>
            <p:cNvSpPr txBox="1"/>
            <p:nvPr/>
          </p:nvSpPr>
          <p:spPr>
            <a:xfrm>
              <a:off x="22891" y="22988"/>
              <a:ext cx="4006145" cy="4231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7225" lIns="77225" spcFirstLastPara="1" rIns="77225" wrap="square" tIns="772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27"/>
                <a:buFont typeface="Lustria"/>
                <a:buNone/>
              </a:pPr>
              <a:r>
                <a:rPr b="0" i="0" lang="uk" sz="2026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власника (</a:t>
              </a:r>
              <a:r>
                <a:rPr b="1" i="0" lang="uk" sz="2026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user</a:t>
              </a:r>
              <a:r>
                <a:rPr b="0" i="0" lang="uk" sz="2026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)</a:t>
              </a:r>
              <a:endParaRPr sz="1486"/>
            </a:p>
          </p:txBody>
        </p:sp>
        <p:sp>
          <p:nvSpPr>
            <p:cNvPr id="234" name="Google Shape;234;p30"/>
            <p:cNvSpPr/>
            <p:nvPr/>
          </p:nvSpPr>
          <p:spPr>
            <a:xfrm>
              <a:off x="0" y="483099"/>
              <a:ext cx="4051927" cy="46892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2675" lIns="92675" spcFirstLastPara="1" rIns="92675" wrap="square" tIns="9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0"/>
            <p:cNvSpPr txBox="1"/>
            <p:nvPr/>
          </p:nvSpPr>
          <p:spPr>
            <a:xfrm>
              <a:off x="22891" y="505990"/>
              <a:ext cx="4006145" cy="4231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7225" lIns="77225" spcFirstLastPara="1" rIns="77225" wrap="square" tIns="772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27"/>
                <a:buFont typeface="Lustria"/>
                <a:buNone/>
              </a:pPr>
              <a:r>
                <a:rPr b="0" i="0" lang="uk" sz="2026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групи</a:t>
              </a:r>
              <a:r>
                <a:rPr b="0" i="0" lang="uk" sz="4458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 </a:t>
              </a:r>
              <a:r>
                <a:rPr b="0" i="0" lang="uk" sz="1581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(</a:t>
              </a:r>
              <a:r>
                <a:rPr b="1" i="0" lang="uk" sz="1986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group</a:t>
              </a:r>
              <a:r>
                <a:rPr b="0" i="0" lang="uk" sz="1581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)</a:t>
              </a:r>
              <a:endParaRPr b="0" i="0" sz="4013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6" name="Google Shape;236;p30"/>
            <p:cNvSpPr/>
            <p:nvPr/>
          </p:nvSpPr>
          <p:spPr>
            <a:xfrm>
              <a:off x="0" y="966101"/>
              <a:ext cx="4051927" cy="46892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2675" lIns="92675" spcFirstLastPara="1" rIns="92675" wrap="square" tIns="92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0"/>
            <p:cNvSpPr txBox="1"/>
            <p:nvPr/>
          </p:nvSpPr>
          <p:spPr>
            <a:xfrm>
              <a:off x="22891" y="988992"/>
              <a:ext cx="4006145" cy="4231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7225" lIns="77225" spcFirstLastPara="1" rIns="77225" wrap="square" tIns="772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27"/>
                <a:buFont typeface="Lustria"/>
                <a:buNone/>
              </a:pPr>
              <a:r>
                <a:rPr b="0" i="0" lang="uk" sz="2026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інших користувачів (</a:t>
              </a:r>
              <a:r>
                <a:rPr b="1" i="0" lang="uk" sz="2026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others</a:t>
              </a:r>
              <a:r>
                <a:rPr b="0" i="0" lang="uk" sz="2026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)</a:t>
              </a:r>
              <a:endParaRPr sz="1486"/>
            </a:p>
          </p:txBody>
        </p:sp>
      </p:grpSp>
      <p:pic>
        <p:nvPicPr>
          <p:cNvPr descr="Learning the shell - Lesson 9: Permissions" id="238" name="Google Shape;2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7520" y="96028"/>
            <a:ext cx="4714875" cy="275748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528066" y="685800"/>
            <a:ext cx="8098632" cy="7889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ТИПОВІ ПРАВА ДОСТУПУ</a:t>
            </a:r>
            <a:endParaRPr/>
          </a:p>
        </p:txBody>
      </p:sp>
      <p:cxnSp>
        <p:nvCxnSpPr>
          <p:cNvPr id="245" name="Google Shape;245;p31"/>
          <p:cNvCxnSpPr/>
          <p:nvPr/>
        </p:nvCxnSpPr>
        <p:spPr>
          <a:xfrm>
            <a:off x="600075" y="542925"/>
            <a:ext cx="1228725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46" name="Google Shape;246;p31"/>
          <p:cNvGraphicFramePr/>
          <p:nvPr/>
        </p:nvGraphicFramePr>
        <p:xfrm>
          <a:off x="912737" y="1707356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  <a:tableStyleId>{47B06355-525E-4C45-AF68-5B78CF9EEBC0}</a:tableStyleId>
              </a:tblPr>
              <a:tblGrid>
                <a:gridCol w="3901025"/>
                <a:gridCol w="3446075"/>
              </a:tblGrid>
              <a:tr h="72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Lustria"/>
                        <a:buNone/>
                      </a:pPr>
                      <a:r>
                        <a:rPr lang="uk" sz="2000" u="none" cap="none" strike="noStrike">
                          <a:solidFill>
                            <a:schemeClr val="lt1"/>
                          </a:solidFill>
                        </a:rPr>
                        <a:t>Позначення</a:t>
                      </a:r>
                      <a:endParaRPr sz="1100"/>
                    </a:p>
                  </a:txBody>
                  <a:tcPr marT="151475" marB="208275" marR="416575" marL="416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Lustria"/>
                        <a:buNone/>
                      </a:pPr>
                      <a:r>
                        <a:rPr lang="uk" sz="2000" u="none" cap="none" strike="noStrike">
                          <a:solidFill>
                            <a:schemeClr val="lt1"/>
                          </a:solidFill>
                        </a:rPr>
                        <a:t>Значення</a:t>
                      </a:r>
                      <a:endParaRPr sz="1100"/>
                    </a:p>
                  </a:txBody>
                  <a:tcPr marT="151475" marB="208275" marR="416575" marL="416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</a:tr>
              <a:tr h="72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Lustria"/>
                        <a:buNone/>
                      </a:pPr>
                      <a:r>
                        <a:rPr lang="uk" sz="2000" u="none" cap="none" strike="noStrike">
                          <a:solidFill>
                            <a:schemeClr val="lt1"/>
                          </a:solidFill>
                        </a:rPr>
                        <a:t>r</a:t>
                      </a:r>
                      <a:endParaRPr sz="1100"/>
                    </a:p>
                  </a:txBody>
                  <a:tcPr marT="151475" marB="208275" marR="416575" marL="416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Lustria"/>
                        <a:buNone/>
                      </a:pPr>
                      <a:r>
                        <a:rPr lang="uk" sz="2000" u="none" cap="none" strike="noStrike">
                          <a:solidFill>
                            <a:schemeClr val="lt1"/>
                          </a:solidFill>
                        </a:rPr>
                        <a:t>read</a:t>
                      </a:r>
                      <a:endParaRPr sz="1100"/>
                    </a:p>
                  </a:txBody>
                  <a:tcPr marT="151475" marB="208275" marR="416575" marL="416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</a:tr>
              <a:tr h="72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Lustria"/>
                        <a:buNone/>
                      </a:pPr>
                      <a:r>
                        <a:rPr lang="uk" sz="2000" u="none" cap="none" strike="noStrike">
                          <a:solidFill>
                            <a:schemeClr val="lt1"/>
                          </a:solidFill>
                        </a:rPr>
                        <a:t>w</a:t>
                      </a:r>
                      <a:endParaRPr sz="1100"/>
                    </a:p>
                  </a:txBody>
                  <a:tcPr marT="151475" marB="208275" marR="416575" marL="416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Lustria"/>
                        <a:buNone/>
                      </a:pPr>
                      <a:r>
                        <a:rPr lang="uk" sz="2000" u="none" cap="none" strike="noStrike">
                          <a:solidFill>
                            <a:schemeClr val="lt1"/>
                          </a:solidFill>
                        </a:rPr>
                        <a:t>write</a:t>
                      </a:r>
                      <a:endParaRPr sz="1100"/>
                    </a:p>
                  </a:txBody>
                  <a:tcPr marT="151475" marB="208275" marR="416575" marL="416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</a:tr>
              <a:tr h="72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Lustria"/>
                        <a:buNone/>
                      </a:pPr>
                      <a:r>
                        <a:rPr lang="uk" sz="2000" u="none" cap="none" strike="noStrike">
                          <a:solidFill>
                            <a:schemeClr val="lt1"/>
                          </a:solidFill>
                        </a:rPr>
                        <a:t>x</a:t>
                      </a:r>
                      <a:endParaRPr sz="1100"/>
                    </a:p>
                  </a:txBody>
                  <a:tcPr marT="151475" marB="208275" marR="416575" marL="416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Lustria"/>
                        <a:buNone/>
                      </a:pPr>
                      <a:r>
                        <a:rPr lang="uk" sz="2000" u="none" cap="none" strike="noStrike">
                          <a:solidFill>
                            <a:schemeClr val="lt1"/>
                          </a:solidFill>
                        </a:rPr>
                        <a:t>execute</a:t>
                      </a:r>
                      <a:endParaRPr sz="1100"/>
                    </a:p>
                  </a:txBody>
                  <a:tcPr marT="151475" marB="208275" marR="416575" marL="416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52" name="Google Shape;252;p32"/>
          <p:cNvSpPr txBox="1"/>
          <p:nvPr>
            <p:ph type="title"/>
          </p:nvPr>
        </p:nvSpPr>
        <p:spPr>
          <a:xfrm>
            <a:off x="528066" y="685800"/>
            <a:ext cx="4501134" cy="9806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КЛЮЧОВІ СЛОВА</a:t>
            </a:r>
            <a:endParaRPr/>
          </a:p>
        </p:txBody>
      </p:sp>
      <p:cxnSp>
        <p:nvCxnSpPr>
          <p:cNvPr id="253" name="Google Shape;253;p32"/>
          <p:cNvCxnSpPr/>
          <p:nvPr/>
        </p:nvCxnSpPr>
        <p:spPr>
          <a:xfrm>
            <a:off x="603504" y="541782"/>
            <a:ext cx="1228725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hmod Cheatsheet : r/linux" id="254" name="Google Shape;2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4391" y="1814732"/>
            <a:ext cx="3151543" cy="277809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grpSp>
        <p:nvGrpSpPr>
          <p:cNvPr id="255" name="Google Shape;255;p32"/>
          <p:cNvGrpSpPr/>
          <p:nvPr/>
        </p:nvGrpSpPr>
        <p:grpSpPr>
          <a:xfrm>
            <a:off x="528066" y="2016817"/>
            <a:ext cx="3413400" cy="2132461"/>
            <a:chOff x="0" y="0"/>
            <a:chExt cx="4551200" cy="2843281"/>
          </a:xfrm>
        </p:grpSpPr>
        <p:cxnSp>
          <p:nvCxnSpPr>
            <p:cNvPr id="256" name="Google Shape;256;p32"/>
            <p:cNvCxnSpPr/>
            <p:nvPr/>
          </p:nvCxnSpPr>
          <p:spPr>
            <a:xfrm>
              <a:off x="0" y="0"/>
              <a:ext cx="4551200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7" name="Google Shape;257;p32"/>
            <p:cNvSpPr/>
            <p:nvPr/>
          </p:nvSpPr>
          <p:spPr>
            <a:xfrm>
              <a:off x="0" y="0"/>
              <a:ext cx="4551200" cy="710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2"/>
            <p:cNvSpPr txBox="1"/>
            <p:nvPr/>
          </p:nvSpPr>
          <p:spPr>
            <a:xfrm>
              <a:off x="0" y="0"/>
              <a:ext cx="4551200" cy="710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uk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chmod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259" name="Google Shape;259;p32"/>
            <p:cNvCxnSpPr/>
            <p:nvPr/>
          </p:nvCxnSpPr>
          <p:spPr>
            <a:xfrm>
              <a:off x="0" y="710820"/>
              <a:ext cx="4551200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0" name="Google Shape;260;p32"/>
            <p:cNvSpPr/>
            <p:nvPr/>
          </p:nvSpPr>
          <p:spPr>
            <a:xfrm>
              <a:off x="0" y="710820"/>
              <a:ext cx="4551200" cy="710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2"/>
            <p:cNvSpPr txBox="1"/>
            <p:nvPr/>
          </p:nvSpPr>
          <p:spPr>
            <a:xfrm>
              <a:off x="0" y="710820"/>
              <a:ext cx="4551200" cy="710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uk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chown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262" name="Google Shape;262;p32"/>
            <p:cNvCxnSpPr/>
            <p:nvPr/>
          </p:nvCxnSpPr>
          <p:spPr>
            <a:xfrm>
              <a:off x="0" y="1421641"/>
              <a:ext cx="4551200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3" name="Google Shape;263;p32"/>
            <p:cNvSpPr/>
            <p:nvPr/>
          </p:nvSpPr>
          <p:spPr>
            <a:xfrm>
              <a:off x="0" y="1421641"/>
              <a:ext cx="4551200" cy="710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2"/>
            <p:cNvSpPr txBox="1"/>
            <p:nvPr/>
          </p:nvSpPr>
          <p:spPr>
            <a:xfrm>
              <a:off x="0" y="1421641"/>
              <a:ext cx="4551200" cy="710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uk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Linux file permissions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265" name="Google Shape;265;p32"/>
            <p:cNvCxnSpPr/>
            <p:nvPr/>
          </p:nvCxnSpPr>
          <p:spPr>
            <a:xfrm>
              <a:off x="0" y="2132461"/>
              <a:ext cx="4551200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6" name="Google Shape;266;p32"/>
            <p:cNvSpPr/>
            <p:nvPr/>
          </p:nvSpPr>
          <p:spPr>
            <a:xfrm>
              <a:off x="0" y="2132461"/>
              <a:ext cx="4551200" cy="710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2"/>
            <p:cNvSpPr txBox="1"/>
            <p:nvPr/>
          </p:nvSpPr>
          <p:spPr>
            <a:xfrm>
              <a:off x="0" y="2132461"/>
              <a:ext cx="4551200" cy="710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None/>
              </a:pPr>
              <a:r>
                <a:rPr b="0" i="0" lang="uk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octal permissions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Google Shape;272;p33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" name="Google Shape;273;p33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4" name="Google Shape;274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75" name="Google Shape;275;p33"/>
          <p:cNvSpPr txBox="1"/>
          <p:nvPr>
            <p:ph type="title"/>
          </p:nvPr>
        </p:nvSpPr>
        <p:spPr>
          <a:xfrm>
            <a:off x="514350" y="674268"/>
            <a:ext cx="2307024" cy="29362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РОБОТА З ФАЙЛАМИ У PYTHON</a:t>
            </a:r>
            <a:endParaRPr/>
          </a:p>
        </p:txBody>
      </p:sp>
      <p:sp>
        <p:nvSpPr>
          <p:cNvPr id="276" name="Google Shape;276;p33"/>
          <p:cNvSpPr txBox="1"/>
          <p:nvPr>
            <p:ph idx="1" type="body"/>
          </p:nvPr>
        </p:nvSpPr>
        <p:spPr>
          <a:xfrm>
            <a:off x="303334" y="2313633"/>
            <a:ext cx="2833837" cy="129684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uk" sz="1800"/>
              <a:t>Python надає інтерфейс до системних викликів операційної системи через модуль: </a:t>
            </a:r>
            <a:r>
              <a:rPr b="1" lang="uk" sz="1800" u="sng"/>
              <a:t>os</a:t>
            </a:r>
            <a:endParaRPr b="1" sz="1800" u="sng"/>
          </a:p>
        </p:txBody>
      </p:sp>
      <p:cxnSp>
        <p:nvCxnSpPr>
          <p:cNvPr id="277" name="Google Shape;277;p33"/>
          <p:cNvCxnSpPr/>
          <p:nvPr/>
        </p:nvCxnSpPr>
        <p:spPr>
          <a:xfrm>
            <a:off x="600075" y="542925"/>
            <a:ext cx="10287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78" name="Google Shape;278;p33"/>
          <p:cNvGraphicFramePr/>
          <p:nvPr/>
        </p:nvGraphicFramePr>
        <p:xfrm>
          <a:off x="3418010" y="5622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{47B06355-525E-4C45-AF68-5B78CF9EEBC0}</a:tableStyleId>
              </a:tblPr>
              <a:tblGrid>
                <a:gridCol w="2161675"/>
                <a:gridCol w="3353275"/>
              </a:tblGrid>
              <a:tr h="794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uk" sz="23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Функція</a:t>
                      </a:r>
                      <a:endParaRPr sz="1100"/>
                    </a:p>
                  </a:txBody>
                  <a:tcPr marT="196475" marB="196475" marR="196475" marL="327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uk" sz="23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Опис</a:t>
                      </a:r>
                      <a:endParaRPr sz="1100"/>
                    </a:p>
                  </a:txBody>
                  <a:tcPr marT="196475" marB="196475" marR="196475" marL="327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</a:tr>
              <a:tr h="79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uk" sz="23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os.mkdir()</a:t>
                      </a:r>
                      <a:endParaRPr sz="1100"/>
                    </a:p>
                  </a:txBody>
                  <a:tcPr marT="196475" marB="196475" marR="196475" marL="327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uk" sz="23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створення каталогу</a:t>
                      </a:r>
                      <a:endParaRPr sz="1100"/>
                    </a:p>
                  </a:txBody>
                  <a:tcPr marT="196475" marB="196475" marR="196475" marL="327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</a:tr>
              <a:tr h="79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uk" sz="23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os.listdir()</a:t>
                      </a:r>
                      <a:endParaRPr sz="1100"/>
                    </a:p>
                  </a:txBody>
                  <a:tcPr marT="196475" marB="196475" marR="196475" marL="327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uk" sz="23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список файлів</a:t>
                      </a:r>
                      <a:endParaRPr sz="1100"/>
                    </a:p>
                  </a:txBody>
                  <a:tcPr marT="196475" marB="196475" marR="196475" marL="327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</a:tr>
              <a:tr h="79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uk" sz="23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os.stat()</a:t>
                      </a:r>
                      <a:endParaRPr sz="1100"/>
                    </a:p>
                  </a:txBody>
                  <a:tcPr marT="196475" marB="196475" marR="196475" marL="327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uk" sz="23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метадані файлу</a:t>
                      </a:r>
                      <a:endParaRPr sz="1100"/>
                    </a:p>
                  </a:txBody>
                  <a:tcPr marT="196475" marB="196475" marR="196475" marL="327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</a:tr>
              <a:tr h="79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uk" sz="23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os.chmod()</a:t>
                      </a:r>
                      <a:endParaRPr sz="1100"/>
                    </a:p>
                  </a:txBody>
                  <a:tcPr marT="196475" marB="196475" marR="196475" marL="327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uk" sz="23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зміна прав доступу</a:t>
                      </a:r>
                      <a:endParaRPr sz="1100"/>
                    </a:p>
                  </a:txBody>
                  <a:tcPr marT="196475" marB="196475" marR="196475" marL="3274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Google Shape;283;p34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4" name="Google Shape;284;p34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5" name="Google Shape;285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86" name="Google Shape;286;p34"/>
          <p:cNvSpPr txBox="1"/>
          <p:nvPr>
            <p:ph type="title"/>
          </p:nvPr>
        </p:nvSpPr>
        <p:spPr>
          <a:xfrm>
            <a:off x="475262" y="674269"/>
            <a:ext cx="4566498" cy="6068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OS FILE OPERATIONS</a:t>
            </a:r>
            <a:endParaRPr/>
          </a:p>
        </p:txBody>
      </p:sp>
      <p:cxnSp>
        <p:nvCxnSpPr>
          <p:cNvPr id="287" name="Google Shape;287;p34"/>
          <p:cNvCxnSpPr/>
          <p:nvPr/>
        </p:nvCxnSpPr>
        <p:spPr>
          <a:xfrm>
            <a:off x="600075" y="542925"/>
            <a:ext cx="10287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88" name="Google Shape;288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3052" y="1668027"/>
            <a:ext cx="6950948" cy="347547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type="title"/>
          </p:nvPr>
        </p:nvSpPr>
        <p:spPr>
          <a:xfrm>
            <a:off x="525476" y="685800"/>
            <a:ext cx="8018449" cy="9806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МОДУЛЬ PATHLIB</a:t>
            </a:r>
            <a:endParaRPr/>
          </a:p>
        </p:txBody>
      </p:sp>
      <p:sp>
        <p:nvSpPr>
          <p:cNvPr id="294" name="Google Shape;294;p35"/>
          <p:cNvSpPr txBox="1"/>
          <p:nvPr>
            <p:ph idx="1" type="body"/>
          </p:nvPr>
        </p:nvSpPr>
        <p:spPr>
          <a:xfrm>
            <a:off x="525476" y="1571650"/>
            <a:ext cx="3939520" cy="3763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uk"/>
              <a:t>Також використовується модуль: </a:t>
            </a:r>
            <a:r>
              <a:rPr b="1" lang="uk"/>
              <a:t>pathlib</a:t>
            </a:r>
            <a:endParaRPr b="1"/>
          </a:p>
        </p:txBody>
      </p:sp>
      <p:grpSp>
        <p:nvGrpSpPr>
          <p:cNvPr id="295" name="Google Shape;295;p35"/>
          <p:cNvGrpSpPr/>
          <p:nvPr/>
        </p:nvGrpSpPr>
        <p:grpSpPr>
          <a:xfrm>
            <a:off x="587398" y="2185046"/>
            <a:ext cx="3611393" cy="1504373"/>
            <a:chOff x="0" y="1076"/>
            <a:chExt cx="4815191" cy="2005830"/>
          </a:xfrm>
        </p:grpSpPr>
        <p:sp>
          <p:nvSpPr>
            <p:cNvPr id="296" name="Google Shape;296;p35"/>
            <p:cNvSpPr/>
            <p:nvPr/>
          </p:nvSpPr>
          <p:spPr>
            <a:xfrm>
              <a:off x="0" y="340556"/>
              <a:ext cx="4815191" cy="1666350"/>
            </a:xfrm>
            <a:prstGeom prst="rect">
              <a:avLst/>
            </a:prstGeom>
            <a:solidFill>
              <a:schemeClr val="lt2">
                <a:alpha val="90196"/>
              </a:schemeClr>
            </a:soli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5"/>
            <p:cNvSpPr txBox="1"/>
            <p:nvPr/>
          </p:nvSpPr>
          <p:spPr>
            <a:xfrm>
              <a:off x="0" y="340556"/>
              <a:ext cx="4815191" cy="1666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2675" lIns="280275" spcFirstLastPara="1" rIns="280275" wrap="square" tIns="359275">
              <a:noAutofit/>
            </a:bodyPr>
            <a:lstStyle/>
            <a:p>
              <a:pPr indent="-177800" lvl="1" marL="1778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Lustria"/>
                <a:buNone/>
              </a:pPr>
              <a:r>
                <a:rPr b="0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Python os module</a:t>
              </a:r>
              <a:endParaRPr sz="1100"/>
            </a:p>
            <a:p>
              <a:pPr indent="-17780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Lustria"/>
                <a:buNone/>
              </a:pPr>
              <a:r>
                <a:rPr b="0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pathlib</a:t>
              </a:r>
              <a:endParaRPr b="0" i="0" sz="17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-17780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Lustria"/>
                <a:buNone/>
              </a:pPr>
              <a:r>
                <a:rPr b="0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file metadata</a:t>
              </a:r>
              <a:endParaRPr sz="1100"/>
            </a:p>
          </p:txBody>
        </p:sp>
        <p:sp>
          <p:nvSpPr>
            <p:cNvPr id="298" name="Google Shape;298;p35"/>
            <p:cNvSpPr/>
            <p:nvPr/>
          </p:nvSpPr>
          <p:spPr>
            <a:xfrm>
              <a:off x="240759" y="1076"/>
              <a:ext cx="3370633" cy="67896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5"/>
            <p:cNvSpPr txBox="1"/>
            <p:nvPr/>
          </p:nvSpPr>
          <p:spPr>
            <a:xfrm>
              <a:off x="273903" y="34220"/>
              <a:ext cx="3304345" cy="612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550" spcFirstLastPara="1" rIns="955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Lustria"/>
                <a:buNone/>
              </a:pPr>
              <a:r>
                <a:rPr b="1" i="0" lang="uk" sz="17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Ключові слова</a:t>
              </a:r>
              <a:endParaRPr b="0" i="0" sz="17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pic>
        <p:nvPicPr>
          <p:cNvPr descr="Pathlib in Python | Cloud For Everybody" id="300" name="Google Shape;3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6260" y="1109458"/>
            <a:ext cx="4467740" cy="309851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type="title"/>
          </p:nvPr>
        </p:nvSpPr>
        <p:spPr>
          <a:xfrm>
            <a:off x="525475" y="672084"/>
            <a:ext cx="8018449" cy="9806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ПОТОКИ ВИКОНАННЯ (THREADS)</a:t>
            </a:r>
            <a:endParaRPr/>
          </a:p>
        </p:txBody>
      </p:sp>
      <p:sp>
        <p:nvSpPr>
          <p:cNvPr id="306" name="Google Shape;306;p36"/>
          <p:cNvSpPr txBox="1"/>
          <p:nvPr>
            <p:ph idx="1" type="body"/>
          </p:nvPr>
        </p:nvSpPr>
        <p:spPr>
          <a:xfrm>
            <a:off x="525476" y="1569280"/>
            <a:ext cx="8018449" cy="28049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uk"/>
              <a:t>Потік</a:t>
            </a:r>
            <a:r>
              <a:rPr lang="uk"/>
              <a:t> — це окрема послідовність виконання інструкцій всередині процесу.</a:t>
            </a:r>
            <a:endParaRPr/>
          </a:p>
        </p:txBody>
      </p:sp>
      <p:grpSp>
        <p:nvGrpSpPr>
          <p:cNvPr id="307" name="Google Shape;307;p36"/>
          <p:cNvGrpSpPr/>
          <p:nvPr/>
        </p:nvGrpSpPr>
        <p:grpSpPr>
          <a:xfrm>
            <a:off x="4572000" y="2578279"/>
            <a:ext cx="4477982" cy="1344211"/>
            <a:chOff x="0" y="346480"/>
            <a:chExt cx="5970642" cy="1792281"/>
          </a:xfrm>
        </p:grpSpPr>
        <p:sp>
          <p:nvSpPr>
            <p:cNvPr id="308" name="Google Shape;308;p36"/>
            <p:cNvSpPr/>
            <p:nvPr/>
          </p:nvSpPr>
          <p:spPr>
            <a:xfrm>
              <a:off x="0" y="641680"/>
              <a:ext cx="5970642" cy="1497081"/>
            </a:xfrm>
            <a:prstGeom prst="rect">
              <a:avLst/>
            </a:prstGeom>
            <a:solidFill>
              <a:schemeClr val="lt2">
                <a:alpha val="90196"/>
              </a:schemeClr>
            </a:soli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6"/>
            <p:cNvSpPr txBox="1"/>
            <p:nvPr/>
          </p:nvSpPr>
          <p:spPr>
            <a:xfrm>
              <a:off x="0" y="641680"/>
              <a:ext cx="5970642" cy="14970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5325" lIns="357725" spcFirstLastPara="1" rIns="357725" wrap="square" tIns="312425">
              <a:noAutofit/>
            </a:bodyPr>
            <a:lstStyle/>
            <a:p>
              <a:pPr indent="-127000" lvl="1" marL="1270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b="0" i="0" lang="uk" sz="12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Паралельно виконувати задачі</a:t>
              </a:r>
              <a:endParaRPr b="0" i="0" sz="1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-127000" lvl="1" marL="1270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b="0" i="0" lang="uk" sz="12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Ефективніше використовувати ресурси системи</a:t>
              </a:r>
              <a:endParaRPr sz="1100"/>
            </a:p>
            <a:p>
              <a:pPr indent="-127000" lvl="1" marL="1270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b="0" i="0" lang="uk" sz="12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Пришвидшувати операції введення/виведення</a:t>
              </a:r>
              <a:endParaRPr sz="1100"/>
            </a:p>
          </p:txBody>
        </p:sp>
        <p:sp>
          <p:nvSpPr>
            <p:cNvPr id="310" name="Google Shape;310;p36"/>
            <p:cNvSpPr/>
            <p:nvPr/>
          </p:nvSpPr>
          <p:spPr>
            <a:xfrm>
              <a:off x="307286" y="346480"/>
              <a:ext cx="4302013" cy="590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6"/>
            <p:cNvSpPr txBox="1"/>
            <p:nvPr/>
          </p:nvSpPr>
          <p:spPr>
            <a:xfrm>
              <a:off x="336107" y="375301"/>
              <a:ext cx="4244371" cy="532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1950" spcFirstLastPara="1" rIns="121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Lustria"/>
                <a:buNone/>
              </a:pPr>
              <a:r>
                <a:rPr b="0" i="0" lang="uk" sz="15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Використання потоків дозволяє</a:t>
              </a:r>
              <a:endParaRPr b="0" i="0" sz="15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pic>
        <p:nvPicPr>
          <p:cNvPr descr="💡 Threads vs Processes: Key Differences Explained!" id="312" name="Google Shape;31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39" y="2053882"/>
            <a:ext cx="4254229" cy="2393004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18" name="Google Shape;318;p37"/>
          <p:cNvSpPr txBox="1"/>
          <p:nvPr>
            <p:ph type="title"/>
          </p:nvPr>
        </p:nvSpPr>
        <p:spPr>
          <a:xfrm>
            <a:off x="528065" y="419297"/>
            <a:ext cx="2480060" cy="39420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None/>
            </a:pPr>
            <a:r>
              <a:rPr lang="uk" sz="2700"/>
              <a:t>МОДУЛЬ THREADING</a:t>
            </a:r>
            <a:endParaRPr sz="2700"/>
          </a:p>
        </p:txBody>
      </p:sp>
      <p:sp>
        <p:nvSpPr>
          <p:cNvPr id="319" name="Google Shape;319;p37"/>
          <p:cNvSpPr txBox="1"/>
          <p:nvPr>
            <p:ph idx="1" type="body"/>
          </p:nvPr>
        </p:nvSpPr>
        <p:spPr>
          <a:xfrm>
            <a:off x="4050280" y="1802063"/>
            <a:ext cx="4320878" cy="2492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uk"/>
              <a:t>У Python потоки реалізуються через модуль: </a:t>
            </a:r>
            <a:r>
              <a:rPr b="1" lang="uk"/>
              <a:t>threading</a:t>
            </a:r>
            <a:endParaRPr b="1"/>
          </a:p>
        </p:txBody>
      </p:sp>
      <p:cxnSp>
        <p:nvCxnSpPr>
          <p:cNvPr id="320" name="Google Shape;320;p37"/>
          <p:cNvCxnSpPr/>
          <p:nvPr/>
        </p:nvCxnSpPr>
        <p:spPr>
          <a:xfrm flipH="1" rot="10800000">
            <a:off x="3167656" y="542925"/>
            <a:ext cx="11961" cy="408755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321" name="Google Shape;321;p37"/>
          <p:cNvGraphicFramePr/>
          <p:nvPr/>
        </p:nvGraphicFramePr>
        <p:xfrm>
          <a:off x="3544125" y="2521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{47B06355-525E-4C45-AF68-5B78CF9EEBC0}</a:tableStyleId>
              </a:tblPr>
              <a:tblGrid>
                <a:gridCol w="2666575"/>
                <a:gridCol w="2666575"/>
              </a:tblGrid>
              <a:tr h="45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ustria"/>
                        <a:buNone/>
                      </a:pPr>
                      <a:r>
                        <a:rPr lang="uk" sz="1400" u="none" cap="none" strike="noStrike"/>
                        <a:t>Клас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ustria"/>
                        <a:buNone/>
                      </a:pPr>
                      <a:r>
                        <a:rPr lang="uk" sz="1400" u="none" cap="none" strike="noStrike"/>
                        <a:t>Опис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ustria"/>
                        <a:buNone/>
                      </a:pPr>
                      <a:r>
                        <a:rPr lang="uk" sz="1400" u="none" cap="none" strike="noStrike"/>
                        <a:t>Thread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ustria"/>
                        <a:buNone/>
                      </a:pPr>
                      <a:r>
                        <a:rPr lang="uk" sz="1400" u="none" cap="none" strike="noStrike"/>
                        <a:t>створення потоку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ustria"/>
                        <a:buNone/>
                      </a:pPr>
                      <a:r>
                        <a:rPr lang="uk" sz="1400" u="none" cap="none" strike="noStrike"/>
                        <a:t>Lock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ustria"/>
                        <a:buNone/>
                      </a:pPr>
                      <a:r>
                        <a:rPr lang="uk" sz="1400" u="none" cap="none" strike="noStrike"/>
                        <a:t>синхронізація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22" name="Google Shape;322;p37"/>
          <p:cNvGrpSpPr/>
          <p:nvPr/>
        </p:nvGrpSpPr>
        <p:grpSpPr>
          <a:xfrm>
            <a:off x="4496950" y="3326244"/>
            <a:ext cx="4631270" cy="1744352"/>
            <a:chOff x="0" y="0"/>
            <a:chExt cx="6175026" cy="2325803"/>
          </a:xfrm>
        </p:grpSpPr>
        <p:cxnSp>
          <p:nvCxnSpPr>
            <p:cNvPr id="323" name="Google Shape;323;p37"/>
            <p:cNvCxnSpPr/>
            <p:nvPr/>
          </p:nvCxnSpPr>
          <p:spPr>
            <a:xfrm>
              <a:off x="0" y="0"/>
              <a:ext cx="6175026" cy="0"/>
            </a:xfrm>
            <a:prstGeom prst="straightConnector1">
              <a:avLst/>
            </a:prstGeom>
            <a:solidFill>
              <a:srgbClr val="1B1B32"/>
            </a:soli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4" name="Google Shape;324;p37"/>
            <p:cNvSpPr/>
            <p:nvPr/>
          </p:nvSpPr>
          <p:spPr>
            <a:xfrm>
              <a:off x="0" y="0"/>
              <a:ext cx="1235005" cy="23258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7"/>
            <p:cNvSpPr txBox="1"/>
            <p:nvPr/>
          </p:nvSpPr>
          <p:spPr>
            <a:xfrm>
              <a:off x="0" y="0"/>
              <a:ext cx="1235005" cy="23258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Lustria"/>
                <a:buNone/>
              </a:pPr>
              <a:r>
                <a:rPr b="1" i="0" lang="uk" sz="15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Ключові слова:</a:t>
              </a:r>
              <a:endParaRPr b="0" i="0" sz="15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26" name="Google Shape;326;p37"/>
            <p:cNvSpPr/>
            <p:nvPr/>
          </p:nvSpPr>
          <p:spPr>
            <a:xfrm>
              <a:off x="1327630" y="27340"/>
              <a:ext cx="4847395" cy="546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7"/>
            <p:cNvSpPr txBox="1"/>
            <p:nvPr/>
          </p:nvSpPr>
          <p:spPr>
            <a:xfrm>
              <a:off x="1327630" y="27340"/>
              <a:ext cx="4847395" cy="546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300" lIns="74300" spcFirstLastPara="1" rIns="74300" wrap="square" tIns="7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uk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  multithreading</a:t>
              </a:r>
              <a:endParaRPr sz="1100"/>
            </a:p>
          </p:txBody>
        </p:sp>
        <p:cxnSp>
          <p:nvCxnSpPr>
            <p:cNvPr id="328" name="Google Shape;328;p37"/>
            <p:cNvCxnSpPr/>
            <p:nvPr/>
          </p:nvCxnSpPr>
          <p:spPr>
            <a:xfrm>
              <a:off x="1235005" y="574154"/>
              <a:ext cx="4940020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BABAB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9" name="Google Shape;329;p37"/>
            <p:cNvSpPr/>
            <p:nvPr/>
          </p:nvSpPr>
          <p:spPr>
            <a:xfrm>
              <a:off x="1327630" y="601494"/>
              <a:ext cx="4847395" cy="546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7"/>
            <p:cNvSpPr txBox="1"/>
            <p:nvPr/>
          </p:nvSpPr>
          <p:spPr>
            <a:xfrm>
              <a:off x="1327630" y="601494"/>
              <a:ext cx="4847395" cy="546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300" lIns="74300" spcFirstLastPara="1" rIns="74300" wrap="square" tIns="7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uk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  thread vs process</a:t>
              </a:r>
              <a:endParaRPr sz="1100"/>
            </a:p>
          </p:txBody>
        </p:sp>
        <p:cxnSp>
          <p:nvCxnSpPr>
            <p:cNvPr id="331" name="Google Shape;331;p37"/>
            <p:cNvCxnSpPr/>
            <p:nvPr/>
          </p:nvCxnSpPr>
          <p:spPr>
            <a:xfrm>
              <a:off x="1235005" y="1148308"/>
              <a:ext cx="4940020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BABAB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2" name="Google Shape;332;p37"/>
            <p:cNvSpPr/>
            <p:nvPr/>
          </p:nvSpPr>
          <p:spPr>
            <a:xfrm>
              <a:off x="1327630" y="1175649"/>
              <a:ext cx="4847395" cy="546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7"/>
            <p:cNvSpPr txBox="1"/>
            <p:nvPr/>
          </p:nvSpPr>
          <p:spPr>
            <a:xfrm>
              <a:off x="1327630" y="1175649"/>
              <a:ext cx="4847395" cy="546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300" lIns="74300" spcFirstLastPara="1" rIns="74300" wrap="square" tIns="7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uk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  Python threading</a:t>
              </a:r>
              <a:endParaRPr sz="1100"/>
            </a:p>
          </p:txBody>
        </p:sp>
        <p:cxnSp>
          <p:nvCxnSpPr>
            <p:cNvPr id="334" name="Google Shape;334;p37"/>
            <p:cNvCxnSpPr/>
            <p:nvPr/>
          </p:nvCxnSpPr>
          <p:spPr>
            <a:xfrm>
              <a:off x="1235005" y="1722462"/>
              <a:ext cx="4940020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BABAB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5" name="Google Shape;335;p37"/>
            <p:cNvSpPr/>
            <p:nvPr/>
          </p:nvSpPr>
          <p:spPr>
            <a:xfrm>
              <a:off x="1327630" y="1749803"/>
              <a:ext cx="4847395" cy="546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7"/>
            <p:cNvSpPr txBox="1"/>
            <p:nvPr/>
          </p:nvSpPr>
          <p:spPr>
            <a:xfrm>
              <a:off x="1327630" y="1749803"/>
              <a:ext cx="4847395" cy="546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300" lIns="74300" spcFirstLastPara="1" rIns="74300" wrap="square" tIns="7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uk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  concurrency</a:t>
              </a:r>
              <a:endParaRPr sz="1100"/>
            </a:p>
          </p:txBody>
        </p:sp>
        <p:cxnSp>
          <p:nvCxnSpPr>
            <p:cNvPr id="337" name="Google Shape;337;p37"/>
            <p:cNvCxnSpPr/>
            <p:nvPr/>
          </p:nvCxnSpPr>
          <p:spPr>
            <a:xfrm>
              <a:off x="1235005" y="2296616"/>
              <a:ext cx="4940020" cy="0"/>
            </a:xfrm>
            <a:prstGeom prst="straightConnector1">
              <a:avLst/>
            </a:prstGeom>
            <a:solidFill>
              <a:srgbClr val="1B1B32"/>
            </a:solidFill>
            <a:ln cap="flat" cmpd="sng" w="12700">
              <a:solidFill>
                <a:srgbClr val="BABAB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DIY: Multithreading vs Multiprocessing in Python | by Varun Kumar G | Level  Up Coding" id="338" name="Google Shape;33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25246"/>
            <a:ext cx="3968885" cy="2018254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44" name="Google Shape;344;p38"/>
          <p:cNvSpPr txBox="1"/>
          <p:nvPr>
            <p:ph type="title"/>
          </p:nvPr>
        </p:nvSpPr>
        <p:spPr>
          <a:xfrm>
            <a:off x="528075" y="685800"/>
            <a:ext cx="84594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None/>
            </a:pPr>
            <a:r>
              <a:rPr lang="uk"/>
              <a:t>ОБРОБКА ФАЙЛІВ У ПАРАЛЕЛЬНОМУ РЕЖИМІ</a:t>
            </a:r>
            <a:endParaRPr/>
          </a:p>
        </p:txBody>
      </p:sp>
      <p:cxnSp>
        <p:nvCxnSpPr>
          <p:cNvPr id="345" name="Google Shape;345;p38"/>
          <p:cNvCxnSpPr/>
          <p:nvPr/>
        </p:nvCxnSpPr>
        <p:spPr>
          <a:xfrm>
            <a:off x="603504" y="542925"/>
            <a:ext cx="7941564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Difference between serial and parallel processing – IT Release" id="346" name="Google Shape;34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547" y="1394463"/>
            <a:ext cx="4139625" cy="310471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347" name="Google Shape;347;p38"/>
          <p:cNvSpPr txBox="1"/>
          <p:nvPr/>
        </p:nvSpPr>
        <p:spPr>
          <a:xfrm>
            <a:off x="5076874" y="2077610"/>
            <a:ext cx="3143251" cy="80621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uk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Якщо система має багато файлів, їх обробка може бути виконана:</a:t>
            </a:r>
            <a:endParaRPr sz="1100"/>
          </a:p>
          <a:p>
            <a:pPr indent="8890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348" name="Google Shape;348;p38"/>
          <p:cNvCxnSpPr/>
          <p:nvPr/>
        </p:nvCxnSpPr>
        <p:spPr>
          <a:xfrm>
            <a:off x="606799" y="4609199"/>
            <a:ext cx="7937126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49" name="Google Shape;349;p38"/>
          <p:cNvGrpSpPr/>
          <p:nvPr/>
        </p:nvGrpSpPr>
        <p:grpSpPr>
          <a:xfrm>
            <a:off x="5539892" y="2747865"/>
            <a:ext cx="3141089" cy="806212"/>
            <a:chOff x="1440" y="0"/>
            <a:chExt cx="4188119" cy="1074950"/>
          </a:xfrm>
        </p:grpSpPr>
        <p:sp>
          <p:nvSpPr>
            <p:cNvPr id="350" name="Google Shape;350;p38"/>
            <p:cNvSpPr/>
            <p:nvPr/>
          </p:nvSpPr>
          <p:spPr>
            <a:xfrm>
              <a:off x="1440" y="0"/>
              <a:ext cx="1931789" cy="107495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8"/>
            <p:cNvSpPr txBox="1"/>
            <p:nvPr/>
          </p:nvSpPr>
          <p:spPr>
            <a:xfrm>
              <a:off x="32924" y="31484"/>
              <a:ext cx="1868821" cy="1011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b="1" i="0" lang="uk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Послідовно</a:t>
              </a:r>
              <a:endParaRPr b="0" i="0" sz="15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52" name="Google Shape;352;p38"/>
            <p:cNvSpPr/>
            <p:nvPr/>
          </p:nvSpPr>
          <p:spPr>
            <a:xfrm>
              <a:off x="2257770" y="0"/>
              <a:ext cx="1931789" cy="107495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8"/>
            <p:cNvSpPr txBox="1"/>
            <p:nvPr/>
          </p:nvSpPr>
          <p:spPr>
            <a:xfrm>
              <a:off x="2289254" y="31484"/>
              <a:ext cx="1868821" cy="1011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b="1" i="0" lang="uk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Паралельно 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Google Shape;358;p39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39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0" name="Google Shape;360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61" name="Google Shape;361;p39"/>
          <p:cNvSpPr txBox="1"/>
          <p:nvPr>
            <p:ph type="title"/>
          </p:nvPr>
        </p:nvSpPr>
        <p:spPr>
          <a:xfrm>
            <a:off x="6103625" y="883000"/>
            <a:ext cx="2907300" cy="25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</a:pPr>
            <a:r>
              <a:rPr lang="uk" sz="3200"/>
              <a:t>ПОСЛІДОВНА СХЕМА</a:t>
            </a:r>
            <a:endParaRPr sz="3200"/>
          </a:p>
        </p:txBody>
      </p:sp>
      <p:sp>
        <p:nvSpPr>
          <p:cNvPr id="362" name="Google Shape;362;p39"/>
          <p:cNvSpPr txBox="1"/>
          <p:nvPr/>
        </p:nvSpPr>
        <p:spPr>
          <a:xfrm>
            <a:off x="6156961" y="3707841"/>
            <a:ext cx="1952059" cy="55264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uk" sz="1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sequential file processing workflow diagram</a:t>
            </a:r>
            <a:endParaRPr sz="1100"/>
          </a:p>
        </p:txBody>
      </p:sp>
      <p:cxnSp>
        <p:nvCxnSpPr>
          <p:cNvPr id="363" name="Google Shape;363;p39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Sequence diagram showing the process of file archiving in the tracking... |  Download Scientific Diagram" id="364" name="Google Shape;36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338" y="647701"/>
            <a:ext cx="5348705" cy="385106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cxnSp>
        <p:nvCxnSpPr>
          <p:cNvPr id="365" name="Google Shape;365;p39"/>
          <p:cNvCxnSpPr/>
          <p:nvPr/>
        </p:nvCxnSpPr>
        <p:spPr>
          <a:xfrm>
            <a:off x="600075" y="4601164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71" name="Google Shape;371;p40"/>
          <p:cNvSpPr txBox="1"/>
          <p:nvPr>
            <p:ph type="title"/>
          </p:nvPr>
        </p:nvSpPr>
        <p:spPr>
          <a:xfrm>
            <a:off x="528066" y="685800"/>
            <a:ext cx="8015859" cy="5986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ПАРАЛЕЛЬНА СХЕМА</a:t>
            </a:r>
            <a:endParaRPr/>
          </a:p>
        </p:txBody>
      </p:sp>
      <p:cxnSp>
        <p:nvCxnSpPr>
          <p:cNvPr id="372" name="Google Shape;372;p40"/>
          <p:cNvCxnSpPr/>
          <p:nvPr/>
        </p:nvCxnSpPr>
        <p:spPr>
          <a:xfrm>
            <a:off x="603504" y="542925"/>
            <a:ext cx="7941564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lamAV's parallel diagram processing (single file per thread). | Download  Scientific Diagram" id="373" name="Google Shape;37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7332" y="1816295"/>
            <a:ext cx="4554141" cy="264140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374" name="Google Shape;374;p40"/>
          <p:cNvSpPr txBox="1"/>
          <p:nvPr>
            <p:ph idx="1" type="body"/>
          </p:nvPr>
        </p:nvSpPr>
        <p:spPr>
          <a:xfrm>
            <a:off x="603504" y="1453841"/>
            <a:ext cx="1471916" cy="75146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2500" lnSpcReduction="1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uk"/>
              <a:t>thread1 -&gt; file1</a:t>
            </a:r>
            <a:br>
              <a:rPr b="1" lang="uk"/>
            </a:br>
            <a:r>
              <a:rPr b="1" lang="uk"/>
              <a:t>thread2 -&gt; file2</a:t>
            </a:r>
            <a:br>
              <a:rPr b="1" lang="uk"/>
            </a:br>
            <a:r>
              <a:rPr b="1" lang="uk"/>
              <a:t>thread3 -&gt; file3</a:t>
            </a:r>
            <a:endParaRPr b="1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p40"/>
          <p:cNvCxnSpPr/>
          <p:nvPr/>
        </p:nvCxnSpPr>
        <p:spPr>
          <a:xfrm>
            <a:off x="606799" y="4609199"/>
            <a:ext cx="7937126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6" name="Google Shape;376;p40"/>
          <p:cNvSpPr txBox="1"/>
          <p:nvPr/>
        </p:nvSpPr>
        <p:spPr>
          <a:xfrm>
            <a:off x="512527" y="2669823"/>
            <a:ext cx="13624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uk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Ключові слова:</a:t>
            </a:r>
            <a:endParaRPr sz="14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377" name="Google Shape;377;p40"/>
          <p:cNvGrpSpPr/>
          <p:nvPr/>
        </p:nvGrpSpPr>
        <p:grpSpPr>
          <a:xfrm>
            <a:off x="733004" y="3042305"/>
            <a:ext cx="2284006" cy="1096751"/>
            <a:chOff x="0" y="714"/>
            <a:chExt cx="3045342" cy="1462334"/>
          </a:xfrm>
        </p:grpSpPr>
        <p:cxnSp>
          <p:nvCxnSpPr>
            <p:cNvPr id="378" name="Google Shape;378;p40"/>
            <p:cNvCxnSpPr/>
            <p:nvPr/>
          </p:nvCxnSpPr>
          <p:spPr>
            <a:xfrm>
              <a:off x="0" y="714"/>
              <a:ext cx="3045342" cy="0"/>
            </a:xfrm>
            <a:prstGeom prst="straightConnector1">
              <a:avLst/>
            </a:prstGeom>
            <a:solidFill>
              <a:srgbClr val="DA9A8F"/>
            </a:solidFill>
            <a:ln cap="flat" cmpd="sng" w="12700">
              <a:solidFill>
                <a:srgbClr val="DA9A8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9" name="Google Shape;379;p40"/>
            <p:cNvSpPr/>
            <p:nvPr/>
          </p:nvSpPr>
          <p:spPr>
            <a:xfrm>
              <a:off x="0" y="714"/>
              <a:ext cx="3045342" cy="487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0"/>
            <p:cNvSpPr txBox="1"/>
            <p:nvPr/>
          </p:nvSpPr>
          <p:spPr>
            <a:xfrm>
              <a:off x="0" y="714"/>
              <a:ext cx="3045342" cy="487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Lustria"/>
                <a:buNone/>
              </a:pPr>
              <a:r>
                <a:rPr b="0" i="0" lang="uk" sz="15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parallel file processing</a:t>
              </a:r>
              <a:endParaRPr sz="15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381" name="Google Shape;381;p40"/>
            <p:cNvCxnSpPr/>
            <p:nvPr/>
          </p:nvCxnSpPr>
          <p:spPr>
            <a:xfrm>
              <a:off x="0" y="488159"/>
              <a:ext cx="3045342" cy="0"/>
            </a:xfrm>
            <a:prstGeom prst="straightConnector1">
              <a:avLst/>
            </a:prstGeom>
            <a:solidFill>
              <a:srgbClr val="93CDC1"/>
            </a:solidFill>
            <a:ln cap="flat" cmpd="sng" w="12700">
              <a:solidFill>
                <a:srgbClr val="93CDC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2" name="Google Shape;382;p40"/>
            <p:cNvSpPr/>
            <p:nvPr/>
          </p:nvSpPr>
          <p:spPr>
            <a:xfrm>
              <a:off x="0" y="488159"/>
              <a:ext cx="3045342" cy="487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0"/>
            <p:cNvSpPr txBox="1"/>
            <p:nvPr/>
          </p:nvSpPr>
          <p:spPr>
            <a:xfrm>
              <a:off x="0" y="488159"/>
              <a:ext cx="3045342" cy="487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Lustria"/>
                <a:buNone/>
              </a:pPr>
              <a:r>
                <a:rPr b="0" i="0" lang="uk" sz="15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IO-bound tasks</a:t>
              </a:r>
              <a:endParaRPr sz="15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384" name="Google Shape;384;p40"/>
            <p:cNvCxnSpPr/>
            <p:nvPr/>
          </p:nvCxnSpPr>
          <p:spPr>
            <a:xfrm>
              <a:off x="0" y="975604"/>
              <a:ext cx="3045342" cy="0"/>
            </a:xfrm>
            <a:prstGeom prst="straightConnector1">
              <a:avLst/>
            </a:prstGeom>
            <a:solidFill>
              <a:srgbClr val="C099B0"/>
            </a:solidFill>
            <a:ln cap="flat" cmpd="sng" w="12700">
              <a:solidFill>
                <a:srgbClr val="C099B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5" name="Google Shape;385;p40"/>
            <p:cNvSpPr/>
            <p:nvPr/>
          </p:nvSpPr>
          <p:spPr>
            <a:xfrm>
              <a:off x="0" y="975604"/>
              <a:ext cx="3045342" cy="487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0"/>
            <p:cNvSpPr txBox="1"/>
            <p:nvPr/>
          </p:nvSpPr>
          <p:spPr>
            <a:xfrm>
              <a:off x="0" y="975604"/>
              <a:ext cx="3045342" cy="487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Lustria"/>
                <a:buNone/>
              </a:pPr>
              <a:r>
                <a:rPr b="0" i="0" lang="uk" sz="15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concurrency model</a:t>
              </a:r>
              <a:endParaRPr sz="15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1" name="Google Shape;391;p41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2" name="Google Shape;392;p41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3" name="Google Shape;393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94" name="Google Shape;394;p41"/>
          <p:cNvSpPr txBox="1"/>
          <p:nvPr>
            <p:ph type="title"/>
          </p:nvPr>
        </p:nvSpPr>
        <p:spPr>
          <a:xfrm>
            <a:off x="501250" y="622875"/>
            <a:ext cx="6390300" cy="29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</a:pPr>
            <a:r>
              <a:rPr lang="uk" sz="6000"/>
              <a:t>ЗАВДАННЯ ЛАБОРАТОРНОЇ РОБОТИ</a:t>
            </a:r>
            <a:endParaRPr/>
          </a:p>
        </p:txBody>
      </p:sp>
      <p:cxnSp>
        <p:nvCxnSpPr>
          <p:cNvPr id="395" name="Google Shape;395;p41"/>
          <p:cNvCxnSpPr/>
          <p:nvPr/>
        </p:nvCxnSpPr>
        <p:spPr>
          <a:xfrm>
            <a:off x="600075" y="542925"/>
            <a:ext cx="1228725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2"/>
          <p:cNvSpPr txBox="1"/>
          <p:nvPr>
            <p:ph type="title"/>
          </p:nvPr>
        </p:nvSpPr>
        <p:spPr>
          <a:xfrm>
            <a:off x="525476" y="685800"/>
            <a:ext cx="8018449" cy="9806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СТВОРЕННЯ СТРУКТУРИ КАТАЛОГУ</a:t>
            </a:r>
            <a:endParaRPr/>
          </a:p>
        </p:txBody>
      </p:sp>
      <p:sp>
        <p:nvSpPr>
          <p:cNvPr id="401" name="Google Shape;401;p42"/>
          <p:cNvSpPr txBox="1"/>
          <p:nvPr>
            <p:ph idx="1" type="body"/>
          </p:nvPr>
        </p:nvSpPr>
        <p:spPr>
          <a:xfrm>
            <a:off x="439568" y="1652777"/>
            <a:ext cx="8018449" cy="28049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uk"/>
              <a:t>Написати програму, яка:</a:t>
            </a:r>
            <a:endParaRPr/>
          </a:p>
          <a:p>
            <a:pPr indent="-177800" lvl="1" marL="5207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uk"/>
              <a:t>Створює каталог “</a:t>
            </a:r>
            <a:r>
              <a:rPr b="1" lang="uk"/>
              <a:t>lab_os_1”</a:t>
            </a:r>
            <a:endParaRPr b="1"/>
          </a:p>
          <a:p>
            <a:pPr indent="-76200" lvl="0" marL="177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02" name="Google Shape;402;p42"/>
          <p:cNvSpPr txBox="1"/>
          <p:nvPr/>
        </p:nvSpPr>
        <p:spPr>
          <a:xfrm>
            <a:off x="439568" y="2788445"/>
            <a:ext cx="4570743" cy="9002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None/>
            </a:pPr>
            <a:r>
              <a:rPr lang="uk"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Всередині каталогу створює підкаталоги:</a:t>
            </a:r>
            <a:endParaRPr sz="1100"/>
          </a:p>
          <a:p>
            <a:pPr indent="-88900" lvl="1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uk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input</a:t>
            </a:r>
            <a:endParaRPr sz="1100"/>
          </a:p>
          <a:p>
            <a:pPr indent="-88900" lvl="1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uk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output</a:t>
            </a:r>
            <a:endParaRPr sz="1100"/>
          </a:p>
          <a:p>
            <a:pPr indent="-88900" lvl="1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uk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 logs</a:t>
            </a:r>
            <a:endParaRPr sz="1100"/>
          </a:p>
        </p:txBody>
      </p:sp>
      <p:pic>
        <p:nvPicPr>
          <p:cNvPr descr="Linux Directory Structure Explained for Beginners" id="403" name="Google Shape;40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8884" y="1385290"/>
            <a:ext cx="4992721" cy="249636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" name="Google Shape;408;p43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9" name="Google Shape;409;p43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0" name="Google Shape;410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11" name="Google Shape;411;p43"/>
          <p:cNvSpPr txBox="1"/>
          <p:nvPr>
            <p:ph type="title"/>
          </p:nvPr>
        </p:nvSpPr>
        <p:spPr>
          <a:xfrm>
            <a:off x="6211919" y="875286"/>
            <a:ext cx="2498100" cy="25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</a:pPr>
            <a:r>
              <a:rPr lang="uk" sz="3200"/>
              <a:t>ПРАВА ДОСТУПУ ДО КАТАЛОГІВ</a:t>
            </a:r>
            <a:endParaRPr/>
          </a:p>
        </p:txBody>
      </p:sp>
      <p:cxnSp>
        <p:nvCxnSpPr>
          <p:cNvPr id="412" name="Google Shape;412;p43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3" name="Google Shape;413;p43"/>
          <p:cNvCxnSpPr/>
          <p:nvPr/>
        </p:nvCxnSpPr>
        <p:spPr>
          <a:xfrm>
            <a:off x="600075" y="4601164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414" name="Google Shape;414;p43"/>
          <p:cNvGraphicFramePr/>
          <p:nvPr/>
        </p:nvGraphicFramePr>
        <p:xfrm>
          <a:off x="542201" y="9742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{47B06355-525E-4C45-AF68-5B78CF9EEBC0}</a:tableStyleId>
              </a:tblPr>
              <a:tblGrid>
                <a:gridCol w="2927075"/>
                <a:gridCol w="2457900"/>
              </a:tblGrid>
              <a:tr h="85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Lustria"/>
                        <a:buNone/>
                      </a:pPr>
                      <a:r>
                        <a:rPr b="1" lang="uk" sz="2800" u="none" cap="none" strike="noStrike">
                          <a:solidFill>
                            <a:schemeClr val="lt1"/>
                          </a:solidFill>
                        </a:rPr>
                        <a:t>Каталог</a:t>
                      </a:r>
                      <a:endParaRPr sz="1100"/>
                    </a:p>
                  </a:txBody>
                  <a:tcPr marT="180850" marB="180850" marR="90425" marL="126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Lustria"/>
                        <a:buNone/>
                      </a:pPr>
                      <a:r>
                        <a:rPr b="1" lang="uk" sz="2800" u="none" cap="none" strike="noStrike">
                          <a:solidFill>
                            <a:schemeClr val="lt1"/>
                          </a:solidFill>
                        </a:rPr>
                        <a:t>Права</a:t>
                      </a:r>
                      <a:endParaRPr sz="1100"/>
                    </a:p>
                  </a:txBody>
                  <a:tcPr marT="180850" marB="180850" marR="90425" marL="126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8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ustria"/>
                        <a:buNone/>
                      </a:pPr>
                      <a:r>
                        <a:rPr lang="uk" sz="2400" u="none" cap="none" strike="noStrike">
                          <a:solidFill>
                            <a:schemeClr val="dk1"/>
                          </a:solidFill>
                        </a:rPr>
                        <a:t>input</a:t>
                      </a:r>
                      <a:endParaRPr sz="1100"/>
                    </a:p>
                  </a:txBody>
                  <a:tcPr marT="165775" marB="180850" marR="90425" marL="126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ustria"/>
                        <a:buNone/>
                      </a:pPr>
                      <a:r>
                        <a:rPr lang="uk" sz="2400" u="none" cap="none" strike="noStrike">
                          <a:solidFill>
                            <a:schemeClr val="dk1"/>
                          </a:solidFill>
                        </a:rPr>
                        <a:t>755</a:t>
                      </a:r>
                      <a:endParaRPr sz="1100"/>
                    </a:p>
                  </a:txBody>
                  <a:tcPr marT="165775" marB="180850" marR="90425" marL="126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ustria"/>
                        <a:buNone/>
                      </a:pPr>
                      <a:r>
                        <a:rPr lang="uk" sz="2400" u="none" cap="none" strike="noStrike">
                          <a:solidFill>
                            <a:schemeClr val="dk1"/>
                          </a:solidFill>
                        </a:rPr>
                        <a:t>output</a:t>
                      </a:r>
                      <a:endParaRPr sz="1100"/>
                    </a:p>
                  </a:txBody>
                  <a:tcPr marT="165775" marB="180850" marR="90425" marL="126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ustria"/>
                        <a:buNone/>
                      </a:pPr>
                      <a:r>
                        <a:rPr lang="uk" sz="2400" u="none" cap="none" strike="noStrike">
                          <a:solidFill>
                            <a:schemeClr val="dk1"/>
                          </a:solidFill>
                        </a:rPr>
                        <a:t>755</a:t>
                      </a:r>
                      <a:endParaRPr sz="1100"/>
                    </a:p>
                  </a:txBody>
                  <a:tcPr marT="165775" marB="180850" marR="90425" marL="126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78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ustria"/>
                        <a:buNone/>
                      </a:pPr>
                      <a:r>
                        <a:rPr lang="uk" sz="2400" u="none" cap="none" strike="noStrike">
                          <a:solidFill>
                            <a:schemeClr val="dk1"/>
                          </a:solidFill>
                        </a:rPr>
                        <a:t>logs</a:t>
                      </a:r>
                      <a:endParaRPr sz="1100"/>
                    </a:p>
                  </a:txBody>
                  <a:tcPr marT="165775" marB="180850" marR="90425" marL="126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ustria"/>
                        <a:buNone/>
                      </a:pPr>
                      <a:r>
                        <a:rPr lang="uk" sz="2400" u="none" cap="none" strike="noStrike">
                          <a:solidFill>
                            <a:schemeClr val="dk1"/>
                          </a:solidFill>
                        </a:rPr>
                        <a:t>700</a:t>
                      </a:r>
                      <a:endParaRPr sz="1100"/>
                    </a:p>
                  </a:txBody>
                  <a:tcPr marT="165775" marB="180850" marR="90425" marL="126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20" name="Google Shape;420;p44"/>
          <p:cNvSpPr txBox="1"/>
          <p:nvPr>
            <p:ph type="title"/>
          </p:nvPr>
        </p:nvSpPr>
        <p:spPr>
          <a:xfrm>
            <a:off x="528066" y="685800"/>
            <a:ext cx="2745582" cy="33030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ЧАСТИНА 2. ГЕНЕРАЦІЯ ТЕСТОВИХ ФАЙЛІВ</a:t>
            </a:r>
            <a:endParaRPr/>
          </a:p>
        </p:txBody>
      </p:sp>
      <p:cxnSp>
        <p:nvCxnSpPr>
          <p:cNvPr id="421" name="Google Shape;421;p44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2" name="Google Shape;422;p44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23" name="Google Shape;423;p44"/>
          <p:cNvGrpSpPr/>
          <p:nvPr/>
        </p:nvGrpSpPr>
        <p:grpSpPr>
          <a:xfrm>
            <a:off x="3657600" y="947902"/>
            <a:ext cx="4936332" cy="3247696"/>
            <a:chOff x="0" y="197069"/>
            <a:chExt cx="6581776" cy="4330261"/>
          </a:xfrm>
        </p:grpSpPr>
        <p:sp>
          <p:nvSpPr>
            <p:cNvPr id="424" name="Google Shape;424;p44"/>
            <p:cNvSpPr/>
            <p:nvPr/>
          </p:nvSpPr>
          <p:spPr>
            <a:xfrm>
              <a:off x="0" y="521789"/>
              <a:ext cx="6581776" cy="918225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4"/>
            <p:cNvSpPr txBox="1"/>
            <p:nvPr/>
          </p:nvSpPr>
          <p:spPr>
            <a:xfrm>
              <a:off x="0" y="521789"/>
              <a:ext cx="6581776" cy="918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7350" lIns="383100" spcFirstLastPara="1" rIns="383100" wrap="square" tIns="343650">
              <a:noAutofit/>
            </a:bodyPr>
            <a:lstStyle/>
            <a:p>
              <a:pPr indent="-184150" lvl="1" marL="1778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Lustria"/>
                <a:buChar char="•"/>
              </a:pPr>
              <a:r>
                <a:rPr b="0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Генерує </a:t>
              </a:r>
              <a:r>
                <a:rPr b="1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N текстових файлів (100–500)</a:t>
              </a:r>
              <a:r>
                <a:rPr b="0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.</a:t>
              </a:r>
              <a:endParaRPr b="0" i="0" sz="17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26" name="Google Shape;426;p44"/>
            <p:cNvSpPr/>
            <p:nvPr/>
          </p:nvSpPr>
          <p:spPr>
            <a:xfrm>
              <a:off x="329088" y="197069"/>
              <a:ext cx="4607243" cy="64944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4"/>
            <p:cNvSpPr txBox="1"/>
            <p:nvPr/>
          </p:nvSpPr>
          <p:spPr>
            <a:xfrm>
              <a:off x="360791" y="228772"/>
              <a:ext cx="4543837" cy="586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0600" spcFirstLastPara="1" rIns="1306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Lustria"/>
                <a:buNone/>
              </a:pPr>
              <a:r>
                <a:rPr lang="uk" sz="17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Створити програму яка:</a:t>
              </a:r>
              <a:endParaRPr sz="17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28" name="Google Shape;428;p44"/>
            <p:cNvSpPr/>
            <p:nvPr/>
          </p:nvSpPr>
          <p:spPr>
            <a:xfrm>
              <a:off x="0" y="1883534"/>
              <a:ext cx="6581776" cy="1282049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727FA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4"/>
            <p:cNvSpPr txBox="1"/>
            <p:nvPr/>
          </p:nvSpPr>
          <p:spPr>
            <a:xfrm>
              <a:off x="0" y="1883534"/>
              <a:ext cx="6581776" cy="1282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7350" lIns="383100" spcFirstLastPara="1" rIns="383100" wrap="square" tIns="343650">
              <a:noAutofit/>
            </a:bodyPr>
            <a:lstStyle/>
            <a:p>
              <a:pPr indent="-184150" lvl="1" marL="1778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Lustria"/>
                <a:buChar char="•"/>
              </a:pPr>
              <a:r>
                <a:rPr b="0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випадковий текст</a:t>
              </a:r>
              <a:endParaRPr b="0" i="0" sz="17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-184150" lvl="1" marL="1778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Lustria"/>
                <a:buChar char="•"/>
              </a:pPr>
              <a:r>
                <a:rPr b="0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не менше </a:t>
              </a:r>
              <a:r>
                <a:rPr b="1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1000 рядків</a:t>
              </a:r>
              <a:endParaRPr b="0" i="0" sz="17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30" name="Google Shape;430;p44"/>
            <p:cNvSpPr/>
            <p:nvPr/>
          </p:nvSpPr>
          <p:spPr>
            <a:xfrm>
              <a:off x="329088" y="1558814"/>
              <a:ext cx="4607243" cy="649440"/>
            </a:xfrm>
            <a:prstGeom prst="roundRect">
              <a:avLst>
                <a:gd fmla="val 16667" name="adj"/>
              </a:avLst>
            </a:prstGeom>
            <a:solidFill>
              <a:srgbClr val="727FA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4"/>
            <p:cNvSpPr txBox="1"/>
            <p:nvPr/>
          </p:nvSpPr>
          <p:spPr>
            <a:xfrm>
              <a:off x="360791" y="1590517"/>
              <a:ext cx="4543837" cy="586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0600" spcFirstLastPara="1" rIns="1306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Lustria"/>
                <a:buNone/>
              </a:pPr>
              <a:r>
                <a:rPr lang="uk" sz="17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Кожен файл повинен містити:</a:t>
              </a:r>
              <a:endParaRPr sz="17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32" name="Google Shape;432;p44"/>
            <p:cNvSpPr/>
            <p:nvPr/>
          </p:nvSpPr>
          <p:spPr>
            <a:xfrm>
              <a:off x="0" y="3609105"/>
              <a:ext cx="6581776" cy="918225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5965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4"/>
            <p:cNvSpPr txBox="1"/>
            <p:nvPr/>
          </p:nvSpPr>
          <p:spPr>
            <a:xfrm>
              <a:off x="0" y="3609105"/>
              <a:ext cx="6581776" cy="918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7350" lIns="383100" spcFirstLastPara="1" rIns="383100" wrap="square" tIns="343650">
              <a:noAutofit/>
            </a:bodyPr>
            <a:lstStyle/>
            <a:p>
              <a:pPr indent="-177800" lvl="1" marL="1778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Lustria"/>
                <a:buNone/>
              </a:pPr>
              <a:r>
                <a:rPr b="0" i="0" lang="uk" sz="17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input</a:t>
              </a:r>
              <a:endParaRPr sz="1100"/>
            </a:p>
          </p:txBody>
        </p:sp>
        <p:sp>
          <p:nvSpPr>
            <p:cNvPr id="434" name="Google Shape;434;p44"/>
            <p:cNvSpPr/>
            <p:nvPr/>
          </p:nvSpPr>
          <p:spPr>
            <a:xfrm>
              <a:off x="329088" y="3284384"/>
              <a:ext cx="4607243" cy="649440"/>
            </a:xfrm>
            <a:prstGeom prst="roundRect">
              <a:avLst>
                <a:gd fmla="val 16667" name="adj"/>
              </a:avLst>
            </a:prstGeom>
            <a:solidFill>
              <a:srgbClr val="59657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4"/>
            <p:cNvSpPr txBox="1"/>
            <p:nvPr/>
          </p:nvSpPr>
          <p:spPr>
            <a:xfrm>
              <a:off x="360791" y="3316087"/>
              <a:ext cx="4543837" cy="586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0600" spcFirstLastPara="1" rIns="1306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Lustria"/>
                <a:buNone/>
              </a:pPr>
              <a:r>
                <a:rPr lang="uk" sz="17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Файли зберігаються у каталозі:</a:t>
              </a:r>
              <a:endParaRPr sz="17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41" name="Google Shape;441;p45"/>
          <p:cNvSpPr txBox="1"/>
          <p:nvPr>
            <p:ph type="title"/>
          </p:nvPr>
        </p:nvSpPr>
        <p:spPr>
          <a:xfrm>
            <a:off x="528066" y="685800"/>
            <a:ext cx="2745582" cy="33030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ЧАСТИНА 3. АНАЛІЗ ФАЙЛІВ (ПОСЛІДОВНИЙ РЕЖИМ)</a:t>
            </a:r>
            <a:endParaRPr/>
          </a:p>
        </p:txBody>
      </p:sp>
      <p:cxnSp>
        <p:nvCxnSpPr>
          <p:cNvPr id="442" name="Google Shape;442;p45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3" name="Google Shape;443;p45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44" name="Google Shape;444;p45"/>
          <p:cNvGrpSpPr/>
          <p:nvPr/>
        </p:nvGrpSpPr>
        <p:grpSpPr>
          <a:xfrm>
            <a:off x="3657600" y="1215607"/>
            <a:ext cx="4936332" cy="2712285"/>
            <a:chOff x="0" y="554009"/>
            <a:chExt cx="6581776" cy="3616380"/>
          </a:xfrm>
        </p:grpSpPr>
        <p:sp>
          <p:nvSpPr>
            <p:cNvPr id="445" name="Google Shape;445;p45"/>
            <p:cNvSpPr/>
            <p:nvPr/>
          </p:nvSpPr>
          <p:spPr>
            <a:xfrm>
              <a:off x="0" y="908249"/>
              <a:ext cx="6581776" cy="1001700"/>
            </a:xfrm>
            <a:prstGeom prst="rect">
              <a:avLst/>
            </a:prstGeom>
            <a:solidFill>
              <a:schemeClr val="lt2">
                <a:alpha val="90196"/>
              </a:schemeClr>
            </a:soli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5"/>
            <p:cNvSpPr txBox="1"/>
            <p:nvPr/>
          </p:nvSpPr>
          <p:spPr>
            <a:xfrm>
              <a:off x="0" y="908249"/>
              <a:ext cx="6581776" cy="10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383100" spcFirstLastPara="1" rIns="383100" wrap="square" tIns="374900">
              <a:noAutofit/>
            </a:bodyPr>
            <a:lstStyle/>
            <a:p>
              <a:pPr indent="-177800" lvl="1" marL="1778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ustria"/>
                <a:buChar char="•"/>
              </a:pPr>
              <a:r>
                <a:rPr b="0" i="0" lang="uk" sz="1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Зчитує всі файли з каталогу </a:t>
              </a:r>
              <a:r>
                <a:rPr b="1" i="0" lang="uk" sz="1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input</a:t>
              </a:r>
              <a:endPara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47" name="Google Shape;447;p45"/>
            <p:cNvSpPr/>
            <p:nvPr/>
          </p:nvSpPr>
          <p:spPr>
            <a:xfrm>
              <a:off x="329088" y="554009"/>
              <a:ext cx="4607243" cy="70848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5"/>
            <p:cNvSpPr txBox="1"/>
            <p:nvPr/>
          </p:nvSpPr>
          <p:spPr>
            <a:xfrm>
              <a:off x="363673" y="588594"/>
              <a:ext cx="4538073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0600" spcFirstLastPara="1" rIns="1306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rPr lang="uk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Реалізувати програму яка: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49" name="Google Shape;449;p45"/>
            <p:cNvSpPr/>
            <p:nvPr/>
          </p:nvSpPr>
          <p:spPr>
            <a:xfrm>
              <a:off x="0" y="2393789"/>
              <a:ext cx="6581776" cy="1776600"/>
            </a:xfrm>
            <a:prstGeom prst="rect">
              <a:avLst/>
            </a:prstGeom>
            <a:solidFill>
              <a:schemeClr val="lt2">
                <a:alpha val="90196"/>
              </a:schemeClr>
            </a:soli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5"/>
            <p:cNvSpPr txBox="1"/>
            <p:nvPr/>
          </p:nvSpPr>
          <p:spPr>
            <a:xfrm>
              <a:off x="0" y="2393789"/>
              <a:ext cx="6581776" cy="17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383100" spcFirstLastPara="1" rIns="383100" wrap="square" tIns="374900">
              <a:noAutofit/>
            </a:bodyPr>
            <a:lstStyle/>
            <a:p>
              <a:pPr indent="-177800" lvl="1" marL="1778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ustria"/>
                <a:buChar char="•"/>
              </a:pPr>
              <a:r>
                <a:rPr b="0" i="0" lang="uk" sz="1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кількість рядків</a:t>
              </a:r>
              <a:endPara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-17780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ustria"/>
                <a:buChar char="•"/>
              </a:pPr>
              <a:r>
                <a:rPr b="0" i="0" lang="uk" sz="1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кількість слів</a:t>
              </a:r>
              <a:endPara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-17780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ustria"/>
                <a:buChar char="•"/>
              </a:pPr>
              <a:r>
                <a:rPr b="0" i="0" lang="uk" sz="18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кількість символів</a:t>
              </a:r>
              <a:endPara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51" name="Google Shape;451;p45"/>
            <p:cNvSpPr/>
            <p:nvPr/>
          </p:nvSpPr>
          <p:spPr>
            <a:xfrm>
              <a:off x="329088" y="2039549"/>
              <a:ext cx="4607243" cy="70848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5"/>
            <p:cNvSpPr txBox="1"/>
            <p:nvPr/>
          </p:nvSpPr>
          <p:spPr>
            <a:xfrm>
              <a:off x="363673" y="2074134"/>
              <a:ext cx="4538073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0600" spcFirstLastPara="1" rIns="1306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rPr lang="uk" sz="18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Для кожного файлу визначає:</a:t>
              </a:r>
              <a:endParaRPr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58" name="Google Shape;458;p46"/>
          <p:cNvSpPr txBox="1"/>
          <p:nvPr>
            <p:ph type="title"/>
          </p:nvPr>
        </p:nvSpPr>
        <p:spPr>
          <a:xfrm>
            <a:off x="528066" y="685800"/>
            <a:ext cx="2745582" cy="33030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РЕЗУЛЬТАТИ РОБОТИ</a:t>
            </a:r>
            <a:endParaRPr/>
          </a:p>
        </p:txBody>
      </p:sp>
      <p:cxnSp>
        <p:nvCxnSpPr>
          <p:cNvPr id="459" name="Google Shape;459;p46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0" name="Google Shape;460;p46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61" name="Google Shape;461;p46"/>
          <p:cNvGrpSpPr/>
          <p:nvPr/>
        </p:nvGrpSpPr>
        <p:grpSpPr>
          <a:xfrm>
            <a:off x="5086978" y="1961060"/>
            <a:ext cx="3650143" cy="1779064"/>
            <a:chOff x="0" y="1166946"/>
            <a:chExt cx="4866857" cy="2372086"/>
          </a:xfrm>
        </p:grpSpPr>
        <p:sp>
          <p:nvSpPr>
            <p:cNvPr id="462" name="Google Shape;462;p46"/>
            <p:cNvSpPr/>
            <p:nvPr/>
          </p:nvSpPr>
          <p:spPr>
            <a:xfrm>
              <a:off x="0" y="1432626"/>
              <a:ext cx="4866857" cy="751275"/>
            </a:xfrm>
            <a:prstGeom prst="rect">
              <a:avLst/>
            </a:prstGeom>
            <a:solidFill>
              <a:schemeClr val="lt2">
                <a:alpha val="90196"/>
              </a:schemeClr>
            </a:soli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6"/>
            <p:cNvSpPr txBox="1"/>
            <p:nvPr/>
          </p:nvSpPr>
          <p:spPr>
            <a:xfrm>
              <a:off x="0" y="1432626"/>
              <a:ext cx="4866857" cy="75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000" lIns="283275" spcFirstLastPara="1" rIns="283275" wrap="square" tIns="281175">
              <a:noAutofit/>
            </a:bodyPr>
            <a:lstStyle/>
            <a:p>
              <a:pPr indent="-127000" lvl="1" marL="1270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ustria"/>
                <a:buChar char="•"/>
              </a:pPr>
              <a:r>
                <a:rPr b="0" i="0" lang="uk" sz="1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output/result_sequential.txt</a:t>
              </a:r>
              <a:endParaRPr sz="1100"/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243342" y="1166946"/>
              <a:ext cx="3406799" cy="53136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46"/>
            <p:cNvSpPr txBox="1"/>
            <p:nvPr/>
          </p:nvSpPr>
          <p:spPr>
            <a:xfrm>
              <a:off x="269281" y="1192885"/>
              <a:ext cx="3354921" cy="479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6575" spcFirstLastPara="1" rIns="965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Lustria"/>
                <a:buNone/>
              </a:pPr>
              <a:r>
                <a:rPr lang="uk" sz="14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Результати записати у файл:</a:t>
              </a:r>
              <a:endParaRPr sz="14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0" y="2546782"/>
              <a:ext cx="4866857" cy="992250"/>
            </a:xfrm>
            <a:prstGeom prst="rect">
              <a:avLst/>
            </a:prstGeom>
            <a:solidFill>
              <a:schemeClr val="lt2">
                <a:alpha val="90196"/>
              </a:schemeClr>
            </a:soli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6"/>
            <p:cNvSpPr txBox="1"/>
            <p:nvPr/>
          </p:nvSpPr>
          <p:spPr>
            <a:xfrm>
              <a:off x="0" y="2546782"/>
              <a:ext cx="4866857" cy="99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000" lIns="283275" spcFirstLastPara="1" rIns="283275" wrap="square" tIns="281175">
              <a:noAutofit/>
            </a:bodyPr>
            <a:lstStyle/>
            <a:p>
              <a:pPr indent="-127000" lvl="1" marL="1270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ustria"/>
                <a:buChar char="•"/>
              </a:pPr>
              <a:r>
                <a:rPr b="0" i="0" lang="uk" sz="14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file1.txt  lines=1000  words=5000  chars=30000</a:t>
              </a:r>
              <a:endParaRPr sz="1100"/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243342" y="2281102"/>
              <a:ext cx="3406799" cy="53136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46"/>
            <p:cNvSpPr txBox="1"/>
            <p:nvPr/>
          </p:nvSpPr>
          <p:spPr>
            <a:xfrm>
              <a:off x="269281" y="2307041"/>
              <a:ext cx="3354921" cy="479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6575" spcFirstLastPara="1" rIns="965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Lustria"/>
                <a:buNone/>
              </a:pPr>
              <a:r>
                <a:rPr b="1" lang="uk" sz="14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Формат</a:t>
              </a:r>
              <a:endParaRPr sz="14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pic>
        <p:nvPicPr>
          <p:cNvPr descr="SPSS Annotated Output T-test" id="470" name="Google Shape;47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53" y="2184526"/>
            <a:ext cx="4428245" cy="201524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76" name="Google Shape;476;p47"/>
          <p:cNvSpPr txBox="1"/>
          <p:nvPr>
            <p:ph type="title"/>
          </p:nvPr>
        </p:nvSpPr>
        <p:spPr>
          <a:xfrm>
            <a:off x="528066" y="685800"/>
            <a:ext cx="2745582" cy="33030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pen Sans"/>
              <a:buNone/>
            </a:pPr>
            <a:r>
              <a:rPr lang="uk" sz="2600"/>
              <a:t>ЧАСТИНА 4. БАГАТОПОТОЧНА ОБРОБКА ФАЙЛІВ</a:t>
            </a:r>
            <a:endParaRPr sz="2600"/>
          </a:p>
        </p:txBody>
      </p:sp>
      <p:cxnSp>
        <p:nvCxnSpPr>
          <p:cNvPr id="477" name="Google Shape;477;p47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8" name="Google Shape;478;p47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79" name="Google Shape;479;p47"/>
          <p:cNvGrpSpPr/>
          <p:nvPr/>
        </p:nvGrpSpPr>
        <p:grpSpPr>
          <a:xfrm>
            <a:off x="3657600" y="1302455"/>
            <a:ext cx="4936332" cy="2538590"/>
            <a:chOff x="0" y="669806"/>
            <a:chExt cx="6581776" cy="3384787"/>
          </a:xfrm>
        </p:grpSpPr>
        <p:sp>
          <p:nvSpPr>
            <p:cNvPr id="480" name="Google Shape;480;p47"/>
            <p:cNvSpPr/>
            <p:nvPr/>
          </p:nvSpPr>
          <p:spPr>
            <a:xfrm>
              <a:off x="0" y="891206"/>
              <a:ext cx="6581776" cy="37800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7"/>
            <p:cNvSpPr/>
            <p:nvPr/>
          </p:nvSpPr>
          <p:spPr>
            <a:xfrm>
              <a:off x="329088" y="669806"/>
              <a:ext cx="4607243" cy="4428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7"/>
            <p:cNvSpPr txBox="1"/>
            <p:nvPr/>
          </p:nvSpPr>
          <p:spPr>
            <a:xfrm>
              <a:off x="350704" y="691422"/>
              <a:ext cx="4564011" cy="399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0600" spcFirstLastPara="1" rIns="1306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Lustria"/>
                <a:buNone/>
              </a:pPr>
              <a:r>
                <a:rPr lang="uk" sz="11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Реалізувати </a:t>
              </a:r>
              <a:r>
                <a:rPr b="1" lang="uk" sz="11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багатопоточну версію програми</a:t>
              </a:r>
              <a:endParaRPr sz="11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83" name="Google Shape;483;p47"/>
            <p:cNvSpPr/>
            <p:nvPr/>
          </p:nvSpPr>
          <p:spPr>
            <a:xfrm>
              <a:off x="0" y="1571606"/>
              <a:ext cx="6581776" cy="62606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7E89A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7"/>
            <p:cNvSpPr txBox="1"/>
            <p:nvPr/>
          </p:nvSpPr>
          <p:spPr>
            <a:xfrm>
              <a:off x="0" y="1571606"/>
              <a:ext cx="6581776" cy="626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383100" spcFirstLastPara="1" rIns="383100" wrap="square" tIns="234300">
              <a:noAutofit/>
            </a:bodyPr>
            <a:lstStyle/>
            <a:p>
              <a:pPr indent="-82550" lvl="1" marL="88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Lustria"/>
                <a:buChar char="•"/>
              </a:pPr>
              <a:r>
                <a:rPr b="0" i="0" lang="uk" sz="1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Кожен файл обробляється </a:t>
              </a:r>
              <a:r>
                <a:rPr b="1" i="0" lang="uk" sz="1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окремим потоком</a:t>
              </a:r>
              <a:endParaRPr b="0" i="0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85" name="Google Shape;485;p47"/>
            <p:cNvSpPr/>
            <p:nvPr/>
          </p:nvSpPr>
          <p:spPr>
            <a:xfrm>
              <a:off x="329088" y="1350206"/>
              <a:ext cx="4607243" cy="442800"/>
            </a:xfrm>
            <a:prstGeom prst="roundRect">
              <a:avLst>
                <a:gd fmla="val 16667" name="adj"/>
              </a:avLst>
            </a:prstGeom>
            <a:solidFill>
              <a:srgbClr val="7E89A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47"/>
            <p:cNvSpPr txBox="1"/>
            <p:nvPr/>
          </p:nvSpPr>
          <p:spPr>
            <a:xfrm>
              <a:off x="350704" y="1371822"/>
              <a:ext cx="4564011" cy="399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0600" spcFirstLastPara="1" rIns="1306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Lustria"/>
                <a:buNone/>
              </a:pPr>
              <a:r>
                <a:rPr b="1" lang="uk" sz="11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Вимоги</a:t>
              </a:r>
              <a:endParaRPr sz="11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87" name="Google Shape;487;p47"/>
            <p:cNvSpPr/>
            <p:nvPr/>
          </p:nvSpPr>
          <p:spPr>
            <a:xfrm>
              <a:off x="0" y="2500068"/>
              <a:ext cx="6581776" cy="62606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68759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7"/>
            <p:cNvSpPr txBox="1"/>
            <p:nvPr/>
          </p:nvSpPr>
          <p:spPr>
            <a:xfrm>
              <a:off x="0" y="2500068"/>
              <a:ext cx="6581776" cy="626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383100" spcFirstLastPara="1" rIns="383100" wrap="square" tIns="234300">
              <a:noAutofit/>
            </a:bodyPr>
            <a:lstStyle/>
            <a:p>
              <a:pPr indent="-82550" lvl="1" marL="88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Lustria"/>
                <a:buChar char="•"/>
              </a:pPr>
              <a:r>
                <a:rPr b="0" i="0" lang="uk" sz="1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threading</a:t>
              </a:r>
              <a:endParaRPr sz="1100"/>
            </a:p>
          </p:txBody>
        </p:sp>
        <p:sp>
          <p:nvSpPr>
            <p:cNvPr id="489" name="Google Shape;489;p47"/>
            <p:cNvSpPr/>
            <p:nvPr/>
          </p:nvSpPr>
          <p:spPr>
            <a:xfrm>
              <a:off x="329088" y="2278668"/>
              <a:ext cx="4607243" cy="442800"/>
            </a:xfrm>
            <a:prstGeom prst="roundRect">
              <a:avLst>
                <a:gd fmla="val 16667" name="adj"/>
              </a:avLst>
            </a:prstGeom>
            <a:solidFill>
              <a:srgbClr val="687598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7"/>
            <p:cNvSpPr txBox="1"/>
            <p:nvPr/>
          </p:nvSpPr>
          <p:spPr>
            <a:xfrm>
              <a:off x="350704" y="2300284"/>
              <a:ext cx="4564011" cy="399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0600" spcFirstLastPara="1" rIns="1306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Lustria"/>
                <a:buNone/>
              </a:pPr>
              <a:r>
                <a:rPr lang="uk" sz="11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Використати модуль</a:t>
              </a:r>
              <a:endParaRPr sz="11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91" name="Google Shape;491;p47"/>
            <p:cNvSpPr/>
            <p:nvPr/>
          </p:nvSpPr>
          <p:spPr>
            <a:xfrm>
              <a:off x="0" y="3428531"/>
              <a:ext cx="6581776" cy="62606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cap="flat" cmpd="sng" w="12700">
              <a:solidFill>
                <a:srgbClr val="5965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7"/>
            <p:cNvSpPr txBox="1"/>
            <p:nvPr/>
          </p:nvSpPr>
          <p:spPr>
            <a:xfrm>
              <a:off x="0" y="3428531"/>
              <a:ext cx="6581776" cy="626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383100" spcFirstLastPara="1" rIns="383100" wrap="square" tIns="234300">
              <a:noAutofit/>
            </a:bodyPr>
            <a:lstStyle/>
            <a:p>
              <a:pPr indent="-82550" lvl="1" marL="88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Lustria"/>
                <a:buChar char="•"/>
              </a:pPr>
              <a:r>
                <a:rPr b="0" i="0" lang="uk" sz="1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output/result_threads.txt</a:t>
              </a:r>
              <a:endParaRPr sz="1100"/>
            </a:p>
          </p:txBody>
        </p:sp>
        <p:sp>
          <p:nvSpPr>
            <p:cNvPr id="493" name="Google Shape;493;p47"/>
            <p:cNvSpPr/>
            <p:nvPr/>
          </p:nvSpPr>
          <p:spPr>
            <a:xfrm>
              <a:off x="329088" y="3207131"/>
              <a:ext cx="4607243" cy="442800"/>
            </a:xfrm>
            <a:prstGeom prst="roundRect">
              <a:avLst>
                <a:gd fmla="val 16667" name="adj"/>
              </a:avLst>
            </a:prstGeom>
            <a:solidFill>
              <a:srgbClr val="59657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7"/>
            <p:cNvSpPr txBox="1"/>
            <p:nvPr/>
          </p:nvSpPr>
          <p:spPr>
            <a:xfrm>
              <a:off x="350704" y="3228747"/>
              <a:ext cx="4564011" cy="399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0600" spcFirstLastPara="1" rIns="1306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Lustria"/>
                <a:buNone/>
              </a:pPr>
              <a:r>
                <a:rPr lang="uk" sz="11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Результати записати у файл</a:t>
              </a:r>
              <a:endParaRPr sz="11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00" name="Google Shape;500;p48"/>
          <p:cNvSpPr txBox="1"/>
          <p:nvPr>
            <p:ph type="title"/>
          </p:nvPr>
        </p:nvSpPr>
        <p:spPr>
          <a:xfrm>
            <a:off x="528066" y="685800"/>
            <a:ext cx="8251681" cy="33030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pen Sans"/>
              <a:buNone/>
            </a:pPr>
            <a:r>
              <a:rPr lang="uk" sz="2600"/>
              <a:t>ЧАСТИНА 5. ПОРІВНЯННЯ ПРОДУКТИВНОСТІ</a:t>
            </a:r>
            <a:endParaRPr/>
          </a:p>
        </p:txBody>
      </p:sp>
      <p:cxnSp>
        <p:nvCxnSpPr>
          <p:cNvPr id="501" name="Google Shape;501;p48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" name="Google Shape;502;p48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03" name="Google Shape;503;p48"/>
          <p:cNvGrpSpPr/>
          <p:nvPr/>
        </p:nvGrpSpPr>
        <p:grpSpPr>
          <a:xfrm>
            <a:off x="5297993" y="2101178"/>
            <a:ext cx="3747241" cy="1517990"/>
            <a:chOff x="0" y="1118042"/>
            <a:chExt cx="4996321" cy="2023987"/>
          </a:xfrm>
        </p:grpSpPr>
        <p:sp>
          <p:nvSpPr>
            <p:cNvPr id="504" name="Google Shape;504;p48"/>
            <p:cNvSpPr/>
            <p:nvPr/>
          </p:nvSpPr>
          <p:spPr>
            <a:xfrm>
              <a:off x="0" y="1339442"/>
              <a:ext cx="4996321" cy="874125"/>
            </a:xfrm>
            <a:prstGeom prst="rect">
              <a:avLst/>
            </a:prstGeom>
            <a:solidFill>
              <a:schemeClr val="lt2">
                <a:alpha val="90196"/>
              </a:schemeClr>
            </a:soli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48"/>
            <p:cNvSpPr txBox="1"/>
            <p:nvPr/>
          </p:nvSpPr>
          <p:spPr>
            <a:xfrm>
              <a:off x="0" y="1339442"/>
              <a:ext cx="4996321" cy="874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290825" spcFirstLastPara="1" rIns="290825" wrap="square" tIns="234300">
              <a:noAutofit/>
            </a:bodyPr>
            <a:lstStyle/>
            <a:p>
              <a:pPr indent="-82550" lvl="1" marL="88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Lustria"/>
                <a:buChar char="•"/>
              </a:pPr>
              <a:r>
                <a:rPr b="0" i="0" lang="uk" sz="1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послідовної версії</a:t>
              </a:r>
              <a:endParaRPr b="0" i="0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-82550" lvl="1" marL="889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Lustria"/>
                <a:buChar char="•"/>
              </a:pPr>
              <a:r>
                <a:rPr b="0" i="0" lang="uk" sz="1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багатопоточної версії</a:t>
              </a:r>
              <a:endParaRPr b="0" i="0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506" name="Google Shape;506;p48"/>
            <p:cNvSpPr/>
            <p:nvPr/>
          </p:nvSpPr>
          <p:spPr>
            <a:xfrm>
              <a:off x="249816" y="1118042"/>
              <a:ext cx="3497424" cy="4428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8"/>
            <p:cNvSpPr txBox="1"/>
            <p:nvPr/>
          </p:nvSpPr>
          <p:spPr>
            <a:xfrm>
              <a:off x="271432" y="1139658"/>
              <a:ext cx="3454192" cy="399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9125" spcFirstLastPara="1" rIns="991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Lustria"/>
                <a:buNone/>
              </a:pPr>
              <a:r>
                <a:rPr lang="uk" sz="11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Необхідно виміряти час виконання:</a:t>
              </a:r>
              <a:endParaRPr sz="11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508" name="Google Shape;508;p48"/>
            <p:cNvSpPr/>
            <p:nvPr/>
          </p:nvSpPr>
          <p:spPr>
            <a:xfrm>
              <a:off x="0" y="2515967"/>
              <a:ext cx="4996321" cy="626062"/>
            </a:xfrm>
            <a:prstGeom prst="rect">
              <a:avLst/>
            </a:prstGeom>
            <a:solidFill>
              <a:schemeClr val="lt2">
                <a:alpha val="90196"/>
              </a:schemeClr>
            </a:soli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8"/>
            <p:cNvSpPr txBox="1"/>
            <p:nvPr/>
          </p:nvSpPr>
          <p:spPr>
            <a:xfrm>
              <a:off x="0" y="2515967"/>
              <a:ext cx="4996321" cy="626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290825" spcFirstLastPara="1" rIns="290825" wrap="square" tIns="234300">
              <a:noAutofit/>
            </a:bodyPr>
            <a:lstStyle/>
            <a:p>
              <a:pPr indent="-82550" lvl="1" marL="88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Lustria"/>
                <a:buChar char="•"/>
              </a:pPr>
              <a:r>
                <a:rPr b="0" i="0" lang="uk" sz="1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time</a:t>
              </a:r>
              <a:endParaRPr b="0" i="0" sz="1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510" name="Google Shape;510;p48"/>
            <p:cNvSpPr/>
            <p:nvPr/>
          </p:nvSpPr>
          <p:spPr>
            <a:xfrm>
              <a:off x="249816" y="2294567"/>
              <a:ext cx="3497424" cy="4428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8"/>
            <p:cNvSpPr txBox="1"/>
            <p:nvPr/>
          </p:nvSpPr>
          <p:spPr>
            <a:xfrm>
              <a:off x="271432" y="2316183"/>
              <a:ext cx="3454192" cy="399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9125" spcFirstLastPara="1" rIns="991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Lustria"/>
                <a:buNone/>
              </a:pPr>
              <a:r>
                <a:rPr lang="uk" sz="11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Використати модуль</a:t>
              </a:r>
              <a:endParaRPr sz="11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pic>
        <p:nvPicPr>
          <p:cNvPr descr="Sequential and Parallel Testing Graph | Download Scientific Diagram" id="512" name="Google Shape;51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296890"/>
            <a:ext cx="5034224" cy="3269284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7" name="Google Shape;517;p49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8" name="Google Shape;518;p49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9" name="Google Shape;519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20" name="Google Shape;520;p49"/>
          <p:cNvSpPr txBox="1"/>
          <p:nvPr>
            <p:ph type="title"/>
          </p:nvPr>
        </p:nvSpPr>
        <p:spPr>
          <a:xfrm>
            <a:off x="6103625" y="821575"/>
            <a:ext cx="27294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</a:pPr>
            <a:r>
              <a:rPr lang="uk" sz="3200"/>
              <a:t>ТАБЛИЦЯ РЕЗУЛЬТАТІВ</a:t>
            </a:r>
            <a:endParaRPr sz="3200"/>
          </a:p>
        </p:txBody>
      </p:sp>
      <p:cxnSp>
        <p:nvCxnSpPr>
          <p:cNvPr id="521" name="Google Shape;521;p49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2" name="Google Shape;522;p49"/>
          <p:cNvCxnSpPr/>
          <p:nvPr/>
        </p:nvCxnSpPr>
        <p:spPr>
          <a:xfrm>
            <a:off x="600075" y="4601164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23" name="Google Shape;523;p49"/>
          <p:cNvGraphicFramePr/>
          <p:nvPr/>
        </p:nvGraphicFramePr>
        <p:xfrm>
          <a:off x="542201" y="2111966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3F3F3F"/>
                </a:solidFill>
                <a:tableStyleId>{47B06355-525E-4C45-AF68-5B78CF9EEBC0}</a:tableStyleId>
              </a:tblPr>
              <a:tblGrid>
                <a:gridCol w="2457925"/>
                <a:gridCol w="1610025"/>
                <a:gridCol w="1317000"/>
              </a:tblGrid>
              <a:tr h="53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Lustria"/>
                        <a:buNone/>
                      </a:pPr>
                      <a:r>
                        <a:rPr b="1" lang="uk" sz="2000" u="none" cap="none" strike="noStrike">
                          <a:solidFill>
                            <a:schemeClr val="lt1"/>
                          </a:solidFill>
                        </a:rPr>
                        <a:t>Кількість файлів</a:t>
                      </a:r>
                      <a:endParaRPr sz="1100"/>
                    </a:p>
                  </a:txBody>
                  <a:tcPr marT="22500" marB="168800" marR="112550" marL="78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Lustria"/>
                        <a:buNone/>
                      </a:pPr>
                      <a:r>
                        <a:rPr b="1" lang="uk" sz="2000" u="none" cap="none" strike="noStrike">
                          <a:solidFill>
                            <a:schemeClr val="lt1"/>
                          </a:solidFill>
                        </a:rPr>
                        <a:t>Sequential</a:t>
                      </a:r>
                      <a:endParaRPr sz="1100"/>
                    </a:p>
                  </a:txBody>
                  <a:tcPr marT="22500" marB="168800" marR="112550" marL="78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Lustria"/>
                        <a:buNone/>
                      </a:pPr>
                      <a:r>
                        <a:rPr b="1" lang="uk" sz="2000" u="none" cap="none" strike="noStrike">
                          <a:solidFill>
                            <a:schemeClr val="lt1"/>
                          </a:solidFill>
                        </a:rPr>
                        <a:t>Threads</a:t>
                      </a:r>
                      <a:endParaRPr sz="1100"/>
                    </a:p>
                  </a:txBody>
                  <a:tcPr marT="22500" marB="168800" marR="112550" marL="78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</a:tr>
              <a:tr h="46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Lustria"/>
                        <a:buNone/>
                      </a:pPr>
                      <a:r>
                        <a:rPr lang="uk" sz="1500" u="none" cap="none" strike="noStrike">
                          <a:solidFill>
                            <a:schemeClr val="lt1"/>
                          </a:solidFill>
                        </a:rPr>
                        <a:t>100</a:t>
                      </a:r>
                      <a:endParaRPr sz="1100"/>
                    </a:p>
                  </a:txBody>
                  <a:tcPr marT="22500" marB="168800" marR="112550" marL="78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Lustria"/>
                        <a:buNone/>
                      </a:pPr>
                      <a:r>
                        <a:rPr lang="uk" sz="1500" u="none" cap="none" strike="noStrike">
                          <a:solidFill>
                            <a:schemeClr val="lt1"/>
                          </a:solidFill>
                        </a:rPr>
                        <a:t>...</a:t>
                      </a:r>
                      <a:endParaRPr sz="1100"/>
                    </a:p>
                  </a:txBody>
                  <a:tcPr marT="22500" marB="168800" marR="112550" marL="78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Lustria"/>
                        <a:buNone/>
                      </a:pPr>
                      <a:r>
                        <a:rPr lang="uk" sz="1500" u="none" cap="none" strike="noStrike">
                          <a:solidFill>
                            <a:schemeClr val="lt1"/>
                          </a:solidFill>
                        </a:rPr>
                        <a:t>...</a:t>
                      </a:r>
                      <a:endParaRPr sz="1100"/>
                    </a:p>
                  </a:txBody>
                  <a:tcPr marT="22500" marB="168800" marR="112550" marL="78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</a:tr>
              <a:tr h="46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Lustria"/>
                        <a:buNone/>
                      </a:pPr>
                      <a:r>
                        <a:rPr lang="uk" sz="1500" u="none" cap="none" strike="noStrike">
                          <a:solidFill>
                            <a:schemeClr val="lt1"/>
                          </a:solidFill>
                        </a:rPr>
                        <a:t>300</a:t>
                      </a:r>
                      <a:endParaRPr sz="1100"/>
                    </a:p>
                  </a:txBody>
                  <a:tcPr marT="22500" marB="168800" marR="112550" marL="78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Lustria"/>
                        <a:buNone/>
                      </a:pPr>
                      <a:r>
                        <a:rPr lang="uk" sz="1500" u="none" cap="none" strike="noStrike">
                          <a:solidFill>
                            <a:schemeClr val="lt1"/>
                          </a:solidFill>
                        </a:rPr>
                        <a:t>...</a:t>
                      </a:r>
                      <a:endParaRPr sz="1100"/>
                    </a:p>
                  </a:txBody>
                  <a:tcPr marT="22500" marB="168800" marR="112550" marL="78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Lustria"/>
                        <a:buNone/>
                      </a:pPr>
                      <a:r>
                        <a:rPr lang="uk" sz="1500" u="none" cap="none" strike="noStrike">
                          <a:solidFill>
                            <a:schemeClr val="lt1"/>
                          </a:solidFill>
                        </a:rPr>
                        <a:t>...</a:t>
                      </a:r>
                      <a:endParaRPr sz="1100"/>
                    </a:p>
                  </a:txBody>
                  <a:tcPr marT="22500" marB="168800" marR="112550" marL="78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</a:tr>
              <a:tr h="46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Lustria"/>
                        <a:buNone/>
                      </a:pPr>
                      <a:r>
                        <a:rPr lang="uk" sz="1500" u="none" cap="none" strike="noStrike">
                          <a:solidFill>
                            <a:schemeClr val="lt1"/>
                          </a:solidFill>
                        </a:rPr>
                        <a:t>500</a:t>
                      </a:r>
                      <a:endParaRPr sz="1100"/>
                    </a:p>
                  </a:txBody>
                  <a:tcPr marT="22500" marB="168800" marR="112550" marL="78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Lustria"/>
                        <a:buNone/>
                      </a:pPr>
                      <a:r>
                        <a:rPr lang="uk" sz="1500" u="none" cap="none" strike="noStrike">
                          <a:solidFill>
                            <a:schemeClr val="lt1"/>
                          </a:solidFill>
                        </a:rPr>
                        <a:t>...</a:t>
                      </a:r>
                      <a:endParaRPr sz="1100"/>
                    </a:p>
                  </a:txBody>
                  <a:tcPr marT="22500" marB="168800" marR="112550" marL="78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Lustria"/>
                        <a:buNone/>
                      </a:pPr>
                      <a:r>
                        <a:rPr lang="uk" sz="1500" u="none" cap="none" strike="noStrike">
                          <a:solidFill>
                            <a:schemeClr val="lt1"/>
                          </a:solidFill>
                        </a:rPr>
                        <a:t>...</a:t>
                      </a:r>
                      <a:endParaRPr sz="1100"/>
                    </a:p>
                  </a:txBody>
                  <a:tcPr marT="22500" marB="168800" marR="112550" marL="78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29" name="Google Shape;529;p50"/>
          <p:cNvSpPr txBox="1"/>
          <p:nvPr>
            <p:ph type="title"/>
          </p:nvPr>
        </p:nvSpPr>
        <p:spPr>
          <a:xfrm>
            <a:off x="528066" y="685800"/>
            <a:ext cx="2745582" cy="33030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КОНТРОЛЬНІ ПИТАННЯ</a:t>
            </a:r>
            <a:endParaRPr/>
          </a:p>
        </p:txBody>
      </p:sp>
      <p:cxnSp>
        <p:nvCxnSpPr>
          <p:cNvPr id="530" name="Google Shape;530;p50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1" name="Google Shape;531;p50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32" name="Google Shape;532;p50"/>
          <p:cNvGrpSpPr/>
          <p:nvPr/>
        </p:nvGrpSpPr>
        <p:grpSpPr>
          <a:xfrm>
            <a:off x="3343248" y="674763"/>
            <a:ext cx="5320284" cy="3800469"/>
            <a:chOff x="0" y="0"/>
            <a:chExt cx="7093712" cy="5067292"/>
          </a:xfrm>
        </p:grpSpPr>
        <p:cxnSp>
          <p:nvCxnSpPr>
            <p:cNvPr id="533" name="Google Shape;533;p50"/>
            <p:cNvCxnSpPr/>
            <p:nvPr/>
          </p:nvCxnSpPr>
          <p:spPr>
            <a:xfrm>
              <a:off x="0" y="0"/>
              <a:ext cx="7093712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4" name="Google Shape;534;p50"/>
            <p:cNvSpPr/>
            <p:nvPr/>
          </p:nvSpPr>
          <p:spPr>
            <a:xfrm>
              <a:off x="0" y="0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50"/>
            <p:cNvSpPr txBox="1"/>
            <p:nvPr/>
          </p:nvSpPr>
          <p:spPr>
            <a:xfrm>
              <a:off x="0" y="0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ustria"/>
                <a:buNone/>
              </a:pPr>
              <a:r>
                <a:rPr b="0" i="0" lang="uk" sz="14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Що таке файлова система?</a:t>
              </a:r>
              <a:endParaRPr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536" name="Google Shape;536;p50"/>
            <p:cNvCxnSpPr/>
            <p:nvPr/>
          </p:nvCxnSpPr>
          <p:spPr>
            <a:xfrm>
              <a:off x="0" y="633411"/>
              <a:ext cx="7093712" cy="0"/>
            </a:xfrm>
            <a:prstGeom prst="straightConnector1">
              <a:avLst/>
            </a:prstGeom>
            <a:solidFill>
              <a:srgbClr val="8A94B3"/>
            </a:solidFill>
            <a:ln cap="flat" cmpd="sng" w="12700">
              <a:solidFill>
                <a:srgbClr val="8A94B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7" name="Google Shape;537;p50"/>
            <p:cNvSpPr/>
            <p:nvPr/>
          </p:nvSpPr>
          <p:spPr>
            <a:xfrm>
              <a:off x="0" y="633411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50"/>
            <p:cNvSpPr txBox="1"/>
            <p:nvPr/>
          </p:nvSpPr>
          <p:spPr>
            <a:xfrm>
              <a:off x="0" y="633411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ustria"/>
                <a:buNone/>
              </a:pPr>
              <a:r>
                <a:rPr b="0" i="0" lang="uk" sz="14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Яка структура каталогів Linux?</a:t>
              </a:r>
              <a:endParaRPr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539" name="Google Shape;539;p50"/>
            <p:cNvCxnSpPr/>
            <p:nvPr/>
          </p:nvCxnSpPr>
          <p:spPr>
            <a:xfrm>
              <a:off x="0" y="1266823"/>
              <a:ext cx="7093712" cy="0"/>
            </a:xfrm>
            <a:prstGeom prst="straightConnector1">
              <a:avLst/>
            </a:prstGeom>
            <a:solidFill>
              <a:srgbClr val="808CAC"/>
            </a:solidFill>
            <a:ln cap="flat" cmpd="sng" w="12700">
              <a:solidFill>
                <a:srgbClr val="808CA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0" name="Google Shape;540;p50"/>
            <p:cNvSpPr/>
            <p:nvPr/>
          </p:nvSpPr>
          <p:spPr>
            <a:xfrm>
              <a:off x="0" y="1266823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50"/>
            <p:cNvSpPr txBox="1"/>
            <p:nvPr/>
          </p:nvSpPr>
          <p:spPr>
            <a:xfrm>
              <a:off x="0" y="1266823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ustria"/>
                <a:buNone/>
              </a:pPr>
              <a:r>
                <a:rPr b="0" i="0" lang="uk" sz="14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Що таке права доступу до файлів?</a:t>
              </a:r>
              <a:endParaRPr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542" name="Google Shape;542;p50"/>
            <p:cNvCxnSpPr/>
            <p:nvPr/>
          </p:nvCxnSpPr>
          <p:spPr>
            <a:xfrm>
              <a:off x="0" y="1900234"/>
              <a:ext cx="7093712" cy="0"/>
            </a:xfrm>
            <a:prstGeom prst="straightConnector1">
              <a:avLst/>
            </a:prstGeom>
            <a:solidFill>
              <a:srgbClr val="7783A4"/>
            </a:solidFill>
            <a:ln cap="flat" cmpd="sng" w="12700">
              <a:solidFill>
                <a:srgbClr val="7783A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3" name="Google Shape;543;p50"/>
            <p:cNvSpPr/>
            <p:nvPr/>
          </p:nvSpPr>
          <p:spPr>
            <a:xfrm>
              <a:off x="0" y="1900234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50"/>
            <p:cNvSpPr txBox="1"/>
            <p:nvPr/>
          </p:nvSpPr>
          <p:spPr>
            <a:xfrm>
              <a:off x="0" y="1900234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ustria"/>
                <a:buNone/>
              </a:pPr>
              <a:r>
                <a:rPr b="0" i="0" lang="uk" sz="14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Що означає запис </a:t>
              </a:r>
              <a:r>
                <a:rPr b="1" i="0" lang="uk" sz="14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755</a:t>
              </a:r>
              <a:r>
                <a:rPr b="0" i="0" lang="uk" sz="14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?</a:t>
              </a:r>
              <a:endParaRPr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545" name="Google Shape;545;p50"/>
            <p:cNvCxnSpPr/>
            <p:nvPr/>
          </p:nvCxnSpPr>
          <p:spPr>
            <a:xfrm>
              <a:off x="0" y="2533646"/>
              <a:ext cx="7093712" cy="0"/>
            </a:xfrm>
            <a:prstGeom prst="straightConnector1">
              <a:avLst/>
            </a:prstGeom>
            <a:solidFill>
              <a:srgbClr val="6D7B9E"/>
            </a:solidFill>
            <a:ln cap="flat" cmpd="sng" w="12700">
              <a:solidFill>
                <a:srgbClr val="6D7B9E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6" name="Google Shape;546;p50"/>
            <p:cNvSpPr/>
            <p:nvPr/>
          </p:nvSpPr>
          <p:spPr>
            <a:xfrm>
              <a:off x="0" y="2533646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50"/>
            <p:cNvSpPr txBox="1"/>
            <p:nvPr/>
          </p:nvSpPr>
          <p:spPr>
            <a:xfrm>
              <a:off x="0" y="2533646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ustria"/>
                <a:buNone/>
              </a:pPr>
              <a:r>
                <a:rPr b="0" i="0" lang="uk" sz="14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Що таке потік виконання?</a:t>
              </a:r>
              <a:endParaRPr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548" name="Google Shape;548;p50"/>
            <p:cNvCxnSpPr/>
            <p:nvPr/>
          </p:nvCxnSpPr>
          <p:spPr>
            <a:xfrm>
              <a:off x="0" y="3167058"/>
              <a:ext cx="7093712" cy="0"/>
            </a:xfrm>
            <a:prstGeom prst="straightConnector1">
              <a:avLst/>
            </a:prstGeom>
            <a:solidFill>
              <a:srgbClr val="657494"/>
            </a:solidFill>
            <a:ln cap="flat" cmpd="sng" w="12700">
              <a:solidFill>
                <a:srgbClr val="65749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9" name="Google Shape;549;p50"/>
            <p:cNvSpPr/>
            <p:nvPr/>
          </p:nvSpPr>
          <p:spPr>
            <a:xfrm>
              <a:off x="0" y="3167058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50"/>
            <p:cNvSpPr txBox="1"/>
            <p:nvPr/>
          </p:nvSpPr>
          <p:spPr>
            <a:xfrm>
              <a:off x="0" y="3167058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ustria"/>
                <a:buNone/>
              </a:pPr>
              <a:r>
                <a:rPr b="0" i="0" lang="uk" sz="14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Чим відрізняється процес від потоку?</a:t>
              </a:r>
              <a:endParaRPr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551" name="Google Shape;551;p50"/>
            <p:cNvCxnSpPr/>
            <p:nvPr/>
          </p:nvCxnSpPr>
          <p:spPr>
            <a:xfrm>
              <a:off x="0" y="3800469"/>
              <a:ext cx="7093712" cy="0"/>
            </a:xfrm>
            <a:prstGeom prst="straightConnector1">
              <a:avLst/>
            </a:prstGeom>
            <a:solidFill>
              <a:srgbClr val="5E6C8A"/>
            </a:solidFill>
            <a:ln cap="flat" cmpd="sng" w="12700">
              <a:solidFill>
                <a:srgbClr val="5E6C8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2" name="Google Shape;552;p50"/>
            <p:cNvSpPr/>
            <p:nvPr/>
          </p:nvSpPr>
          <p:spPr>
            <a:xfrm>
              <a:off x="0" y="3800469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50"/>
            <p:cNvSpPr txBox="1"/>
            <p:nvPr/>
          </p:nvSpPr>
          <p:spPr>
            <a:xfrm>
              <a:off x="0" y="3800469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ustria"/>
                <a:buNone/>
              </a:pPr>
              <a:r>
                <a:rPr b="0" i="0" lang="uk" sz="14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Які переваги багатопоточного виконання?</a:t>
              </a:r>
              <a:endParaRPr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554" name="Google Shape;554;p50"/>
            <p:cNvCxnSpPr/>
            <p:nvPr/>
          </p:nvCxnSpPr>
          <p:spPr>
            <a:xfrm>
              <a:off x="0" y="4433881"/>
              <a:ext cx="7093712" cy="0"/>
            </a:xfrm>
            <a:prstGeom prst="straightConnector1">
              <a:avLst/>
            </a:prstGeom>
            <a:solidFill>
              <a:srgbClr val="59657F"/>
            </a:solidFill>
            <a:ln cap="flat" cmpd="sng" w="12700">
              <a:solidFill>
                <a:srgbClr val="5965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5" name="Google Shape;555;p50"/>
            <p:cNvSpPr/>
            <p:nvPr/>
          </p:nvSpPr>
          <p:spPr>
            <a:xfrm>
              <a:off x="0" y="4433881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50"/>
            <p:cNvSpPr txBox="1"/>
            <p:nvPr/>
          </p:nvSpPr>
          <p:spPr>
            <a:xfrm>
              <a:off x="0" y="4433881"/>
              <a:ext cx="7093712" cy="633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ustria"/>
                <a:buNone/>
              </a:pPr>
              <a:r>
                <a:rPr b="0" i="0" lang="uk" sz="14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У яких випадках потоки не дають приросту продуктивності?</a:t>
              </a:r>
              <a:endParaRPr sz="14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62" name="Google Shape;562;p51"/>
          <p:cNvSpPr txBox="1"/>
          <p:nvPr>
            <p:ph type="title"/>
          </p:nvPr>
        </p:nvSpPr>
        <p:spPr>
          <a:xfrm>
            <a:off x="528066" y="685800"/>
            <a:ext cx="2745582" cy="33030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uk"/>
              <a:t>РЕЗУЛЬТАТ ВИКОНАННЯ РОБОТИ</a:t>
            </a:r>
            <a:endParaRPr/>
          </a:p>
        </p:txBody>
      </p:sp>
      <p:cxnSp>
        <p:nvCxnSpPr>
          <p:cNvPr id="563" name="Google Shape;563;p51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4" name="Google Shape;564;p51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65" name="Google Shape;565;p51"/>
          <p:cNvGrpSpPr/>
          <p:nvPr/>
        </p:nvGrpSpPr>
        <p:grpSpPr>
          <a:xfrm>
            <a:off x="3657600" y="1474132"/>
            <a:ext cx="4936332" cy="2195235"/>
            <a:chOff x="0" y="898709"/>
            <a:chExt cx="6581776" cy="2926980"/>
          </a:xfrm>
        </p:grpSpPr>
        <p:sp>
          <p:nvSpPr>
            <p:cNvPr id="566" name="Google Shape;566;p51"/>
            <p:cNvSpPr/>
            <p:nvPr/>
          </p:nvSpPr>
          <p:spPr>
            <a:xfrm>
              <a:off x="0" y="1311989"/>
              <a:ext cx="6581776" cy="2513700"/>
            </a:xfrm>
            <a:prstGeom prst="rect">
              <a:avLst/>
            </a:prstGeom>
            <a:solidFill>
              <a:schemeClr val="lt2">
                <a:alpha val="90196"/>
              </a:schemeClr>
            </a:soli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51"/>
            <p:cNvSpPr txBox="1"/>
            <p:nvPr/>
          </p:nvSpPr>
          <p:spPr>
            <a:xfrm>
              <a:off x="0" y="1311989"/>
              <a:ext cx="6581776" cy="251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350" lIns="383100" spcFirstLastPara="1" rIns="383100" wrap="square" tIns="437375">
              <a:noAutofit/>
            </a:bodyPr>
            <a:lstStyle/>
            <a:p>
              <a:pPr indent="-209550" lvl="1" marL="215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Char char="•"/>
              </a:pPr>
              <a:r>
                <a:rPr b="0" i="0" lang="uk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вихідний код програми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-209550" lvl="1" marL="2159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Char char="•"/>
              </a:pPr>
              <a:r>
                <a:rPr b="0" i="0" lang="uk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структуру створених каталогів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-209550" lvl="1" marL="2159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Char char="•"/>
              </a:pPr>
              <a:r>
                <a:rPr b="0" i="0" lang="uk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результати вимірювання часу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-209550" lvl="1" marL="2159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Lustria"/>
                <a:buChar char="•"/>
              </a:pPr>
              <a:r>
                <a:rPr b="0" i="0" lang="uk" sz="21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короткі висновки</a:t>
              </a:r>
              <a:endParaRPr b="0" i="0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568" name="Google Shape;568;p51"/>
            <p:cNvSpPr/>
            <p:nvPr/>
          </p:nvSpPr>
          <p:spPr>
            <a:xfrm>
              <a:off x="329088" y="898709"/>
              <a:ext cx="4607243" cy="82656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51"/>
            <p:cNvSpPr txBox="1"/>
            <p:nvPr/>
          </p:nvSpPr>
          <p:spPr>
            <a:xfrm>
              <a:off x="369437" y="939058"/>
              <a:ext cx="4526545" cy="745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0600" spcFirstLastPara="1" rIns="1306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Lustria"/>
                <a:buNone/>
              </a:pPr>
              <a:r>
                <a:rPr lang="uk" sz="21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Студент повинен надати:</a:t>
              </a:r>
              <a:endParaRPr sz="21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4" name="Google Shape;574;p52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5" name="Google Shape;575;p52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6" name="Google Shape;576;p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77" name="Google Shape;577;p52"/>
          <p:cNvSpPr txBox="1"/>
          <p:nvPr>
            <p:ph type="title"/>
          </p:nvPr>
        </p:nvSpPr>
        <p:spPr>
          <a:xfrm>
            <a:off x="527550" y="653818"/>
            <a:ext cx="3920378" cy="29033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Open Sans"/>
              <a:buNone/>
            </a:pPr>
            <a:r>
              <a:rPr lang="uk" sz="4100"/>
              <a:t>ВИСНОВОК</a:t>
            </a:r>
            <a:endParaRPr/>
          </a:p>
        </p:txBody>
      </p:sp>
      <p:cxnSp>
        <p:nvCxnSpPr>
          <p:cNvPr id="578" name="Google Shape;578;p52"/>
          <p:cNvCxnSpPr/>
          <p:nvPr/>
        </p:nvCxnSpPr>
        <p:spPr>
          <a:xfrm>
            <a:off x="600075" y="542925"/>
            <a:ext cx="3686175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9" name="Google Shape;579;p52"/>
          <p:cNvCxnSpPr/>
          <p:nvPr/>
        </p:nvCxnSpPr>
        <p:spPr>
          <a:xfrm>
            <a:off x="600075" y="4600575"/>
            <a:ext cx="368617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80" name="Google Shape;580;p52"/>
          <p:cNvGrpSpPr/>
          <p:nvPr/>
        </p:nvGrpSpPr>
        <p:grpSpPr>
          <a:xfrm>
            <a:off x="3358525" y="1291875"/>
            <a:ext cx="5440639" cy="3233115"/>
            <a:chOff x="0" y="281546"/>
            <a:chExt cx="7254185" cy="4310820"/>
          </a:xfrm>
        </p:grpSpPr>
        <p:sp>
          <p:nvSpPr>
            <p:cNvPr id="581" name="Google Shape;581;p52"/>
            <p:cNvSpPr/>
            <p:nvPr/>
          </p:nvSpPr>
          <p:spPr>
            <a:xfrm>
              <a:off x="0" y="680066"/>
              <a:ext cx="7254185" cy="3912300"/>
            </a:xfrm>
            <a:prstGeom prst="rect">
              <a:avLst/>
            </a:prstGeom>
            <a:solidFill>
              <a:schemeClr val="lt2">
                <a:alpha val="90196"/>
              </a:schemeClr>
            </a:solidFill>
            <a:ln cap="flat" cmpd="sng" w="9525">
              <a:solidFill>
                <a:srgbClr val="1B1B3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52"/>
            <p:cNvSpPr txBox="1"/>
            <p:nvPr/>
          </p:nvSpPr>
          <p:spPr>
            <a:xfrm>
              <a:off x="0" y="680066"/>
              <a:ext cx="7254185" cy="39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000" lIns="422250" spcFirstLastPara="1" rIns="422250" wrap="square" tIns="421775">
              <a:noAutofit/>
            </a:bodyPr>
            <a:lstStyle/>
            <a:p>
              <a:pPr indent="-177800" lvl="1" marL="1778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Char char="•"/>
              </a:pPr>
              <a:r>
                <a:rPr b="0" i="0" lang="uk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описати різницю між </a:t>
              </a:r>
              <a:r>
                <a:rPr b="1" i="0" lang="uk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послідовною та паралельною обробкою</a:t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-5080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-17780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Char char="•"/>
              </a:pPr>
              <a:r>
                <a:rPr b="0" i="0" lang="uk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  оцінити вплив </a:t>
              </a:r>
              <a:r>
                <a:rPr b="1" i="0" lang="uk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потоків на швидкість виконання</a:t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-5080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indent="-17780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Lustria"/>
                <a:buChar char="•"/>
              </a:pPr>
              <a:r>
                <a:rPr b="0" i="0" lang="uk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зробити висновок про </a:t>
              </a:r>
              <a:r>
                <a:rPr b="1" i="0" lang="uk" sz="2000" u="none" cap="none" strike="noStrike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ефективність використання багатопоточності</a:t>
              </a:r>
              <a:endPara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583" name="Google Shape;583;p52"/>
            <p:cNvSpPr/>
            <p:nvPr/>
          </p:nvSpPr>
          <p:spPr>
            <a:xfrm>
              <a:off x="362709" y="281546"/>
              <a:ext cx="5077929" cy="7970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A4A54"/>
                </a:gs>
                <a:gs pos="50000">
                  <a:srgbClr val="191933"/>
                </a:gs>
                <a:gs pos="100000">
                  <a:srgbClr val="14142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52"/>
            <p:cNvSpPr txBox="1"/>
            <p:nvPr/>
          </p:nvSpPr>
          <p:spPr>
            <a:xfrm>
              <a:off x="401617" y="320454"/>
              <a:ext cx="5000113" cy="719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3950" spcFirstLastPara="1" rIns="143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ustria"/>
                <a:buNone/>
              </a:pPr>
              <a:r>
                <a:rPr lang="uk" sz="20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У висновку студент повинен:</a:t>
              </a:r>
              <a:endParaRPr sz="20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9" name="Google Shape;589;p53"/>
          <p:cNvCxnSpPr/>
          <p:nvPr/>
        </p:nvCxnSpPr>
        <p:spPr>
          <a:xfrm>
            <a:off x="600075" y="542925"/>
            <a:ext cx="794385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0" name="Google Shape;590;p53"/>
          <p:cNvCxnSpPr/>
          <p:nvPr/>
        </p:nvCxnSpPr>
        <p:spPr>
          <a:xfrm>
            <a:off x="600075" y="4607086"/>
            <a:ext cx="79438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1" name="Google Shape;591;p5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92" name="Google Shape;592;p53"/>
          <p:cNvSpPr txBox="1"/>
          <p:nvPr>
            <p:ph type="title"/>
          </p:nvPr>
        </p:nvSpPr>
        <p:spPr>
          <a:xfrm>
            <a:off x="600076" y="720446"/>
            <a:ext cx="4371086" cy="3702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None/>
            </a:pPr>
            <a:r>
              <a:rPr lang="uk" sz="4500"/>
              <a:t>ДЯКУЮ ЗА УВАГУ! </a:t>
            </a:r>
            <a:endParaRPr/>
          </a:p>
        </p:txBody>
      </p:sp>
      <p:cxnSp>
        <p:nvCxnSpPr>
          <p:cNvPr id="593" name="Google Shape;593;p53"/>
          <p:cNvCxnSpPr/>
          <p:nvPr/>
        </p:nvCxnSpPr>
        <p:spPr>
          <a:xfrm rot="10800000">
            <a:off x="5486400" y="1300162"/>
            <a:ext cx="0" cy="2543176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