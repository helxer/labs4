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y="5143500" cx="9144000"/>
  <p:notesSz cx="6858000" cy="9144000"/>
  <p:embeddedFontLst>
    <p:embeddedFont>
      <p:font typeface="Play"/>
      <p:regular r:id="rId43"/>
      <p:bold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96B3C0C-AA22-4732-A54B-E419DBC5203C}">
  <a:tblStyle styleId="{996B3C0C-AA22-4732-A54B-E419DBC5203C}" styleName="Table_0">
    <a:wholeTbl>
      <a:tcTxStyle b="off" i="off">
        <a:font>
          <a:latin typeface="Aptos"/>
          <a:ea typeface="Aptos"/>
          <a:cs typeface="Aptos"/>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9AF2FCD-E6B4-48AD-BCCF-BC0375A9A4F9}"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20" Type="http://schemas.openxmlformats.org/officeDocument/2006/relationships/slide" Target="slides/slide13.xml"/><Relationship Id="rId42" Type="http://schemas.openxmlformats.org/officeDocument/2006/relationships/slide" Target="slides/slide35.xml"/><Relationship Id="rId41" Type="http://schemas.openxmlformats.org/officeDocument/2006/relationships/slide" Target="slides/slide34.xml"/><Relationship Id="rId22" Type="http://schemas.openxmlformats.org/officeDocument/2006/relationships/slide" Target="slides/slide15.xml"/><Relationship Id="rId44" Type="http://schemas.openxmlformats.org/officeDocument/2006/relationships/font" Target="fonts/Play-bold.fntdata"/><Relationship Id="rId21" Type="http://schemas.openxmlformats.org/officeDocument/2006/relationships/slide" Target="slides/slide14.xml"/><Relationship Id="rId43" Type="http://schemas.openxmlformats.org/officeDocument/2006/relationships/font" Target="fonts/Play-regular.fntdata"/><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slide" Target="slides/slide32.xml"/><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801149ef7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d801149ef7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d801149ef7_2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3d801149ef7_2_8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d801149ef7_2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g3d801149ef7_2_1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d801149ef7_2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g3d801149ef7_2_1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d801149ef7_2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g3d801149ef7_2_1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d801149ef7_2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g3d801149ef7_2_18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d801149ef7_2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g3d801149ef7_2_20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d801149ef7_2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g3d801149ef7_2_2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d801149ef7_2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g3d801149ef7_2_2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d801149ef7_2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g3d801149ef7_2_2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d801149ef7_2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g3d801149ef7_2_27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d801149ef7_2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g3d801149ef7_2_29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d801149ef7_2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g3d801149ef7_2_30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d801149ef7_2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g3d801149ef7_2_3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d801149ef7_2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g3d801149ef7_2_3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d801149ef7_2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g3d801149ef7_2_3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d801149ef7_2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g3d801149ef7_2_37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d801149ef7_2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g3d801149ef7_2_39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d801149ef7_2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g3d801149ef7_2_4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d801149ef7_2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g3d801149ef7_2_4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d801149ef7_2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g3d801149ef7_2_4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d801149ef7_2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g3d801149ef7_2_4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d801149ef7_2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g3d801149ef7_2_48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d801149ef7_2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g3d801149ef7_2_48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d801149ef7_2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g3d801149ef7_2_49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d801149ef7_2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g3d801149ef7_2_5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d801149ef7_2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g3d801149ef7_2_5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d801149ef7_2_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g3d801149ef7_2_5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d801149ef7_2_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g3d801149ef7_2_58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d801149ef7_2_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g3d801149ef7_2_58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3d801149ef7_2_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g3d801149ef7_2_60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d801149ef7_2_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g3d801149ef7_2_6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d801149ef7_2_6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g3d801149ef7_2_6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d801149ef7_2_6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g3d801149ef7_2_67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3d801149ef7_2_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g3d801149ef7_2_70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ий слайд"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8" name="Google Shape;58;p14"/>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59" name="Google Shape;59;p1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1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Назва та вміст"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4" name="Google Shape;64;p1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 name="Google Shape;65;p1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Назва розділу"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Google Shape;70;p16"/>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757575"/>
              </a:buClr>
              <a:buSzPts val="1800"/>
              <a:buNone/>
              <a:defRPr sz="1800">
                <a:solidFill>
                  <a:srgbClr val="757575"/>
                </a:solidFill>
              </a:defRPr>
            </a:lvl1pPr>
            <a:lvl2pPr indent="-228600" lvl="1" marL="914400" algn="l">
              <a:lnSpc>
                <a:spcPct val="90000"/>
              </a:lnSpc>
              <a:spcBef>
                <a:spcPts val="400"/>
              </a:spcBef>
              <a:spcAft>
                <a:spcPts val="0"/>
              </a:spcAft>
              <a:buClr>
                <a:srgbClr val="757575"/>
              </a:buClr>
              <a:buSzPts val="1500"/>
              <a:buNone/>
              <a:defRPr sz="1500">
                <a:solidFill>
                  <a:srgbClr val="757575"/>
                </a:solidFill>
              </a:defRPr>
            </a:lvl2pPr>
            <a:lvl3pPr indent="-228600" lvl="2" marL="1371600" algn="l">
              <a:lnSpc>
                <a:spcPct val="90000"/>
              </a:lnSpc>
              <a:spcBef>
                <a:spcPts val="400"/>
              </a:spcBef>
              <a:spcAft>
                <a:spcPts val="0"/>
              </a:spcAft>
              <a:buClr>
                <a:srgbClr val="757575"/>
              </a:buClr>
              <a:buSzPts val="1400"/>
              <a:buNone/>
              <a:defRPr sz="1400">
                <a:solidFill>
                  <a:srgbClr val="757575"/>
                </a:solidFill>
              </a:defRPr>
            </a:lvl3pPr>
            <a:lvl4pPr indent="-228600" lvl="3" marL="1828800" algn="l">
              <a:lnSpc>
                <a:spcPct val="90000"/>
              </a:lnSpc>
              <a:spcBef>
                <a:spcPts val="400"/>
              </a:spcBef>
              <a:spcAft>
                <a:spcPts val="0"/>
              </a:spcAft>
              <a:buClr>
                <a:srgbClr val="757575"/>
              </a:buClr>
              <a:buSzPts val="1200"/>
              <a:buNone/>
              <a:defRPr sz="1200">
                <a:solidFill>
                  <a:srgbClr val="757575"/>
                </a:solidFill>
              </a:defRPr>
            </a:lvl4pPr>
            <a:lvl5pPr indent="-228600" lvl="4" marL="2286000" algn="l">
              <a:lnSpc>
                <a:spcPct val="90000"/>
              </a:lnSpc>
              <a:spcBef>
                <a:spcPts val="400"/>
              </a:spcBef>
              <a:spcAft>
                <a:spcPts val="0"/>
              </a:spcAft>
              <a:buClr>
                <a:srgbClr val="757575"/>
              </a:buClr>
              <a:buSzPts val="1200"/>
              <a:buNone/>
              <a:defRPr sz="1200">
                <a:solidFill>
                  <a:srgbClr val="757575"/>
                </a:solidFill>
              </a:defRPr>
            </a:lvl5pPr>
            <a:lvl6pPr indent="-228600" lvl="5" marL="2743200" algn="l">
              <a:lnSpc>
                <a:spcPct val="90000"/>
              </a:lnSpc>
              <a:spcBef>
                <a:spcPts val="400"/>
              </a:spcBef>
              <a:spcAft>
                <a:spcPts val="0"/>
              </a:spcAft>
              <a:buClr>
                <a:srgbClr val="757575"/>
              </a:buClr>
              <a:buSzPts val="1200"/>
              <a:buNone/>
              <a:defRPr sz="1200">
                <a:solidFill>
                  <a:srgbClr val="757575"/>
                </a:solidFill>
              </a:defRPr>
            </a:lvl6pPr>
            <a:lvl7pPr indent="-228600" lvl="6" marL="3200400" algn="l">
              <a:lnSpc>
                <a:spcPct val="90000"/>
              </a:lnSpc>
              <a:spcBef>
                <a:spcPts val="400"/>
              </a:spcBef>
              <a:spcAft>
                <a:spcPts val="0"/>
              </a:spcAft>
              <a:buClr>
                <a:srgbClr val="757575"/>
              </a:buClr>
              <a:buSzPts val="1200"/>
              <a:buNone/>
              <a:defRPr sz="1200">
                <a:solidFill>
                  <a:srgbClr val="757575"/>
                </a:solidFill>
              </a:defRPr>
            </a:lvl7pPr>
            <a:lvl8pPr indent="-228600" lvl="7" marL="3657600" algn="l">
              <a:lnSpc>
                <a:spcPct val="90000"/>
              </a:lnSpc>
              <a:spcBef>
                <a:spcPts val="400"/>
              </a:spcBef>
              <a:spcAft>
                <a:spcPts val="0"/>
              </a:spcAft>
              <a:buClr>
                <a:srgbClr val="757575"/>
              </a:buClr>
              <a:buSzPts val="1200"/>
              <a:buNone/>
              <a:defRPr sz="1200">
                <a:solidFill>
                  <a:srgbClr val="757575"/>
                </a:solidFill>
              </a:defRPr>
            </a:lvl8pPr>
            <a:lvl9pPr indent="-228600" lvl="8" marL="4114800" algn="l">
              <a:lnSpc>
                <a:spcPct val="90000"/>
              </a:lnSpc>
              <a:spcBef>
                <a:spcPts val="400"/>
              </a:spcBef>
              <a:spcAft>
                <a:spcPts val="0"/>
              </a:spcAft>
              <a:buClr>
                <a:srgbClr val="757575"/>
              </a:buClr>
              <a:buSzPts val="1200"/>
              <a:buNone/>
              <a:defRPr sz="1200">
                <a:solidFill>
                  <a:srgbClr val="757575"/>
                </a:solidFill>
              </a:defRPr>
            </a:lvl9pPr>
          </a:lstStyle>
          <a:p/>
        </p:txBody>
      </p:sp>
      <p:sp>
        <p:nvSpPr>
          <p:cNvPr id="71" name="Google Shape;71;p1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Два об’єкти"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Google Shape;76;p17"/>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17"/>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орівняння" type="twoTxTwoObj">
  <p:cSld name="TWO_OBJECTS_WITH_TEXT">
    <p:spTree>
      <p:nvGrpSpPr>
        <p:cNvPr id="81" name="Shape 81"/>
        <p:cNvGrpSpPr/>
        <p:nvPr/>
      </p:nvGrpSpPr>
      <p:grpSpPr>
        <a:xfrm>
          <a:off x="0" y="0"/>
          <a:ext cx="0" cy="0"/>
          <a:chOff x="0" y="0"/>
          <a:chExt cx="0" cy="0"/>
        </a:xfrm>
      </p:grpSpPr>
      <p:sp>
        <p:nvSpPr>
          <p:cNvPr id="82" name="Google Shape;82;p18"/>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3" name="Google Shape;83;p18"/>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4" name="Google Shape;84;p18"/>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5" name="Google Shape;85;p1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6" name="Google Shape;86;p18"/>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7" name="Google Shape;87;p1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8" name="Google Shape;88;p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9" name="Google Shape;89;p1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Лише заголовок" type="titleOnly">
  <p:cSld name="TITLE_ONLY">
    <p:spTree>
      <p:nvGrpSpPr>
        <p:cNvPr id="90" name="Shape 90"/>
        <p:cNvGrpSpPr/>
        <p:nvPr/>
      </p:nvGrpSpPr>
      <p:grpSpPr>
        <a:xfrm>
          <a:off x="0" y="0"/>
          <a:ext cx="0" cy="0"/>
          <a:chOff x="0" y="0"/>
          <a:chExt cx="0" cy="0"/>
        </a:xfrm>
      </p:grpSpPr>
      <p:sp>
        <p:nvSpPr>
          <p:cNvPr id="91" name="Google Shape;91;p1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2" name="Google Shape;92;p1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устий слайд"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міст і підпис"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2" name="Google Shape;102;p21"/>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3" name="Google Shape;103;p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исунок і підпис"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3887391" y="740569"/>
            <a:ext cx="4629150" cy="3655219"/>
          </a:xfrm>
          <a:prstGeom prst="rect">
            <a:avLst/>
          </a:prstGeom>
          <a:noFill/>
          <a:ln>
            <a:noFill/>
          </a:ln>
        </p:spPr>
      </p:sp>
      <p:sp>
        <p:nvSpPr>
          <p:cNvPr id="109" name="Google Shape;109;p22"/>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0" name="Google Shape;110;p2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і вертикальний текст"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6" name="Google Shape;116;p2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ертикальний заголовок і текст"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2" name="Google Shape;122;p2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53" name="Google Shape;53;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4" name="Google Shape;54;p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5" name="Google Shape;55;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757575"/>
                </a:solidFill>
                <a:latin typeface="Arial"/>
                <a:ea typeface="Arial"/>
                <a:cs typeface="Arial"/>
                <a:sym typeface="Arial"/>
              </a:defRPr>
            </a:lvl1pPr>
            <a:lvl2pPr indent="0" lvl="1" marL="0" marR="0" rtl="0" algn="r">
              <a:spcBef>
                <a:spcPts val="0"/>
              </a:spcBef>
              <a:buNone/>
              <a:defRPr b="0" i="0" sz="900" u="none" cap="none" strike="noStrike">
                <a:solidFill>
                  <a:srgbClr val="757575"/>
                </a:solidFill>
                <a:latin typeface="Arial"/>
                <a:ea typeface="Arial"/>
                <a:cs typeface="Arial"/>
                <a:sym typeface="Arial"/>
              </a:defRPr>
            </a:lvl2pPr>
            <a:lvl3pPr indent="0" lvl="2" marL="0" marR="0" rtl="0" algn="r">
              <a:spcBef>
                <a:spcPts val="0"/>
              </a:spcBef>
              <a:buNone/>
              <a:defRPr b="0" i="0" sz="900" u="none" cap="none" strike="noStrike">
                <a:solidFill>
                  <a:srgbClr val="757575"/>
                </a:solidFill>
                <a:latin typeface="Arial"/>
                <a:ea typeface="Arial"/>
                <a:cs typeface="Arial"/>
                <a:sym typeface="Arial"/>
              </a:defRPr>
            </a:lvl3pPr>
            <a:lvl4pPr indent="0" lvl="3" marL="0" marR="0" rtl="0" algn="r">
              <a:spcBef>
                <a:spcPts val="0"/>
              </a:spcBef>
              <a:buNone/>
              <a:defRPr b="0" i="0" sz="900" u="none" cap="none" strike="noStrike">
                <a:solidFill>
                  <a:srgbClr val="757575"/>
                </a:solidFill>
                <a:latin typeface="Arial"/>
                <a:ea typeface="Arial"/>
                <a:cs typeface="Arial"/>
                <a:sym typeface="Arial"/>
              </a:defRPr>
            </a:lvl4pPr>
            <a:lvl5pPr indent="0" lvl="4" marL="0" marR="0" rtl="0" algn="r">
              <a:spcBef>
                <a:spcPts val="0"/>
              </a:spcBef>
              <a:buNone/>
              <a:defRPr b="0" i="0" sz="900" u="none" cap="none" strike="noStrike">
                <a:solidFill>
                  <a:srgbClr val="757575"/>
                </a:solidFill>
                <a:latin typeface="Arial"/>
                <a:ea typeface="Arial"/>
                <a:cs typeface="Arial"/>
                <a:sym typeface="Arial"/>
              </a:defRPr>
            </a:lvl5pPr>
            <a:lvl6pPr indent="0" lvl="5" marL="0" marR="0" rtl="0" algn="r">
              <a:spcBef>
                <a:spcPts val="0"/>
              </a:spcBef>
              <a:buNone/>
              <a:defRPr b="0" i="0" sz="900" u="none" cap="none" strike="noStrike">
                <a:solidFill>
                  <a:srgbClr val="757575"/>
                </a:solidFill>
                <a:latin typeface="Arial"/>
                <a:ea typeface="Arial"/>
                <a:cs typeface="Arial"/>
                <a:sym typeface="Arial"/>
              </a:defRPr>
            </a:lvl6pPr>
            <a:lvl7pPr indent="0" lvl="6" marL="0" marR="0" rtl="0" algn="r">
              <a:spcBef>
                <a:spcPts val="0"/>
              </a:spcBef>
              <a:buNone/>
              <a:defRPr b="0" i="0" sz="900" u="none" cap="none" strike="noStrike">
                <a:solidFill>
                  <a:srgbClr val="757575"/>
                </a:solidFill>
                <a:latin typeface="Arial"/>
                <a:ea typeface="Arial"/>
                <a:cs typeface="Arial"/>
                <a:sym typeface="Arial"/>
              </a:defRPr>
            </a:lvl7pPr>
            <a:lvl8pPr indent="0" lvl="7" marL="0" marR="0" rtl="0" algn="r">
              <a:spcBef>
                <a:spcPts val="0"/>
              </a:spcBef>
              <a:buNone/>
              <a:defRPr b="0" i="0" sz="900" u="none" cap="none" strike="noStrike">
                <a:solidFill>
                  <a:srgbClr val="757575"/>
                </a:solidFill>
                <a:latin typeface="Arial"/>
                <a:ea typeface="Arial"/>
                <a:cs typeface="Arial"/>
                <a:sym typeface="Arial"/>
              </a:defRPr>
            </a:lvl8pPr>
            <a:lvl9pPr indent="0" lvl="8" marL="0" marR="0" rtl="0" algn="r">
              <a:spcBef>
                <a:spcPts val="0"/>
              </a:spcBef>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1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24.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10.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image" Target="../media/image20.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8" name="Shape 128"/>
        <p:cNvGrpSpPr/>
        <p:nvPr/>
      </p:nvGrpSpPr>
      <p:grpSpPr>
        <a:xfrm>
          <a:off x="0" y="0"/>
          <a:ext cx="0" cy="0"/>
          <a:chOff x="0" y="0"/>
          <a:chExt cx="0" cy="0"/>
        </a:xfrm>
      </p:grpSpPr>
      <p:sp>
        <p:nvSpPr>
          <p:cNvPr id="129" name="Google Shape;129;p25"/>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0" name="Google Shape;130;p25"/>
          <p:cNvSpPr/>
          <p:nvPr/>
        </p:nvSpPr>
        <p:spPr>
          <a:xfrm>
            <a:off x="835819" y="0"/>
            <a:ext cx="7472363" cy="5143500"/>
          </a:xfrm>
          <a:custGeom>
            <a:rect b="b" l="l" r="r" t="t"/>
            <a:pathLst>
              <a:path extrusionOk="0" h="6858000" w="996315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solidFill>
            <a:schemeClr val="lt1"/>
          </a:solidFill>
          <a:ln cap="flat" cmpd="sng" w="9525">
            <a:solidFill>
              <a:srgbClr val="EFEFEF"/>
            </a:solidFill>
            <a:prstDash val="solid"/>
            <a:miter lim="800000"/>
            <a:headEnd len="sm" w="sm" type="none"/>
            <a:tailEnd len="sm" w="sm" type="none"/>
          </a:ln>
          <a:effectLst>
            <a:outerShdw blurRad="139700" sx="102000" rotWithShape="0" algn="ctr" sy="102000">
              <a:srgbClr val="D8D8D8">
                <a:alpha val="38039"/>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31" name="Google Shape;131;p25"/>
          <p:cNvSpPr/>
          <p:nvPr/>
        </p:nvSpPr>
        <p:spPr>
          <a:xfrm>
            <a:off x="841248" y="0"/>
            <a:ext cx="7461504" cy="5143500"/>
          </a:xfrm>
          <a:custGeom>
            <a:rect b="b" l="l" r="r" t="t"/>
            <a:pathLst>
              <a:path extrusionOk="0" h="6858000" w="996315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32" name="Google Shape;132;p25"/>
          <p:cNvSpPr txBox="1"/>
          <p:nvPr>
            <p:ph type="ctrTitle"/>
          </p:nvPr>
        </p:nvSpPr>
        <p:spPr>
          <a:xfrm>
            <a:off x="1143000" y="1499700"/>
            <a:ext cx="6921600" cy="2165400"/>
          </a:xfrm>
          <a:prstGeom prst="rect">
            <a:avLst/>
          </a:prstGeom>
          <a:noFill/>
          <a:ln>
            <a:noFill/>
          </a:ln>
        </p:spPr>
        <p:txBody>
          <a:bodyPr anchorCtr="0" anchor="ctr" bIns="34275" lIns="68575" spcFirstLastPara="1" rIns="68575" wrap="square" tIns="34275">
            <a:normAutofit fontScale="90000"/>
          </a:bodyPr>
          <a:lstStyle/>
          <a:p>
            <a:pPr indent="0" lvl="0" marL="0" rtl="0" algn="ctr">
              <a:lnSpc>
                <a:spcPct val="90000"/>
              </a:lnSpc>
              <a:spcBef>
                <a:spcPts val="0"/>
              </a:spcBef>
              <a:spcAft>
                <a:spcPts val="0"/>
              </a:spcAft>
              <a:buClr>
                <a:schemeClr val="dk1"/>
              </a:buClr>
              <a:buSzPct val="100000"/>
              <a:buFont typeface="Play"/>
              <a:buNone/>
            </a:pPr>
            <a:r>
              <a:rPr lang="uk" sz="4600"/>
              <a:t>Великі мовні моделі (LLM): BERT, GPT, LLaMA, fine-tuning та промптинг</a:t>
            </a:r>
            <a:endParaRPr/>
          </a:p>
        </p:txBody>
      </p:sp>
      <p:sp>
        <p:nvSpPr>
          <p:cNvPr id="133" name="Google Shape;133;p25"/>
          <p:cNvSpPr txBox="1"/>
          <p:nvPr>
            <p:ph idx="1" type="subTitle"/>
          </p:nvPr>
        </p:nvSpPr>
        <p:spPr>
          <a:xfrm>
            <a:off x="1475184" y="4233863"/>
            <a:ext cx="6193632" cy="473869"/>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chemeClr val="dk1"/>
              </a:buClr>
              <a:buSzPts val="2100"/>
              <a:buNone/>
            </a:pPr>
            <a:r>
              <a:t/>
            </a:r>
            <a:endParaRPr sz="2100"/>
          </a:p>
        </p:txBody>
      </p:sp>
      <p:sp>
        <p:nvSpPr>
          <p:cNvPr id="134" name="Google Shape;134;p25"/>
          <p:cNvSpPr/>
          <p:nvPr/>
        </p:nvSpPr>
        <p:spPr>
          <a:xfrm>
            <a:off x="2788920" y="4143590"/>
            <a:ext cx="3566160" cy="20574"/>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132"/>
                                        </p:tgtEl>
                                        <p:attrNameLst>
                                          <p:attrName>style.visibility</p:attrName>
                                        </p:attrNameLst>
                                      </p:cBhvr>
                                      <p:to>
                                        <p:strVal val="visible"/>
                                      </p:to>
                                    </p:set>
                                    <p:animEffect filter="fade" transition="in">
                                      <p:cBhvr>
                                        <p:cTn dur="700"/>
                                        <p:tgtEl>
                                          <p:spTgt spid="1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8" name="Shape 138"/>
        <p:cNvGrpSpPr/>
        <p:nvPr/>
      </p:nvGrpSpPr>
      <p:grpSpPr>
        <a:xfrm>
          <a:off x="0" y="0"/>
          <a:ext cx="0" cy="0"/>
          <a:chOff x="0" y="0"/>
          <a:chExt cx="0" cy="0"/>
        </a:xfrm>
      </p:grpSpPr>
      <p:sp>
        <p:nvSpPr>
          <p:cNvPr id="139" name="Google Shape;139;p26"/>
          <p:cNvSpPr/>
          <p:nvPr/>
        </p:nvSpPr>
        <p:spPr>
          <a:xfrm>
            <a:off x="0" y="0"/>
            <a:ext cx="9144002"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0" name="Google Shape;140;p26"/>
          <p:cNvSpPr/>
          <p:nvPr/>
        </p:nvSpPr>
        <p:spPr>
          <a:xfrm>
            <a:off x="-1" y="0"/>
            <a:ext cx="3614167" cy="5143500"/>
          </a:xfrm>
          <a:custGeom>
            <a:rect b="b" l="l" r="r" t="t"/>
            <a:pathLst>
              <a:path extrusionOk="0" h="6858000" w="4818889">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solidFill>
            <a:schemeClr val="lt1"/>
          </a:solidFill>
          <a:ln cap="flat" cmpd="sng" w="9525">
            <a:solidFill>
              <a:srgbClr val="E6E6E6"/>
            </a:solidFill>
            <a:prstDash val="solid"/>
            <a:miter lim="800000"/>
            <a:headEnd len="sm" w="sm" type="none"/>
            <a:tailEnd len="sm" w="sm" type="none"/>
          </a:ln>
          <a:effectLst>
            <a:outerShdw blurRad="50800" rotWithShape="0" algn="l" dist="38100">
              <a:srgbClr val="D8D8D8">
                <a:alpha val="50196"/>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41" name="Google Shape;141;p26"/>
          <p:cNvSpPr/>
          <p:nvPr/>
        </p:nvSpPr>
        <p:spPr>
          <a:xfrm>
            <a:off x="1" y="0"/>
            <a:ext cx="3608608" cy="5143500"/>
          </a:xfrm>
          <a:custGeom>
            <a:rect b="b" l="l" r="r" t="t"/>
            <a:pathLst>
              <a:path extrusionOk="0" h="6858000" w="4811477">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42" name="Google Shape;142;p26"/>
          <p:cNvSpPr txBox="1"/>
          <p:nvPr>
            <p:ph type="title"/>
          </p:nvPr>
        </p:nvSpPr>
        <p:spPr>
          <a:xfrm>
            <a:off x="466344" y="870966"/>
            <a:ext cx="2702052" cy="339471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000"/>
              <a:buFont typeface="Play"/>
              <a:buNone/>
            </a:pPr>
            <a:r>
              <a:rPr b="1" lang="uk" sz="3000"/>
              <a:t>План лекції</a:t>
            </a:r>
            <a:endParaRPr sz="3000"/>
          </a:p>
        </p:txBody>
      </p:sp>
      <p:sp>
        <p:nvSpPr>
          <p:cNvPr id="143" name="Google Shape;143;p26"/>
          <p:cNvSpPr/>
          <p:nvPr/>
        </p:nvSpPr>
        <p:spPr>
          <a:xfrm>
            <a:off x="0" y="2326537"/>
            <a:ext cx="96012" cy="490427"/>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grpSp>
        <p:nvGrpSpPr>
          <p:cNvPr id="144" name="Google Shape;144;p26"/>
          <p:cNvGrpSpPr/>
          <p:nvPr/>
        </p:nvGrpSpPr>
        <p:grpSpPr>
          <a:xfrm>
            <a:off x="4075612" y="699516"/>
            <a:ext cx="4437452" cy="3744466"/>
            <a:chOff x="0" y="0"/>
            <a:chExt cx="5916603" cy="4992622"/>
          </a:xfrm>
        </p:grpSpPr>
        <p:cxnSp>
          <p:nvCxnSpPr>
            <p:cNvPr id="145" name="Google Shape;145;p26"/>
            <p:cNvCxnSpPr/>
            <p:nvPr/>
          </p:nvCxnSpPr>
          <p:spPr>
            <a:xfrm>
              <a:off x="0" y="0"/>
              <a:ext cx="5916603" cy="0"/>
            </a:xfrm>
            <a:prstGeom prst="straightConnector1">
              <a:avLst/>
            </a:prstGeom>
            <a:solidFill>
              <a:srgbClr val="126082"/>
            </a:solidFill>
            <a:ln cap="flat" cmpd="sng" w="19050">
              <a:solidFill>
                <a:srgbClr val="126082"/>
              </a:solidFill>
              <a:prstDash val="solid"/>
              <a:miter lim="800000"/>
              <a:headEnd len="sm" w="sm" type="none"/>
              <a:tailEnd len="sm" w="sm" type="none"/>
            </a:ln>
          </p:spPr>
        </p:cxnSp>
        <p:sp>
          <p:nvSpPr>
            <p:cNvPr id="146" name="Google Shape;146;p26"/>
            <p:cNvSpPr/>
            <p:nvPr/>
          </p:nvSpPr>
          <p:spPr>
            <a:xfrm>
              <a:off x="0" y="0"/>
              <a:ext cx="5916603" cy="62407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7" name="Google Shape;147;p26"/>
            <p:cNvSpPr txBox="1"/>
            <p:nvPr/>
          </p:nvSpPr>
          <p:spPr>
            <a:xfrm>
              <a:off x="0" y="0"/>
              <a:ext cx="5916603" cy="624077"/>
            </a:xfrm>
            <a:prstGeom prst="rect">
              <a:avLst/>
            </a:prstGeom>
            <a:noFill/>
            <a:ln>
              <a:noFill/>
            </a:ln>
          </p:spPr>
          <p:txBody>
            <a:bodyPr anchorCtr="0" anchor="t" bIns="71450" lIns="71450" spcFirstLastPara="1" rIns="71450" wrap="square" tIns="71450">
              <a:normAutofit fontScale="92500"/>
            </a:bodyPr>
            <a:lstStyle/>
            <a:p>
              <a:pPr indent="0" lvl="0" marL="0" marR="0" rtl="0" algn="l">
                <a:lnSpc>
                  <a:spcPct val="90000"/>
                </a:lnSpc>
                <a:spcBef>
                  <a:spcPts val="0"/>
                </a:spcBef>
                <a:spcAft>
                  <a:spcPts val="0"/>
                </a:spcAft>
                <a:buClr>
                  <a:schemeClr val="dk1"/>
                </a:buClr>
                <a:buSzPct val="100000"/>
                <a:buFont typeface="Arial"/>
                <a:buNone/>
              </a:pPr>
              <a:r>
                <a:rPr b="0" i="0" lang="uk" sz="1900" u="none" cap="none" strike="noStrike">
                  <a:solidFill>
                    <a:schemeClr val="dk1"/>
                  </a:solidFill>
                  <a:latin typeface="Arial"/>
                  <a:ea typeface="Arial"/>
                  <a:cs typeface="Arial"/>
                  <a:sym typeface="Arial"/>
                </a:rPr>
                <a:t>Від трансформерів до LLM – еволюція.</a:t>
              </a:r>
              <a:endParaRPr b="0" i="0" sz="1900" u="none" cap="none" strike="noStrike">
                <a:solidFill>
                  <a:schemeClr val="dk1"/>
                </a:solidFill>
                <a:latin typeface="Arial"/>
                <a:ea typeface="Arial"/>
                <a:cs typeface="Arial"/>
                <a:sym typeface="Arial"/>
              </a:endParaRPr>
            </a:p>
          </p:txBody>
        </p:sp>
        <p:cxnSp>
          <p:nvCxnSpPr>
            <p:cNvPr id="148" name="Google Shape;148;p26"/>
            <p:cNvCxnSpPr/>
            <p:nvPr/>
          </p:nvCxnSpPr>
          <p:spPr>
            <a:xfrm>
              <a:off x="0" y="624077"/>
              <a:ext cx="5916603" cy="0"/>
            </a:xfrm>
            <a:prstGeom prst="straightConnector1">
              <a:avLst/>
            </a:prstGeom>
            <a:solidFill>
              <a:srgbClr val="126082"/>
            </a:solidFill>
            <a:ln cap="flat" cmpd="sng" w="19050">
              <a:solidFill>
                <a:srgbClr val="126082"/>
              </a:solidFill>
              <a:prstDash val="solid"/>
              <a:miter lim="800000"/>
              <a:headEnd len="sm" w="sm" type="none"/>
              <a:tailEnd len="sm" w="sm" type="none"/>
            </a:ln>
          </p:spPr>
        </p:cxnSp>
        <p:sp>
          <p:nvSpPr>
            <p:cNvPr id="149" name="Google Shape;149;p26"/>
            <p:cNvSpPr/>
            <p:nvPr/>
          </p:nvSpPr>
          <p:spPr>
            <a:xfrm>
              <a:off x="0" y="624077"/>
              <a:ext cx="5916603" cy="62407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0" name="Google Shape;150;p26"/>
            <p:cNvSpPr txBox="1"/>
            <p:nvPr/>
          </p:nvSpPr>
          <p:spPr>
            <a:xfrm>
              <a:off x="0" y="624077"/>
              <a:ext cx="5916603" cy="624077"/>
            </a:xfrm>
            <a:prstGeom prst="rect">
              <a:avLst/>
            </a:prstGeom>
            <a:noFill/>
            <a:ln>
              <a:noFill/>
            </a:ln>
          </p:spPr>
          <p:txBody>
            <a:bodyPr anchorCtr="0" anchor="t" bIns="71450" lIns="71450" spcFirstLastPara="1" rIns="71450" wrap="square" tIns="71450">
              <a:noAutofit/>
            </a:bodyPr>
            <a:lstStyle/>
            <a:p>
              <a:pPr indent="0" lvl="0" marL="0" marR="0" rtl="0" algn="l">
                <a:lnSpc>
                  <a:spcPct val="90000"/>
                </a:lnSpc>
                <a:spcBef>
                  <a:spcPts val="0"/>
                </a:spcBef>
                <a:spcAft>
                  <a:spcPts val="0"/>
                </a:spcAft>
                <a:buClr>
                  <a:schemeClr val="dk1"/>
                </a:buClr>
                <a:buSzPts val="1900"/>
                <a:buFont typeface="Arial"/>
                <a:buNone/>
              </a:pPr>
              <a:r>
                <a:rPr b="0" i="0" lang="uk" sz="1900" u="none" cap="none" strike="noStrike">
                  <a:solidFill>
                    <a:schemeClr val="dk1"/>
                  </a:solidFill>
                  <a:latin typeface="Arial"/>
                  <a:ea typeface="Arial"/>
                  <a:cs typeface="Arial"/>
                  <a:sym typeface="Arial"/>
                </a:rPr>
                <a:t>BERT: двонаправлений контекст.</a:t>
              </a:r>
              <a:endParaRPr b="0" i="0" sz="1900" u="none" cap="none" strike="noStrike">
                <a:solidFill>
                  <a:schemeClr val="dk1"/>
                </a:solidFill>
                <a:latin typeface="Arial"/>
                <a:ea typeface="Arial"/>
                <a:cs typeface="Arial"/>
                <a:sym typeface="Arial"/>
              </a:endParaRPr>
            </a:p>
          </p:txBody>
        </p:sp>
        <p:cxnSp>
          <p:nvCxnSpPr>
            <p:cNvPr id="151" name="Google Shape;151;p26"/>
            <p:cNvCxnSpPr/>
            <p:nvPr/>
          </p:nvCxnSpPr>
          <p:spPr>
            <a:xfrm>
              <a:off x="0" y="1248155"/>
              <a:ext cx="5916603" cy="0"/>
            </a:xfrm>
            <a:prstGeom prst="straightConnector1">
              <a:avLst/>
            </a:prstGeom>
            <a:solidFill>
              <a:srgbClr val="126082"/>
            </a:solidFill>
            <a:ln cap="flat" cmpd="sng" w="19050">
              <a:solidFill>
                <a:srgbClr val="126082"/>
              </a:solidFill>
              <a:prstDash val="solid"/>
              <a:miter lim="800000"/>
              <a:headEnd len="sm" w="sm" type="none"/>
              <a:tailEnd len="sm" w="sm" type="none"/>
            </a:ln>
          </p:spPr>
        </p:cxnSp>
        <p:sp>
          <p:nvSpPr>
            <p:cNvPr id="152" name="Google Shape;152;p26"/>
            <p:cNvSpPr/>
            <p:nvPr/>
          </p:nvSpPr>
          <p:spPr>
            <a:xfrm>
              <a:off x="0" y="1248155"/>
              <a:ext cx="5916603" cy="62407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3" name="Google Shape;153;p26"/>
            <p:cNvSpPr txBox="1"/>
            <p:nvPr/>
          </p:nvSpPr>
          <p:spPr>
            <a:xfrm>
              <a:off x="0" y="1248155"/>
              <a:ext cx="5916603" cy="624077"/>
            </a:xfrm>
            <a:prstGeom prst="rect">
              <a:avLst/>
            </a:prstGeom>
            <a:noFill/>
            <a:ln>
              <a:noFill/>
            </a:ln>
          </p:spPr>
          <p:txBody>
            <a:bodyPr anchorCtr="0" anchor="t" bIns="71450" lIns="71450" spcFirstLastPara="1" rIns="71450" wrap="square" tIns="71450">
              <a:normAutofit/>
            </a:bodyPr>
            <a:lstStyle/>
            <a:p>
              <a:pPr indent="0" lvl="0" marL="0" marR="0" rtl="0" algn="l">
                <a:lnSpc>
                  <a:spcPct val="90000"/>
                </a:lnSpc>
                <a:spcBef>
                  <a:spcPts val="0"/>
                </a:spcBef>
                <a:spcAft>
                  <a:spcPts val="0"/>
                </a:spcAft>
                <a:buClr>
                  <a:schemeClr val="dk1"/>
                </a:buClr>
                <a:buSzPts val="1900"/>
                <a:buFont typeface="Arial"/>
                <a:buNone/>
              </a:pPr>
              <a:r>
                <a:rPr b="0" i="0" lang="uk" sz="1900" u="none" cap="none" strike="noStrike">
                  <a:solidFill>
                    <a:schemeClr val="dk1"/>
                  </a:solidFill>
                  <a:latin typeface="Arial"/>
                  <a:ea typeface="Arial"/>
                  <a:cs typeface="Arial"/>
                  <a:sym typeface="Arial"/>
                </a:rPr>
                <a:t>GPT: авторегресивна генерація.</a:t>
              </a:r>
              <a:endParaRPr b="0" i="0" sz="1900" u="none" cap="none" strike="noStrike">
                <a:solidFill>
                  <a:schemeClr val="dk1"/>
                </a:solidFill>
                <a:latin typeface="Arial"/>
                <a:ea typeface="Arial"/>
                <a:cs typeface="Arial"/>
                <a:sym typeface="Arial"/>
              </a:endParaRPr>
            </a:p>
          </p:txBody>
        </p:sp>
        <p:cxnSp>
          <p:nvCxnSpPr>
            <p:cNvPr id="154" name="Google Shape;154;p26"/>
            <p:cNvCxnSpPr/>
            <p:nvPr/>
          </p:nvCxnSpPr>
          <p:spPr>
            <a:xfrm>
              <a:off x="0" y="1872233"/>
              <a:ext cx="5916603" cy="0"/>
            </a:xfrm>
            <a:prstGeom prst="straightConnector1">
              <a:avLst/>
            </a:prstGeom>
            <a:solidFill>
              <a:srgbClr val="126082"/>
            </a:solidFill>
            <a:ln cap="flat" cmpd="sng" w="19050">
              <a:solidFill>
                <a:srgbClr val="126082"/>
              </a:solidFill>
              <a:prstDash val="solid"/>
              <a:miter lim="800000"/>
              <a:headEnd len="sm" w="sm" type="none"/>
              <a:tailEnd len="sm" w="sm" type="none"/>
            </a:ln>
          </p:spPr>
        </p:cxnSp>
        <p:sp>
          <p:nvSpPr>
            <p:cNvPr id="155" name="Google Shape;155;p26"/>
            <p:cNvSpPr/>
            <p:nvPr/>
          </p:nvSpPr>
          <p:spPr>
            <a:xfrm>
              <a:off x="0" y="1872233"/>
              <a:ext cx="5916603" cy="62407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6" name="Google Shape;156;p26"/>
            <p:cNvSpPr txBox="1"/>
            <p:nvPr/>
          </p:nvSpPr>
          <p:spPr>
            <a:xfrm>
              <a:off x="0" y="1872233"/>
              <a:ext cx="5916603" cy="624077"/>
            </a:xfrm>
            <a:prstGeom prst="rect">
              <a:avLst/>
            </a:prstGeom>
            <a:noFill/>
            <a:ln>
              <a:noFill/>
            </a:ln>
          </p:spPr>
          <p:txBody>
            <a:bodyPr anchorCtr="0" anchor="t" bIns="71450" lIns="71450" spcFirstLastPara="1" rIns="71450" wrap="square" tIns="71450">
              <a:normAutofit/>
            </a:bodyPr>
            <a:lstStyle/>
            <a:p>
              <a:pPr indent="0" lvl="0" marL="0" marR="0" rtl="0" algn="l">
                <a:lnSpc>
                  <a:spcPct val="90000"/>
                </a:lnSpc>
                <a:spcBef>
                  <a:spcPts val="0"/>
                </a:spcBef>
                <a:spcAft>
                  <a:spcPts val="0"/>
                </a:spcAft>
                <a:buClr>
                  <a:schemeClr val="dk1"/>
                </a:buClr>
                <a:buSzPts val="1900"/>
                <a:buFont typeface="Arial"/>
                <a:buNone/>
              </a:pPr>
              <a:r>
                <a:rPr b="0" i="0" lang="uk" sz="1900" u="none" cap="none" strike="noStrike">
                  <a:solidFill>
                    <a:schemeClr val="dk1"/>
                  </a:solidFill>
                  <a:latin typeface="Arial"/>
                  <a:ea typeface="Arial"/>
                  <a:cs typeface="Arial"/>
                  <a:sym typeface="Arial"/>
                </a:rPr>
                <a:t>LLaMA та відкриті моделі.</a:t>
              </a:r>
              <a:endParaRPr b="0" i="0" sz="1900" u="none" cap="none" strike="noStrike">
                <a:solidFill>
                  <a:schemeClr val="dk1"/>
                </a:solidFill>
                <a:latin typeface="Arial"/>
                <a:ea typeface="Arial"/>
                <a:cs typeface="Arial"/>
                <a:sym typeface="Arial"/>
              </a:endParaRPr>
            </a:p>
          </p:txBody>
        </p:sp>
        <p:cxnSp>
          <p:nvCxnSpPr>
            <p:cNvPr id="157" name="Google Shape;157;p26"/>
            <p:cNvCxnSpPr/>
            <p:nvPr/>
          </p:nvCxnSpPr>
          <p:spPr>
            <a:xfrm>
              <a:off x="0" y="2496311"/>
              <a:ext cx="5916603" cy="0"/>
            </a:xfrm>
            <a:prstGeom prst="straightConnector1">
              <a:avLst/>
            </a:prstGeom>
            <a:solidFill>
              <a:srgbClr val="126082"/>
            </a:solidFill>
            <a:ln cap="flat" cmpd="sng" w="19050">
              <a:solidFill>
                <a:srgbClr val="126082"/>
              </a:solidFill>
              <a:prstDash val="solid"/>
              <a:miter lim="800000"/>
              <a:headEnd len="sm" w="sm" type="none"/>
              <a:tailEnd len="sm" w="sm" type="none"/>
            </a:ln>
          </p:spPr>
        </p:cxnSp>
        <p:sp>
          <p:nvSpPr>
            <p:cNvPr id="158" name="Google Shape;158;p26"/>
            <p:cNvSpPr/>
            <p:nvPr/>
          </p:nvSpPr>
          <p:spPr>
            <a:xfrm>
              <a:off x="0" y="2496311"/>
              <a:ext cx="5916603" cy="62407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9" name="Google Shape;159;p26"/>
            <p:cNvSpPr txBox="1"/>
            <p:nvPr/>
          </p:nvSpPr>
          <p:spPr>
            <a:xfrm>
              <a:off x="0" y="2496311"/>
              <a:ext cx="5916603" cy="624077"/>
            </a:xfrm>
            <a:prstGeom prst="rect">
              <a:avLst/>
            </a:prstGeom>
            <a:noFill/>
            <a:ln>
              <a:noFill/>
            </a:ln>
          </p:spPr>
          <p:txBody>
            <a:bodyPr anchorCtr="0" anchor="t" bIns="71450" lIns="71450" spcFirstLastPara="1" rIns="71450" wrap="square" tIns="71450">
              <a:normAutofit fontScale="92500"/>
            </a:bodyPr>
            <a:lstStyle/>
            <a:p>
              <a:pPr indent="0" lvl="0" marL="0" marR="0" rtl="0" algn="l">
                <a:lnSpc>
                  <a:spcPct val="90000"/>
                </a:lnSpc>
                <a:spcBef>
                  <a:spcPts val="0"/>
                </a:spcBef>
                <a:spcAft>
                  <a:spcPts val="0"/>
                </a:spcAft>
                <a:buClr>
                  <a:schemeClr val="dk1"/>
                </a:buClr>
                <a:buSzPct val="100000"/>
                <a:buFont typeface="Arial"/>
                <a:buNone/>
              </a:pPr>
              <a:r>
                <a:rPr b="0" i="0" lang="uk" sz="1900" u="none" cap="none" strike="noStrike">
                  <a:solidFill>
                    <a:schemeClr val="dk1"/>
                  </a:solidFill>
                  <a:latin typeface="Arial"/>
                  <a:ea typeface="Arial"/>
                  <a:cs typeface="Arial"/>
                  <a:sym typeface="Arial"/>
                </a:rPr>
                <a:t>Fine-tuning: адаптація під власні задачі.</a:t>
              </a:r>
              <a:endParaRPr b="0" i="0" sz="1900" u="none" cap="none" strike="noStrike">
                <a:solidFill>
                  <a:schemeClr val="dk1"/>
                </a:solidFill>
                <a:latin typeface="Arial"/>
                <a:ea typeface="Arial"/>
                <a:cs typeface="Arial"/>
                <a:sym typeface="Arial"/>
              </a:endParaRPr>
            </a:p>
          </p:txBody>
        </p:sp>
        <p:cxnSp>
          <p:nvCxnSpPr>
            <p:cNvPr id="160" name="Google Shape;160;p26"/>
            <p:cNvCxnSpPr/>
            <p:nvPr/>
          </p:nvCxnSpPr>
          <p:spPr>
            <a:xfrm>
              <a:off x="0" y="3120390"/>
              <a:ext cx="5916603" cy="0"/>
            </a:xfrm>
            <a:prstGeom prst="straightConnector1">
              <a:avLst/>
            </a:prstGeom>
            <a:solidFill>
              <a:srgbClr val="126082"/>
            </a:solidFill>
            <a:ln cap="flat" cmpd="sng" w="19050">
              <a:solidFill>
                <a:srgbClr val="126082"/>
              </a:solidFill>
              <a:prstDash val="solid"/>
              <a:miter lim="800000"/>
              <a:headEnd len="sm" w="sm" type="none"/>
              <a:tailEnd len="sm" w="sm" type="none"/>
            </a:ln>
          </p:spPr>
        </p:cxnSp>
        <p:sp>
          <p:nvSpPr>
            <p:cNvPr id="161" name="Google Shape;161;p26"/>
            <p:cNvSpPr/>
            <p:nvPr/>
          </p:nvSpPr>
          <p:spPr>
            <a:xfrm>
              <a:off x="0" y="3120389"/>
              <a:ext cx="5916603" cy="62407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2" name="Google Shape;162;p26"/>
            <p:cNvSpPr txBox="1"/>
            <p:nvPr/>
          </p:nvSpPr>
          <p:spPr>
            <a:xfrm>
              <a:off x="0" y="3120389"/>
              <a:ext cx="5916603" cy="624077"/>
            </a:xfrm>
            <a:prstGeom prst="rect">
              <a:avLst/>
            </a:prstGeom>
            <a:noFill/>
            <a:ln>
              <a:noFill/>
            </a:ln>
          </p:spPr>
          <p:txBody>
            <a:bodyPr anchorCtr="0" anchor="t" bIns="71450" lIns="71450" spcFirstLastPara="1" rIns="71450" wrap="square" tIns="71450">
              <a:normAutofit/>
            </a:bodyPr>
            <a:lstStyle/>
            <a:p>
              <a:pPr indent="0" lvl="0" marL="0" marR="0" rtl="0" algn="l">
                <a:lnSpc>
                  <a:spcPct val="90000"/>
                </a:lnSpc>
                <a:spcBef>
                  <a:spcPts val="0"/>
                </a:spcBef>
                <a:spcAft>
                  <a:spcPts val="0"/>
                </a:spcAft>
                <a:buClr>
                  <a:schemeClr val="dk1"/>
                </a:buClr>
                <a:buSzPts val="1900"/>
                <a:buFont typeface="Arial"/>
                <a:buNone/>
              </a:pPr>
              <a:r>
                <a:rPr b="0" i="0" lang="uk" sz="1900" u="none" cap="none" strike="noStrike">
                  <a:solidFill>
                    <a:schemeClr val="dk1"/>
                  </a:solidFill>
                  <a:latin typeface="Arial"/>
                  <a:ea typeface="Arial"/>
                  <a:cs typeface="Arial"/>
                  <a:sym typeface="Arial"/>
                </a:rPr>
                <a:t>Промптинг та інженерія підказок.</a:t>
              </a:r>
              <a:endParaRPr b="0" i="0" sz="1900" u="none" cap="none" strike="noStrike">
                <a:solidFill>
                  <a:schemeClr val="dk1"/>
                </a:solidFill>
                <a:latin typeface="Arial"/>
                <a:ea typeface="Arial"/>
                <a:cs typeface="Arial"/>
                <a:sym typeface="Arial"/>
              </a:endParaRPr>
            </a:p>
          </p:txBody>
        </p:sp>
        <p:cxnSp>
          <p:nvCxnSpPr>
            <p:cNvPr id="163" name="Google Shape;163;p26"/>
            <p:cNvCxnSpPr/>
            <p:nvPr/>
          </p:nvCxnSpPr>
          <p:spPr>
            <a:xfrm>
              <a:off x="0" y="3744467"/>
              <a:ext cx="5916603" cy="0"/>
            </a:xfrm>
            <a:prstGeom prst="straightConnector1">
              <a:avLst/>
            </a:prstGeom>
            <a:solidFill>
              <a:srgbClr val="126082"/>
            </a:solidFill>
            <a:ln cap="flat" cmpd="sng" w="19050">
              <a:solidFill>
                <a:srgbClr val="126082"/>
              </a:solidFill>
              <a:prstDash val="solid"/>
              <a:miter lim="800000"/>
              <a:headEnd len="sm" w="sm" type="none"/>
              <a:tailEnd len="sm" w="sm" type="none"/>
            </a:ln>
          </p:spPr>
        </p:cxnSp>
        <p:sp>
          <p:nvSpPr>
            <p:cNvPr id="164" name="Google Shape;164;p26"/>
            <p:cNvSpPr/>
            <p:nvPr/>
          </p:nvSpPr>
          <p:spPr>
            <a:xfrm>
              <a:off x="0" y="3744467"/>
              <a:ext cx="5916603" cy="62407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5" name="Google Shape;165;p26"/>
            <p:cNvSpPr txBox="1"/>
            <p:nvPr/>
          </p:nvSpPr>
          <p:spPr>
            <a:xfrm>
              <a:off x="0" y="3744467"/>
              <a:ext cx="5916603" cy="624077"/>
            </a:xfrm>
            <a:prstGeom prst="rect">
              <a:avLst/>
            </a:prstGeom>
            <a:noFill/>
            <a:ln>
              <a:noFill/>
            </a:ln>
          </p:spPr>
          <p:txBody>
            <a:bodyPr anchorCtr="0" anchor="t" bIns="71450" lIns="71450" spcFirstLastPara="1" rIns="71450" wrap="square" tIns="71450">
              <a:normAutofit fontScale="92500"/>
            </a:bodyPr>
            <a:lstStyle/>
            <a:p>
              <a:pPr indent="0" lvl="0" marL="0" marR="0" rtl="0" algn="l">
                <a:lnSpc>
                  <a:spcPct val="90000"/>
                </a:lnSpc>
                <a:spcBef>
                  <a:spcPts val="0"/>
                </a:spcBef>
                <a:spcAft>
                  <a:spcPts val="0"/>
                </a:spcAft>
                <a:buClr>
                  <a:schemeClr val="dk1"/>
                </a:buClr>
                <a:buSzPct val="100000"/>
                <a:buFont typeface="Arial"/>
                <a:buNone/>
              </a:pPr>
              <a:r>
                <a:rPr b="0" i="0" lang="uk" sz="1900" u="none" cap="none" strike="noStrike">
                  <a:solidFill>
                    <a:schemeClr val="dk1"/>
                  </a:solidFill>
                  <a:latin typeface="Arial"/>
                  <a:ea typeface="Arial"/>
                  <a:cs typeface="Arial"/>
                  <a:sym typeface="Arial"/>
                </a:rPr>
                <a:t>RLHF – навчання зі зворотним зв'язком.</a:t>
              </a:r>
              <a:endParaRPr b="0" i="0" sz="1900" u="none" cap="none" strike="noStrike">
                <a:solidFill>
                  <a:schemeClr val="dk1"/>
                </a:solidFill>
                <a:latin typeface="Arial"/>
                <a:ea typeface="Arial"/>
                <a:cs typeface="Arial"/>
                <a:sym typeface="Arial"/>
              </a:endParaRPr>
            </a:p>
          </p:txBody>
        </p:sp>
        <p:cxnSp>
          <p:nvCxnSpPr>
            <p:cNvPr id="166" name="Google Shape;166;p26"/>
            <p:cNvCxnSpPr/>
            <p:nvPr/>
          </p:nvCxnSpPr>
          <p:spPr>
            <a:xfrm>
              <a:off x="0" y="4368545"/>
              <a:ext cx="5916603" cy="0"/>
            </a:xfrm>
            <a:prstGeom prst="straightConnector1">
              <a:avLst/>
            </a:prstGeom>
            <a:solidFill>
              <a:srgbClr val="126082"/>
            </a:solidFill>
            <a:ln cap="flat" cmpd="sng" w="19050">
              <a:solidFill>
                <a:srgbClr val="126082"/>
              </a:solidFill>
              <a:prstDash val="solid"/>
              <a:miter lim="800000"/>
              <a:headEnd len="sm" w="sm" type="none"/>
              <a:tailEnd len="sm" w="sm" type="none"/>
            </a:ln>
          </p:spPr>
        </p:cxnSp>
        <p:sp>
          <p:nvSpPr>
            <p:cNvPr id="167" name="Google Shape;167;p26"/>
            <p:cNvSpPr/>
            <p:nvPr/>
          </p:nvSpPr>
          <p:spPr>
            <a:xfrm>
              <a:off x="0" y="4368545"/>
              <a:ext cx="5916603" cy="62407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8" name="Google Shape;168;p26"/>
            <p:cNvSpPr txBox="1"/>
            <p:nvPr/>
          </p:nvSpPr>
          <p:spPr>
            <a:xfrm>
              <a:off x="0" y="4368545"/>
              <a:ext cx="5916603" cy="624077"/>
            </a:xfrm>
            <a:prstGeom prst="rect">
              <a:avLst/>
            </a:prstGeom>
            <a:noFill/>
            <a:ln>
              <a:noFill/>
            </a:ln>
          </p:spPr>
          <p:txBody>
            <a:bodyPr anchorCtr="0" anchor="t" bIns="71450" lIns="71450" spcFirstLastPara="1" rIns="71450" wrap="square" tIns="71450">
              <a:normAutofit fontScale="92500"/>
            </a:bodyPr>
            <a:lstStyle/>
            <a:p>
              <a:pPr indent="0" lvl="0" marL="0" marR="0" rtl="0" algn="l">
                <a:lnSpc>
                  <a:spcPct val="90000"/>
                </a:lnSpc>
                <a:spcBef>
                  <a:spcPts val="0"/>
                </a:spcBef>
                <a:spcAft>
                  <a:spcPts val="0"/>
                </a:spcAft>
                <a:buClr>
                  <a:schemeClr val="dk1"/>
                </a:buClr>
                <a:buSzPct val="100000"/>
                <a:buFont typeface="Arial"/>
                <a:buNone/>
              </a:pPr>
              <a:r>
                <a:rPr b="0" i="0" lang="uk" sz="1900" u="none" cap="none" strike="noStrike">
                  <a:solidFill>
                    <a:schemeClr val="dk1"/>
                  </a:solidFill>
                  <a:latin typeface="Arial"/>
                  <a:ea typeface="Arial"/>
                  <a:cs typeface="Arial"/>
                  <a:sym typeface="Arial"/>
                </a:rPr>
                <a:t>Практичні приклади (Hugging Face, API).</a:t>
              </a:r>
              <a:endParaRPr sz="11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2" name="Shape 172"/>
        <p:cNvGrpSpPr/>
        <p:nvPr/>
      </p:nvGrpSpPr>
      <p:grpSpPr>
        <a:xfrm>
          <a:off x="0" y="0"/>
          <a:ext cx="0" cy="0"/>
          <a:chOff x="0" y="0"/>
          <a:chExt cx="0" cy="0"/>
        </a:xfrm>
      </p:grpSpPr>
      <p:sp>
        <p:nvSpPr>
          <p:cNvPr id="173" name="Google Shape;173;p27"/>
          <p:cNvSpPr/>
          <p:nvPr/>
        </p:nvSpPr>
        <p:spPr>
          <a:xfrm>
            <a:off x="0" y="0"/>
            <a:ext cx="9143999" cy="5143024"/>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4" name="Google Shape;174;p27"/>
          <p:cNvSpPr txBox="1"/>
          <p:nvPr>
            <p:ph type="title"/>
          </p:nvPr>
        </p:nvSpPr>
        <p:spPr>
          <a:xfrm>
            <a:off x="483798" y="394487"/>
            <a:ext cx="3212237" cy="900271"/>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Play"/>
              <a:buNone/>
            </a:pPr>
            <a:r>
              <a:rPr b="1" lang="uk" sz="2700"/>
              <a:t>Що таке великі мовні моделі?</a:t>
            </a:r>
            <a:endParaRPr sz="2700"/>
          </a:p>
        </p:txBody>
      </p:sp>
      <p:sp>
        <p:nvSpPr>
          <p:cNvPr id="175" name="Google Shape;175;p27"/>
          <p:cNvSpPr/>
          <p:nvPr/>
        </p:nvSpPr>
        <p:spPr>
          <a:xfrm flipH="1">
            <a:off x="462400" y="1458685"/>
            <a:ext cx="3017520" cy="20574"/>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6" name="Google Shape;176;p27"/>
          <p:cNvSpPr/>
          <p:nvPr/>
        </p:nvSpPr>
        <p:spPr>
          <a:xfrm rot="5400000">
            <a:off x="-169382" y="4540020"/>
            <a:ext cx="555498" cy="115593"/>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7" name="Google Shape;177;p27"/>
          <p:cNvSpPr/>
          <p:nvPr/>
        </p:nvSpPr>
        <p:spPr>
          <a:xfrm rot="5400000">
            <a:off x="4428692" y="161401"/>
            <a:ext cx="555498" cy="8875118"/>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78" name="Google Shape;178;p27"/>
          <p:cNvSpPr/>
          <p:nvPr/>
        </p:nvSpPr>
        <p:spPr>
          <a:xfrm>
            <a:off x="4272595" y="266219"/>
            <a:ext cx="4638730" cy="4436409"/>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The Large Language Model Landscape | by Cobus Greyling | Medium" id="179" name="Google Shape;179;p27"/>
          <p:cNvPicPr preferRelativeResize="0"/>
          <p:nvPr/>
        </p:nvPicPr>
        <p:blipFill rotWithShape="1">
          <a:blip r:embed="rId3">
            <a:alphaModFix/>
          </a:blip>
          <a:srcRect b="0" l="0" r="0" t="0"/>
          <a:stretch/>
        </p:blipFill>
        <p:spPr>
          <a:xfrm>
            <a:off x="4490803" y="1297264"/>
            <a:ext cx="4221014" cy="2374319"/>
          </a:xfrm>
          <a:prstGeom prst="rect">
            <a:avLst/>
          </a:prstGeom>
          <a:noFill/>
          <a:ln>
            <a:noFill/>
          </a:ln>
          <a:effectLst>
            <a:outerShdw blurRad="292100" rotWithShape="0" algn="tl" dir="2700000" dist="139700">
              <a:srgbClr val="333333">
                <a:alpha val="65098"/>
              </a:srgbClr>
            </a:outerShdw>
          </a:effectLst>
        </p:spPr>
      </p:pic>
      <p:grpSp>
        <p:nvGrpSpPr>
          <p:cNvPr id="180" name="Google Shape;180;p27"/>
          <p:cNvGrpSpPr/>
          <p:nvPr/>
        </p:nvGrpSpPr>
        <p:grpSpPr>
          <a:xfrm>
            <a:off x="483799" y="1524611"/>
            <a:ext cx="3212238" cy="2631385"/>
            <a:chOff x="0" y="1714"/>
            <a:chExt cx="4282984" cy="3508513"/>
          </a:xfrm>
        </p:grpSpPr>
        <p:cxnSp>
          <p:nvCxnSpPr>
            <p:cNvPr id="181" name="Google Shape;181;p27"/>
            <p:cNvCxnSpPr/>
            <p:nvPr/>
          </p:nvCxnSpPr>
          <p:spPr>
            <a:xfrm>
              <a:off x="0" y="1714"/>
              <a:ext cx="4282984" cy="0"/>
            </a:xfrm>
            <a:prstGeom prst="straightConnector1">
              <a:avLst/>
            </a:prstGeom>
            <a:solidFill>
              <a:srgbClr val="0C9ED5"/>
            </a:solidFill>
            <a:ln cap="flat" cmpd="sng" w="19050">
              <a:solidFill>
                <a:srgbClr val="0C9ED5"/>
              </a:solidFill>
              <a:prstDash val="solid"/>
              <a:miter lim="800000"/>
              <a:headEnd len="sm" w="sm" type="none"/>
              <a:tailEnd len="sm" w="sm" type="none"/>
            </a:ln>
          </p:spPr>
        </p:cxnSp>
        <p:sp>
          <p:nvSpPr>
            <p:cNvPr id="182" name="Google Shape;182;p27"/>
            <p:cNvSpPr/>
            <p:nvPr/>
          </p:nvSpPr>
          <p:spPr>
            <a:xfrm>
              <a:off x="0" y="1714"/>
              <a:ext cx="4282984" cy="1169504"/>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3" name="Google Shape;183;p27"/>
            <p:cNvSpPr txBox="1"/>
            <p:nvPr/>
          </p:nvSpPr>
          <p:spPr>
            <a:xfrm>
              <a:off x="0" y="1714"/>
              <a:ext cx="4282984" cy="1169504"/>
            </a:xfrm>
            <a:prstGeom prst="rect">
              <a:avLst/>
            </a:prstGeom>
            <a:noFill/>
            <a:ln>
              <a:noFill/>
            </a:ln>
          </p:spPr>
          <p:txBody>
            <a:bodyPr anchorCtr="0" anchor="t" bIns="65725" lIns="65725" spcFirstLastPara="1" rIns="65725" wrap="square" tIns="65725">
              <a:normAutofit/>
            </a:bodyPr>
            <a:lstStyle/>
            <a:p>
              <a:pPr indent="0" lvl="0" marL="0" marR="0" rtl="0" algn="l">
                <a:lnSpc>
                  <a:spcPct val="90000"/>
                </a:lnSpc>
                <a:spcBef>
                  <a:spcPts val="0"/>
                </a:spcBef>
                <a:spcAft>
                  <a:spcPts val="0"/>
                </a:spcAft>
                <a:buClr>
                  <a:schemeClr val="dk1"/>
                </a:buClr>
                <a:buSzPts val="1700"/>
                <a:buFont typeface="Arial"/>
                <a:buNone/>
              </a:pPr>
              <a:r>
                <a:rPr b="0" i="0" lang="uk" sz="1700" u="none" cap="none" strike="noStrike">
                  <a:solidFill>
                    <a:schemeClr val="dk1"/>
                  </a:solidFill>
                  <a:latin typeface="Arial"/>
                  <a:ea typeface="Arial"/>
                  <a:cs typeface="Arial"/>
                  <a:sym typeface="Arial"/>
                </a:rPr>
                <a:t>LLM – нейромережі на основі трансформерів з мільярдами параметрів.</a:t>
              </a:r>
              <a:endParaRPr b="0" i="0" sz="1700" u="none" cap="none" strike="noStrike">
                <a:solidFill>
                  <a:schemeClr val="dk1"/>
                </a:solidFill>
                <a:latin typeface="Arial"/>
                <a:ea typeface="Arial"/>
                <a:cs typeface="Arial"/>
                <a:sym typeface="Arial"/>
              </a:endParaRPr>
            </a:p>
          </p:txBody>
        </p:sp>
        <p:cxnSp>
          <p:nvCxnSpPr>
            <p:cNvPr id="184" name="Google Shape;184;p27"/>
            <p:cNvCxnSpPr/>
            <p:nvPr/>
          </p:nvCxnSpPr>
          <p:spPr>
            <a:xfrm>
              <a:off x="0" y="1171219"/>
              <a:ext cx="4282984" cy="0"/>
            </a:xfrm>
            <a:prstGeom prst="straightConnector1">
              <a:avLst/>
            </a:prstGeom>
            <a:solidFill>
              <a:srgbClr val="0C9ED5"/>
            </a:solidFill>
            <a:ln cap="flat" cmpd="sng" w="19050">
              <a:solidFill>
                <a:srgbClr val="0C9ED5"/>
              </a:solidFill>
              <a:prstDash val="solid"/>
              <a:miter lim="800000"/>
              <a:headEnd len="sm" w="sm" type="none"/>
              <a:tailEnd len="sm" w="sm" type="none"/>
            </a:ln>
          </p:spPr>
        </p:cxnSp>
        <p:sp>
          <p:nvSpPr>
            <p:cNvPr id="185" name="Google Shape;185;p27"/>
            <p:cNvSpPr/>
            <p:nvPr/>
          </p:nvSpPr>
          <p:spPr>
            <a:xfrm>
              <a:off x="0" y="1171219"/>
              <a:ext cx="4282984" cy="1169504"/>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6" name="Google Shape;186;p27"/>
            <p:cNvSpPr txBox="1"/>
            <p:nvPr/>
          </p:nvSpPr>
          <p:spPr>
            <a:xfrm>
              <a:off x="0" y="1171219"/>
              <a:ext cx="4282984" cy="1169504"/>
            </a:xfrm>
            <a:prstGeom prst="rect">
              <a:avLst/>
            </a:prstGeom>
            <a:noFill/>
            <a:ln>
              <a:noFill/>
            </a:ln>
          </p:spPr>
          <p:txBody>
            <a:bodyPr anchorCtr="0" anchor="t" bIns="65725" lIns="65725" spcFirstLastPara="1" rIns="65725" wrap="square" tIns="65725">
              <a:normAutofit/>
            </a:bodyPr>
            <a:lstStyle/>
            <a:p>
              <a:pPr indent="0" lvl="0" marL="0" marR="0" rtl="0" algn="l">
                <a:lnSpc>
                  <a:spcPct val="90000"/>
                </a:lnSpc>
                <a:spcBef>
                  <a:spcPts val="0"/>
                </a:spcBef>
                <a:spcAft>
                  <a:spcPts val="0"/>
                </a:spcAft>
                <a:buClr>
                  <a:schemeClr val="dk1"/>
                </a:buClr>
                <a:buSzPts val="1700"/>
                <a:buFont typeface="Arial"/>
                <a:buNone/>
              </a:pPr>
              <a:r>
                <a:rPr b="0" i="0" lang="uk" sz="1700" u="none" cap="none" strike="noStrike">
                  <a:solidFill>
                    <a:schemeClr val="dk1"/>
                  </a:solidFill>
                  <a:latin typeface="Arial"/>
                  <a:ea typeface="Arial"/>
                  <a:cs typeface="Arial"/>
                  <a:sym typeface="Arial"/>
                </a:rPr>
                <a:t>Навчаються на величезних обсягах тексту (терабайти).</a:t>
              </a:r>
              <a:endParaRPr b="0" i="0" sz="1700" u="none" cap="none" strike="noStrike">
                <a:solidFill>
                  <a:schemeClr val="dk1"/>
                </a:solidFill>
                <a:latin typeface="Arial"/>
                <a:ea typeface="Arial"/>
                <a:cs typeface="Arial"/>
                <a:sym typeface="Arial"/>
              </a:endParaRPr>
            </a:p>
          </p:txBody>
        </p:sp>
        <p:cxnSp>
          <p:nvCxnSpPr>
            <p:cNvPr id="187" name="Google Shape;187;p27"/>
            <p:cNvCxnSpPr/>
            <p:nvPr/>
          </p:nvCxnSpPr>
          <p:spPr>
            <a:xfrm>
              <a:off x="0" y="2340723"/>
              <a:ext cx="4282984" cy="0"/>
            </a:xfrm>
            <a:prstGeom prst="straightConnector1">
              <a:avLst/>
            </a:prstGeom>
            <a:solidFill>
              <a:srgbClr val="0C9ED5"/>
            </a:solidFill>
            <a:ln cap="flat" cmpd="sng" w="19050">
              <a:solidFill>
                <a:srgbClr val="0C9ED5"/>
              </a:solidFill>
              <a:prstDash val="solid"/>
              <a:miter lim="800000"/>
              <a:headEnd len="sm" w="sm" type="none"/>
              <a:tailEnd len="sm" w="sm" type="none"/>
            </a:ln>
          </p:spPr>
        </p:cxnSp>
        <p:sp>
          <p:nvSpPr>
            <p:cNvPr id="188" name="Google Shape;188;p27"/>
            <p:cNvSpPr/>
            <p:nvPr/>
          </p:nvSpPr>
          <p:spPr>
            <a:xfrm>
              <a:off x="0" y="2340723"/>
              <a:ext cx="4282984" cy="1169504"/>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9" name="Google Shape;189;p27"/>
            <p:cNvSpPr txBox="1"/>
            <p:nvPr/>
          </p:nvSpPr>
          <p:spPr>
            <a:xfrm>
              <a:off x="0" y="2340723"/>
              <a:ext cx="4282984" cy="1169504"/>
            </a:xfrm>
            <a:prstGeom prst="rect">
              <a:avLst/>
            </a:prstGeom>
            <a:noFill/>
            <a:ln>
              <a:noFill/>
            </a:ln>
          </p:spPr>
          <p:txBody>
            <a:bodyPr anchorCtr="0" anchor="t" bIns="65725" lIns="65725" spcFirstLastPara="1" rIns="65725" wrap="square" tIns="65725">
              <a:normAutofit/>
            </a:bodyPr>
            <a:lstStyle/>
            <a:p>
              <a:pPr indent="0" lvl="0" marL="0" marR="0" rtl="0" algn="l">
                <a:lnSpc>
                  <a:spcPct val="90000"/>
                </a:lnSpc>
                <a:spcBef>
                  <a:spcPts val="0"/>
                </a:spcBef>
                <a:spcAft>
                  <a:spcPts val="0"/>
                </a:spcAft>
                <a:buClr>
                  <a:schemeClr val="dk1"/>
                </a:buClr>
                <a:buSzPts val="1700"/>
                <a:buFont typeface="Arial"/>
                <a:buNone/>
              </a:pPr>
              <a:r>
                <a:rPr b="0" i="0" lang="uk" sz="1700" u="none" cap="none" strike="noStrike">
                  <a:solidFill>
                    <a:schemeClr val="dk1"/>
                  </a:solidFill>
                  <a:latin typeface="Arial"/>
                  <a:ea typeface="Arial"/>
                  <a:cs typeface="Arial"/>
                  <a:sym typeface="Arial"/>
                </a:rPr>
                <a:t>Здатні: генерувати, перекладати, відповідати, узагальнювати, писати код.</a:t>
              </a:r>
              <a:endParaRPr b="0" i="0" sz="1700" u="none" cap="none" strike="noStrike">
                <a:solidFill>
                  <a:schemeClr val="dk1"/>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3" name="Shape 193"/>
        <p:cNvGrpSpPr/>
        <p:nvPr/>
      </p:nvGrpSpPr>
      <p:grpSpPr>
        <a:xfrm>
          <a:off x="0" y="0"/>
          <a:ext cx="0" cy="0"/>
          <a:chOff x="0" y="0"/>
          <a:chExt cx="0" cy="0"/>
        </a:xfrm>
      </p:grpSpPr>
      <p:sp>
        <p:nvSpPr>
          <p:cNvPr id="194" name="Google Shape;194;p28"/>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5" name="Google Shape;195;p28"/>
          <p:cNvSpPr/>
          <p:nvPr/>
        </p:nvSpPr>
        <p:spPr>
          <a:xfrm>
            <a:off x="-1" y="0"/>
            <a:ext cx="3341755" cy="5143500"/>
          </a:xfrm>
          <a:custGeom>
            <a:rect b="b" l="l" r="r" t="t"/>
            <a:pathLst>
              <a:path extrusionOk="0" h="6858000" w="4455673">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solidFill>
            <a:schemeClr val="lt1"/>
          </a:solidFill>
          <a:ln cap="flat" cmpd="sng" w="9525">
            <a:solidFill>
              <a:srgbClr val="EFEFEF"/>
            </a:solidFill>
            <a:prstDash val="solid"/>
            <a:miter lim="800000"/>
            <a:headEnd len="sm" w="sm" type="none"/>
            <a:tailEnd len="sm" w="sm" type="none"/>
          </a:ln>
          <a:effectLst>
            <a:outerShdw blurRad="88900" rotWithShape="0" algn="l" dist="38100">
              <a:srgbClr val="D8D8D8">
                <a:alpha val="50196"/>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96" name="Google Shape;196;p28"/>
          <p:cNvSpPr/>
          <p:nvPr/>
        </p:nvSpPr>
        <p:spPr>
          <a:xfrm>
            <a:off x="0" y="0"/>
            <a:ext cx="3334897" cy="5143500"/>
          </a:xfrm>
          <a:custGeom>
            <a:rect b="b" l="l" r="r" t="t"/>
            <a:pathLst>
              <a:path extrusionOk="0" h="6858000" w="4446529">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97" name="Google Shape;197;p28"/>
          <p:cNvSpPr txBox="1"/>
          <p:nvPr>
            <p:ph type="title"/>
          </p:nvPr>
        </p:nvSpPr>
        <p:spPr>
          <a:xfrm>
            <a:off x="278321" y="870966"/>
            <a:ext cx="2578608" cy="92925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800"/>
              <a:buFont typeface="Play"/>
              <a:buNone/>
            </a:pPr>
            <a:r>
              <a:rPr b="1" lang="uk" sz="1800"/>
              <a:t>Еволюція: від трансформерів до LLM</a:t>
            </a:r>
            <a:br>
              <a:rPr b="1" lang="uk" sz="1800"/>
            </a:br>
            <a:endParaRPr sz="1800"/>
          </a:p>
        </p:txBody>
      </p:sp>
      <p:sp>
        <p:nvSpPr>
          <p:cNvPr id="198" name="Google Shape;198;p28"/>
          <p:cNvSpPr/>
          <p:nvPr/>
        </p:nvSpPr>
        <p:spPr>
          <a:xfrm>
            <a:off x="0" y="1069909"/>
            <a:ext cx="96012" cy="490427"/>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sp>
        <p:nvSpPr>
          <p:cNvPr id="199" name="Google Shape;199;p28"/>
          <p:cNvSpPr/>
          <p:nvPr/>
        </p:nvSpPr>
        <p:spPr>
          <a:xfrm>
            <a:off x="296920" y="1832610"/>
            <a:ext cx="2537460" cy="13716"/>
          </a:xfrm>
          <a:prstGeom prst="rect">
            <a:avLst/>
          </a:prstGeom>
          <a:solidFill>
            <a:srgbClr val="D5D5D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pic>
        <p:nvPicPr>
          <p:cNvPr descr="Language Models: From GPT to LLaMA | by Saurabh Harak | Medium" id="200" name="Google Shape;200;p28"/>
          <p:cNvPicPr preferRelativeResize="0"/>
          <p:nvPr/>
        </p:nvPicPr>
        <p:blipFill rotWithShape="1">
          <a:blip r:embed="rId3">
            <a:alphaModFix/>
          </a:blip>
          <a:srcRect b="0" l="0" r="0" t="0"/>
          <a:stretch/>
        </p:blipFill>
        <p:spPr>
          <a:xfrm>
            <a:off x="3334897" y="1273394"/>
            <a:ext cx="5765986" cy="2998312"/>
          </a:xfrm>
          <a:prstGeom prst="rect">
            <a:avLst/>
          </a:prstGeom>
          <a:noFill/>
          <a:ln>
            <a:noFill/>
          </a:ln>
          <a:effectLst>
            <a:outerShdw blurRad="292100" rotWithShape="0" algn="tl" dir="2700000" dist="139700">
              <a:srgbClr val="333333">
                <a:alpha val="65098"/>
              </a:srgbClr>
            </a:outerShdw>
          </a:effectLst>
        </p:spPr>
      </p:pic>
      <p:grpSp>
        <p:nvGrpSpPr>
          <p:cNvPr id="201" name="Google Shape;201;p28"/>
          <p:cNvGrpSpPr/>
          <p:nvPr/>
        </p:nvGrpSpPr>
        <p:grpSpPr>
          <a:xfrm>
            <a:off x="150725" y="2000841"/>
            <a:ext cx="2901461" cy="2098629"/>
            <a:chOff x="0" y="341"/>
            <a:chExt cx="3868615" cy="2798172"/>
          </a:xfrm>
        </p:grpSpPr>
        <p:cxnSp>
          <p:nvCxnSpPr>
            <p:cNvPr id="202" name="Google Shape;202;p28"/>
            <p:cNvCxnSpPr/>
            <p:nvPr/>
          </p:nvCxnSpPr>
          <p:spPr>
            <a:xfrm>
              <a:off x="0" y="341"/>
              <a:ext cx="3868615" cy="0"/>
            </a:xfrm>
            <a:prstGeom prst="straightConnector1">
              <a:avLst/>
            </a:prstGeom>
            <a:gradFill>
              <a:gsLst>
                <a:gs pos="0">
                  <a:srgbClr val="EC8154"/>
                </a:gs>
                <a:gs pos="50000">
                  <a:srgbClr val="F16E27"/>
                </a:gs>
                <a:gs pos="100000">
                  <a:srgbClr val="DF5D18"/>
                </a:gs>
              </a:gsLst>
              <a:lin ang="5400000" scaled="0"/>
            </a:gradFill>
            <a:ln cap="flat" cmpd="sng" w="12700">
              <a:solidFill>
                <a:srgbClr val="E97131"/>
              </a:solidFill>
              <a:prstDash val="solid"/>
              <a:miter lim="800000"/>
              <a:headEnd len="sm" w="sm" type="none"/>
              <a:tailEnd len="sm" w="sm" type="none"/>
            </a:ln>
            <a:effectLst>
              <a:outerShdw blurRad="57150" rotWithShape="0" algn="ctr" dir="5400000" dist="19050">
                <a:srgbClr val="000000">
                  <a:alpha val="63137"/>
                </a:srgbClr>
              </a:outerShdw>
            </a:effectLst>
          </p:spPr>
        </p:cxnSp>
        <p:sp>
          <p:nvSpPr>
            <p:cNvPr id="203" name="Google Shape;203;p28"/>
            <p:cNvSpPr/>
            <p:nvPr/>
          </p:nvSpPr>
          <p:spPr>
            <a:xfrm>
              <a:off x="0" y="341"/>
              <a:ext cx="3868615" cy="559634"/>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4" name="Google Shape;204;p28"/>
            <p:cNvSpPr txBox="1"/>
            <p:nvPr/>
          </p:nvSpPr>
          <p:spPr>
            <a:xfrm>
              <a:off x="0" y="341"/>
              <a:ext cx="3868615" cy="559634"/>
            </a:xfrm>
            <a:prstGeom prst="rect">
              <a:avLst/>
            </a:prstGeom>
            <a:noFill/>
            <a:ln>
              <a:noFill/>
            </a:ln>
          </p:spPr>
          <p:txBody>
            <a:bodyPr anchorCtr="0" anchor="t" bIns="42875" lIns="42875" spcFirstLastPara="1" rIns="42875" wrap="square" tIns="42875">
              <a:normAutofit/>
            </a:bodyPr>
            <a:lstStyle/>
            <a:p>
              <a:pPr indent="0" lvl="0" marL="0" marR="0" rtl="0" algn="l">
                <a:lnSpc>
                  <a:spcPct val="90000"/>
                </a:lnSpc>
                <a:spcBef>
                  <a:spcPts val="0"/>
                </a:spcBef>
                <a:spcAft>
                  <a:spcPts val="0"/>
                </a:spcAft>
                <a:buClr>
                  <a:schemeClr val="dk1"/>
                </a:buClr>
                <a:buSzPts val="1100"/>
                <a:buFont typeface="Arial"/>
                <a:buNone/>
              </a:pPr>
              <a:r>
                <a:rPr b="0" i="0" lang="uk" sz="1100" u="none" cap="none" strike="noStrike">
                  <a:solidFill>
                    <a:schemeClr val="dk1"/>
                  </a:solidFill>
                  <a:latin typeface="Arial"/>
                  <a:ea typeface="Arial"/>
                  <a:cs typeface="Arial"/>
                  <a:sym typeface="Arial"/>
                </a:rPr>
                <a:t>2017: Transformer (Vaswani et al.) – архітектура.</a:t>
              </a:r>
              <a:endParaRPr b="0" i="0" sz="1100" u="none" cap="none" strike="noStrike">
                <a:solidFill>
                  <a:schemeClr val="dk1"/>
                </a:solidFill>
                <a:latin typeface="Arial"/>
                <a:ea typeface="Arial"/>
                <a:cs typeface="Arial"/>
                <a:sym typeface="Arial"/>
              </a:endParaRPr>
            </a:p>
          </p:txBody>
        </p:sp>
        <p:cxnSp>
          <p:nvCxnSpPr>
            <p:cNvPr id="205" name="Google Shape;205;p28"/>
            <p:cNvCxnSpPr/>
            <p:nvPr/>
          </p:nvCxnSpPr>
          <p:spPr>
            <a:xfrm>
              <a:off x="0" y="559975"/>
              <a:ext cx="3868615" cy="0"/>
            </a:xfrm>
            <a:prstGeom prst="straightConnector1">
              <a:avLst/>
            </a:prstGeom>
            <a:gradFill>
              <a:gsLst>
                <a:gs pos="0">
                  <a:srgbClr val="497D4C"/>
                </a:gs>
                <a:gs pos="50000">
                  <a:srgbClr val="116F1D"/>
                </a:gs>
                <a:gs pos="100000">
                  <a:srgbClr val="0B6417"/>
                </a:gs>
              </a:gsLst>
              <a:lin ang="5400000" scaled="0"/>
            </a:gradFill>
            <a:ln cap="flat" cmpd="sng" w="12700">
              <a:solidFill>
                <a:srgbClr val="176B22"/>
              </a:solidFill>
              <a:prstDash val="solid"/>
              <a:miter lim="800000"/>
              <a:headEnd len="sm" w="sm" type="none"/>
              <a:tailEnd len="sm" w="sm" type="none"/>
            </a:ln>
            <a:effectLst>
              <a:outerShdw blurRad="57150" rotWithShape="0" algn="ctr" dir="5400000" dist="19050">
                <a:srgbClr val="000000">
                  <a:alpha val="63137"/>
                </a:srgbClr>
              </a:outerShdw>
            </a:effectLst>
          </p:spPr>
        </p:cxnSp>
        <p:sp>
          <p:nvSpPr>
            <p:cNvPr id="206" name="Google Shape;206;p28"/>
            <p:cNvSpPr/>
            <p:nvPr/>
          </p:nvSpPr>
          <p:spPr>
            <a:xfrm>
              <a:off x="0" y="559975"/>
              <a:ext cx="3868615" cy="559634"/>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7" name="Google Shape;207;p28"/>
            <p:cNvSpPr txBox="1"/>
            <p:nvPr/>
          </p:nvSpPr>
          <p:spPr>
            <a:xfrm>
              <a:off x="0" y="559975"/>
              <a:ext cx="3868615" cy="559634"/>
            </a:xfrm>
            <a:prstGeom prst="rect">
              <a:avLst/>
            </a:prstGeom>
            <a:noFill/>
            <a:ln>
              <a:noFill/>
            </a:ln>
          </p:spPr>
          <p:txBody>
            <a:bodyPr anchorCtr="0" anchor="t" bIns="42875" lIns="42875" spcFirstLastPara="1" rIns="42875" wrap="square" tIns="42875">
              <a:noAutofit/>
            </a:bodyPr>
            <a:lstStyle/>
            <a:p>
              <a:pPr indent="0" lvl="0" marL="0" marR="0" rtl="0" algn="l">
                <a:lnSpc>
                  <a:spcPct val="90000"/>
                </a:lnSpc>
                <a:spcBef>
                  <a:spcPts val="0"/>
                </a:spcBef>
                <a:spcAft>
                  <a:spcPts val="0"/>
                </a:spcAft>
                <a:buClr>
                  <a:schemeClr val="dk1"/>
                </a:buClr>
                <a:buSzPts val="1100"/>
                <a:buFont typeface="Arial"/>
                <a:buNone/>
              </a:pPr>
              <a:r>
                <a:rPr b="0" i="0" lang="uk" sz="1100" u="none" cap="none" strike="noStrike">
                  <a:solidFill>
                    <a:schemeClr val="dk1"/>
                  </a:solidFill>
                  <a:latin typeface="Arial"/>
                  <a:ea typeface="Arial"/>
                  <a:cs typeface="Arial"/>
                  <a:sym typeface="Arial"/>
                </a:rPr>
                <a:t>2018: BERT (Google) – розуміння тексту.</a:t>
              </a:r>
              <a:endParaRPr b="0" i="0" sz="1100" u="none" cap="none" strike="noStrike">
                <a:solidFill>
                  <a:schemeClr val="dk1"/>
                </a:solidFill>
                <a:latin typeface="Arial"/>
                <a:ea typeface="Arial"/>
                <a:cs typeface="Arial"/>
                <a:sym typeface="Arial"/>
              </a:endParaRPr>
            </a:p>
          </p:txBody>
        </p:sp>
        <p:cxnSp>
          <p:nvCxnSpPr>
            <p:cNvPr id="208" name="Google Shape;208;p28"/>
            <p:cNvCxnSpPr/>
            <p:nvPr/>
          </p:nvCxnSpPr>
          <p:spPr>
            <a:xfrm>
              <a:off x="0" y="1119610"/>
              <a:ext cx="3868615" cy="0"/>
            </a:xfrm>
            <a:prstGeom prst="straightConnector1">
              <a:avLst/>
            </a:prstGeom>
            <a:gradFill>
              <a:gsLst>
                <a:gs pos="0">
                  <a:srgbClr val="47A9DE"/>
                </a:gs>
                <a:gs pos="50000">
                  <a:srgbClr val="00A2DF"/>
                </a:gs>
                <a:gs pos="100000">
                  <a:srgbClr val="0093CC"/>
                </a:gs>
              </a:gsLst>
              <a:lin ang="5400000" scaled="0"/>
            </a:gradFill>
            <a:ln cap="flat" cmpd="sng" w="12700">
              <a:solidFill>
                <a:srgbClr val="0C9ED5"/>
              </a:solidFill>
              <a:prstDash val="solid"/>
              <a:miter lim="800000"/>
              <a:headEnd len="sm" w="sm" type="none"/>
              <a:tailEnd len="sm" w="sm" type="none"/>
            </a:ln>
            <a:effectLst>
              <a:outerShdw blurRad="57150" rotWithShape="0" algn="ctr" dir="5400000" dist="19050">
                <a:srgbClr val="000000">
                  <a:alpha val="63137"/>
                </a:srgbClr>
              </a:outerShdw>
            </a:effectLst>
          </p:spPr>
        </p:cxnSp>
        <p:sp>
          <p:nvSpPr>
            <p:cNvPr id="209" name="Google Shape;209;p28"/>
            <p:cNvSpPr/>
            <p:nvPr/>
          </p:nvSpPr>
          <p:spPr>
            <a:xfrm>
              <a:off x="0" y="1119610"/>
              <a:ext cx="3868615" cy="559634"/>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0" name="Google Shape;210;p28"/>
            <p:cNvSpPr txBox="1"/>
            <p:nvPr/>
          </p:nvSpPr>
          <p:spPr>
            <a:xfrm>
              <a:off x="0" y="1119610"/>
              <a:ext cx="3868615" cy="559634"/>
            </a:xfrm>
            <a:prstGeom prst="rect">
              <a:avLst/>
            </a:prstGeom>
            <a:noFill/>
            <a:ln>
              <a:noFill/>
            </a:ln>
          </p:spPr>
          <p:txBody>
            <a:bodyPr anchorCtr="0" anchor="t" bIns="42875" lIns="42875" spcFirstLastPara="1" rIns="42875" wrap="square" tIns="42875">
              <a:noAutofit/>
            </a:bodyPr>
            <a:lstStyle/>
            <a:p>
              <a:pPr indent="0" lvl="0" marL="0" marR="0" rtl="0" algn="l">
                <a:lnSpc>
                  <a:spcPct val="90000"/>
                </a:lnSpc>
                <a:spcBef>
                  <a:spcPts val="0"/>
                </a:spcBef>
                <a:spcAft>
                  <a:spcPts val="0"/>
                </a:spcAft>
                <a:buClr>
                  <a:schemeClr val="dk1"/>
                </a:buClr>
                <a:buSzPts val="1100"/>
                <a:buFont typeface="Arial"/>
                <a:buNone/>
              </a:pPr>
              <a:r>
                <a:rPr b="0" i="0" lang="uk" sz="1100" u="none" cap="none" strike="noStrike">
                  <a:solidFill>
                    <a:schemeClr val="dk1"/>
                  </a:solidFill>
                  <a:latin typeface="Arial"/>
                  <a:ea typeface="Arial"/>
                  <a:cs typeface="Arial"/>
                  <a:sym typeface="Arial"/>
                </a:rPr>
                <a:t>2018: GPT-1 (OpenAI) – генерація.</a:t>
              </a:r>
              <a:endParaRPr b="0" i="0" sz="1100" u="none" cap="none" strike="noStrike">
                <a:solidFill>
                  <a:schemeClr val="dk1"/>
                </a:solidFill>
                <a:latin typeface="Arial"/>
                <a:ea typeface="Arial"/>
                <a:cs typeface="Arial"/>
                <a:sym typeface="Arial"/>
              </a:endParaRPr>
            </a:p>
          </p:txBody>
        </p:sp>
        <p:cxnSp>
          <p:nvCxnSpPr>
            <p:cNvPr id="211" name="Google Shape;211;p28"/>
            <p:cNvCxnSpPr/>
            <p:nvPr/>
          </p:nvCxnSpPr>
          <p:spPr>
            <a:xfrm>
              <a:off x="0" y="1679244"/>
              <a:ext cx="3868615" cy="0"/>
            </a:xfrm>
            <a:prstGeom prst="straightConnector1">
              <a:avLst/>
            </a:prstGeom>
            <a:gradFill>
              <a:gsLst>
                <a:gs pos="0">
                  <a:srgbClr val="AB4E9D"/>
                </a:gs>
                <a:gs pos="50000">
                  <a:srgbClr val="A62094"/>
                </a:gs>
                <a:gs pos="100000">
                  <a:srgbClr val="961886"/>
                </a:gs>
              </a:gsLst>
              <a:lin ang="5400000" scaled="0"/>
            </a:gradFill>
            <a:ln cap="flat" cmpd="sng" w="12700">
              <a:solidFill>
                <a:srgbClr val="A02891"/>
              </a:solidFill>
              <a:prstDash val="solid"/>
              <a:miter lim="800000"/>
              <a:headEnd len="sm" w="sm" type="none"/>
              <a:tailEnd len="sm" w="sm" type="none"/>
            </a:ln>
            <a:effectLst>
              <a:outerShdw blurRad="57150" rotWithShape="0" algn="ctr" dir="5400000" dist="19050">
                <a:srgbClr val="000000">
                  <a:alpha val="63137"/>
                </a:srgbClr>
              </a:outerShdw>
            </a:effectLst>
          </p:spPr>
        </p:cxnSp>
        <p:sp>
          <p:nvSpPr>
            <p:cNvPr id="212" name="Google Shape;212;p28"/>
            <p:cNvSpPr/>
            <p:nvPr/>
          </p:nvSpPr>
          <p:spPr>
            <a:xfrm>
              <a:off x="0" y="1679244"/>
              <a:ext cx="3868615" cy="559634"/>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3" name="Google Shape;213;p28"/>
            <p:cNvSpPr txBox="1"/>
            <p:nvPr/>
          </p:nvSpPr>
          <p:spPr>
            <a:xfrm>
              <a:off x="0" y="1679244"/>
              <a:ext cx="3868615" cy="559634"/>
            </a:xfrm>
            <a:prstGeom prst="rect">
              <a:avLst/>
            </a:prstGeom>
            <a:noFill/>
            <a:ln>
              <a:noFill/>
            </a:ln>
          </p:spPr>
          <p:txBody>
            <a:bodyPr anchorCtr="0" anchor="t" bIns="42875" lIns="42875" spcFirstLastPara="1" rIns="42875" wrap="square" tIns="42875">
              <a:noAutofit/>
            </a:bodyPr>
            <a:lstStyle/>
            <a:p>
              <a:pPr indent="0" lvl="0" marL="0" marR="0" rtl="0" algn="l">
                <a:lnSpc>
                  <a:spcPct val="90000"/>
                </a:lnSpc>
                <a:spcBef>
                  <a:spcPts val="0"/>
                </a:spcBef>
                <a:spcAft>
                  <a:spcPts val="0"/>
                </a:spcAft>
                <a:buClr>
                  <a:schemeClr val="dk1"/>
                </a:buClr>
                <a:buSzPts val="1100"/>
                <a:buFont typeface="Arial"/>
                <a:buNone/>
              </a:pPr>
              <a:r>
                <a:rPr b="0" i="0" lang="uk" sz="1100" u="none" cap="none" strike="noStrike">
                  <a:solidFill>
                    <a:schemeClr val="dk1"/>
                  </a:solidFill>
                  <a:latin typeface="Arial"/>
                  <a:ea typeface="Arial"/>
                  <a:cs typeface="Arial"/>
                  <a:sym typeface="Arial"/>
                </a:rPr>
                <a:t>2020: GPT-3 – 175 млрд параметрів.</a:t>
              </a:r>
              <a:endParaRPr b="0" i="0" sz="1100" u="none" cap="none" strike="noStrike">
                <a:solidFill>
                  <a:schemeClr val="dk1"/>
                </a:solidFill>
                <a:latin typeface="Arial"/>
                <a:ea typeface="Arial"/>
                <a:cs typeface="Arial"/>
                <a:sym typeface="Arial"/>
              </a:endParaRPr>
            </a:p>
          </p:txBody>
        </p:sp>
        <p:cxnSp>
          <p:nvCxnSpPr>
            <p:cNvPr id="214" name="Google Shape;214;p28"/>
            <p:cNvCxnSpPr/>
            <p:nvPr/>
          </p:nvCxnSpPr>
          <p:spPr>
            <a:xfrm>
              <a:off x="0" y="2238879"/>
              <a:ext cx="3868615" cy="0"/>
            </a:xfrm>
            <a:prstGeom prst="straightConnector1">
              <a:avLst/>
            </a:prstGeom>
            <a:gradFill>
              <a:gsLst>
                <a:gs pos="0">
                  <a:srgbClr val="65B150"/>
                </a:gs>
                <a:gs pos="50000">
                  <a:srgbClr val="4AAC24"/>
                </a:gs>
                <a:gs pos="100000">
                  <a:srgbClr val="3F9D1A"/>
                </a:gs>
              </a:gsLst>
              <a:lin ang="5400000" scaled="0"/>
            </a:gradFill>
            <a:ln cap="flat" cmpd="sng" w="12700">
              <a:solidFill>
                <a:srgbClr val="4EA62C"/>
              </a:solidFill>
              <a:prstDash val="solid"/>
              <a:miter lim="800000"/>
              <a:headEnd len="sm" w="sm" type="none"/>
              <a:tailEnd len="sm" w="sm" type="none"/>
            </a:ln>
            <a:effectLst>
              <a:outerShdw blurRad="57150" rotWithShape="0" algn="ctr" dir="5400000" dist="19050">
                <a:srgbClr val="000000">
                  <a:alpha val="63137"/>
                </a:srgbClr>
              </a:outerShdw>
            </a:effectLst>
          </p:spPr>
        </p:cxnSp>
        <p:sp>
          <p:nvSpPr>
            <p:cNvPr id="215" name="Google Shape;215;p28"/>
            <p:cNvSpPr/>
            <p:nvPr/>
          </p:nvSpPr>
          <p:spPr>
            <a:xfrm>
              <a:off x="0" y="2238879"/>
              <a:ext cx="3868615" cy="559634"/>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6" name="Google Shape;216;p28"/>
            <p:cNvSpPr txBox="1"/>
            <p:nvPr/>
          </p:nvSpPr>
          <p:spPr>
            <a:xfrm>
              <a:off x="0" y="2238879"/>
              <a:ext cx="3868615" cy="559634"/>
            </a:xfrm>
            <a:prstGeom prst="rect">
              <a:avLst/>
            </a:prstGeom>
            <a:noFill/>
            <a:ln>
              <a:noFill/>
            </a:ln>
          </p:spPr>
          <p:txBody>
            <a:bodyPr anchorCtr="0" anchor="t" bIns="42875" lIns="42875" spcFirstLastPara="1" rIns="42875" wrap="square" tIns="42875">
              <a:noAutofit/>
            </a:bodyPr>
            <a:lstStyle/>
            <a:p>
              <a:pPr indent="0" lvl="0" marL="0" marR="0" rtl="0" algn="l">
                <a:lnSpc>
                  <a:spcPct val="90000"/>
                </a:lnSpc>
                <a:spcBef>
                  <a:spcPts val="0"/>
                </a:spcBef>
                <a:spcAft>
                  <a:spcPts val="0"/>
                </a:spcAft>
                <a:buClr>
                  <a:schemeClr val="dk1"/>
                </a:buClr>
                <a:buSzPts val="1100"/>
                <a:buFont typeface="Arial"/>
                <a:buNone/>
              </a:pPr>
              <a:r>
                <a:rPr b="0" i="0" lang="uk" sz="1100" u="none" cap="none" strike="noStrike">
                  <a:solidFill>
                    <a:schemeClr val="dk1"/>
                  </a:solidFill>
                  <a:latin typeface="Arial"/>
                  <a:ea typeface="Arial"/>
                  <a:cs typeface="Arial"/>
                  <a:sym typeface="Arial"/>
                </a:rPr>
                <a:t>2023: LLaMA (Meta), Mistral, Claude.</a:t>
              </a:r>
              <a:endParaRPr sz="11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0" name="Shape 220"/>
        <p:cNvGrpSpPr/>
        <p:nvPr/>
      </p:nvGrpSpPr>
      <p:grpSpPr>
        <a:xfrm>
          <a:off x="0" y="0"/>
          <a:ext cx="0" cy="0"/>
          <a:chOff x="0" y="0"/>
          <a:chExt cx="0" cy="0"/>
        </a:xfrm>
      </p:grpSpPr>
      <p:sp>
        <p:nvSpPr>
          <p:cNvPr id="221" name="Google Shape;221;p29"/>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2" name="Google Shape;222;p29"/>
          <p:cNvSpPr/>
          <p:nvPr/>
        </p:nvSpPr>
        <p:spPr>
          <a:xfrm>
            <a:off x="-1" y="0"/>
            <a:ext cx="3341755" cy="5143500"/>
          </a:xfrm>
          <a:custGeom>
            <a:rect b="b" l="l" r="r" t="t"/>
            <a:pathLst>
              <a:path extrusionOk="0" h="6858000" w="4455673">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solidFill>
            <a:schemeClr val="lt1"/>
          </a:solidFill>
          <a:ln cap="flat" cmpd="sng" w="9525">
            <a:solidFill>
              <a:srgbClr val="EFEFEF"/>
            </a:solidFill>
            <a:prstDash val="solid"/>
            <a:miter lim="800000"/>
            <a:headEnd len="sm" w="sm" type="none"/>
            <a:tailEnd len="sm" w="sm" type="none"/>
          </a:ln>
          <a:effectLst>
            <a:outerShdw blurRad="88900" rotWithShape="0" algn="l" dist="38100">
              <a:srgbClr val="D8D8D8">
                <a:alpha val="50196"/>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3" name="Google Shape;223;p29"/>
          <p:cNvSpPr/>
          <p:nvPr/>
        </p:nvSpPr>
        <p:spPr>
          <a:xfrm>
            <a:off x="0" y="0"/>
            <a:ext cx="3334897" cy="5143500"/>
          </a:xfrm>
          <a:custGeom>
            <a:rect b="b" l="l" r="r" t="t"/>
            <a:pathLst>
              <a:path extrusionOk="0" h="6858000" w="4446529">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24" name="Google Shape;224;p29"/>
          <p:cNvSpPr txBox="1"/>
          <p:nvPr>
            <p:ph type="title"/>
          </p:nvPr>
        </p:nvSpPr>
        <p:spPr>
          <a:xfrm>
            <a:off x="278321" y="870966"/>
            <a:ext cx="2578608" cy="92925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800"/>
              <a:buFont typeface="Play"/>
              <a:buNone/>
            </a:pPr>
            <a:r>
              <a:rPr b="1" lang="uk" sz="1800"/>
              <a:t>BERT: двонаправлений контекст</a:t>
            </a:r>
            <a:br>
              <a:rPr b="1" lang="uk" sz="1800"/>
            </a:br>
            <a:endParaRPr sz="1800"/>
          </a:p>
        </p:txBody>
      </p:sp>
      <p:sp>
        <p:nvSpPr>
          <p:cNvPr id="225" name="Google Shape;225;p29"/>
          <p:cNvSpPr/>
          <p:nvPr/>
        </p:nvSpPr>
        <p:spPr>
          <a:xfrm>
            <a:off x="0" y="1069909"/>
            <a:ext cx="96012" cy="490427"/>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sp>
        <p:nvSpPr>
          <p:cNvPr id="226" name="Google Shape;226;p29"/>
          <p:cNvSpPr/>
          <p:nvPr/>
        </p:nvSpPr>
        <p:spPr>
          <a:xfrm>
            <a:off x="296920" y="1832610"/>
            <a:ext cx="2537460" cy="13716"/>
          </a:xfrm>
          <a:prstGeom prst="rect">
            <a:avLst/>
          </a:prstGeom>
          <a:solidFill>
            <a:srgbClr val="D5D5D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pic>
        <p:nvPicPr>
          <p:cNvPr descr="BERT Model – Bidirectional Encoder Representations from Transformers -  QuantPedia" id="227" name="Google Shape;227;p29"/>
          <p:cNvPicPr preferRelativeResize="0"/>
          <p:nvPr/>
        </p:nvPicPr>
        <p:blipFill rotWithShape="1">
          <a:blip r:embed="rId3">
            <a:alphaModFix/>
          </a:blip>
          <a:srcRect b="0" l="0" r="0" t="0"/>
          <a:stretch/>
        </p:blipFill>
        <p:spPr>
          <a:xfrm>
            <a:off x="3425375" y="1315123"/>
            <a:ext cx="5504605" cy="2848634"/>
          </a:xfrm>
          <a:prstGeom prst="rect">
            <a:avLst/>
          </a:prstGeom>
          <a:noFill/>
          <a:ln>
            <a:noFill/>
          </a:ln>
        </p:spPr>
      </p:pic>
      <p:grpSp>
        <p:nvGrpSpPr>
          <p:cNvPr id="228" name="Google Shape;228;p29"/>
          <p:cNvGrpSpPr/>
          <p:nvPr/>
        </p:nvGrpSpPr>
        <p:grpSpPr>
          <a:xfrm>
            <a:off x="278321" y="2038541"/>
            <a:ext cx="2579175" cy="2405507"/>
            <a:chOff x="0" y="0"/>
            <a:chExt cx="3438900" cy="3207343"/>
          </a:xfrm>
        </p:grpSpPr>
        <p:cxnSp>
          <p:nvCxnSpPr>
            <p:cNvPr id="229" name="Google Shape;229;p29"/>
            <p:cNvCxnSpPr/>
            <p:nvPr/>
          </p:nvCxnSpPr>
          <p:spPr>
            <a:xfrm>
              <a:off x="0" y="0"/>
              <a:ext cx="3438900" cy="0"/>
            </a:xfrm>
            <a:prstGeom prst="straightConnector1">
              <a:avLst/>
            </a:prstGeom>
            <a:solidFill>
              <a:srgbClr val="126082"/>
            </a:solidFill>
            <a:ln cap="flat" cmpd="sng" w="19050">
              <a:solidFill>
                <a:srgbClr val="126082"/>
              </a:solidFill>
              <a:prstDash val="solid"/>
              <a:miter lim="800000"/>
              <a:headEnd len="sm" w="sm" type="none"/>
              <a:tailEnd len="sm" w="sm" type="none"/>
            </a:ln>
          </p:spPr>
        </p:cxnSp>
        <p:cxnSp>
          <p:nvCxnSpPr>
            <p:cNvPr id="230" name="Google Shape;230;p29"/>
            <p:cNvCxnSpPr/>
            <p:nvPr/>
          </p:nvCxnSpPr>
          <p:spPr>
            <a:xfrm>
              <a:off x="0" y="801814"/>
              <a:ext cx="3438900" cy="0"/>
            </a:xfrm>
            <a:prstGeom prst="straightConnector1">
              <a:avLst/>
            </a:prstGeom>
            <a:solidFill>
              <a:srgbClr val="126082"/>
            </a:solidFill>
            <a:ln cap="flat" cmpd="sng" w="19050">
              <a:solidFill>
                <a:srgbClr val="126082"/>
              </a:solidFill>
              <a:prstDash val="solid"/>
              <a:miter lim="800000"/>
              <a:headEnd len="sm" w="sm" type="none"/>
              <a:tailEnd len="sm" w="sm" type="none"/>
            </a:ln>
          </p:spPr>
        </p:cxnSp>
        <p:sp>
          <p:nvSpPr>
            <p:cNvPr id="231" name="Google Shape;231;p29"/>
            <p:cNvSpPr/>
            <p:nvPr/>
          </p:nvSpPr>
          <p:spPr>
            <a:xfrm>
              <a:off x="0" y="801814"/>
              <a:ext cx="3438900" cy="8019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2" name="Google Shape;232;p29"/>
            <p:cNvSpPr txBox="1"/>
            <p:nvPr/>
          </p:nvSpPr>
          <p:spPr>
            <a:xfrm>
              <a:off x="0" y="801814"/>
              <a:ext cx="3438900" cy="801900"/>
            </a:xfrm>
            <a:prstGeom prst="rect">
              <a:avLst/>
            </a:prstGeom>
            <a:noFill/>
            <a:ln>
              <a:noFill/>
            </a:ln>
          </p:spPr>
          <p:txBody>
            <a:bodyPr anchorCtr="0" anchor="t" bIns="45725" lIns="45725" spcFirstLastPara="1" rIns="45725" wrap="square" tIns="45725">
              <a:noAutofit/>
            </a:bodyPr>
            <a:lstStyle/>
            <a:p>
              <a:pPr indent="0" lvl="0" marL="0" marR="0" rtl="0" algn="l">
                <a:lnSpc>
                  <a:spcPct val="90000"/>
                </a:lnSpc>
                <a:spcBef>
                  <a:spcPts val="0"/>
                </a:spcBef>
                <a:spcAft>
                  <a:spcPts val="0"/>
                </a:spcAft>
                <a:buClr>
                  <a:schemeClr val="dk1"/>
                </a:buClr>
                <a:buSzPts val="1200"/>
                <a:buFont typeface="Arial"/>
                <a:buNone/>
              </a:pPr>
              <a:r>
                <a:rPr b="0" i="0" lang="uk" sz="1200" u="none" cap="none" strike="noStrike">
                  <a:solidFill>
                    <a:schemeClr val="dk1"/>
                  </a:solidFill>
                  <a:latin typeface="Arial"/>
                  <a:ea typeface="Arial"/>
                  <a:cs typeface="Arial"/>
                  <a:sym typeface="Arial"/>
                </a:rPr>
                <a:t>Використовує тільки енкодер.</a:t>
              </a:r>
              <a:endParaRPr b="0" i="0" sz="1200" u="none" cap="none" strike="noStrike">
                <a:solidFill>
                  <a:schemeClr val="dk1"/>
                </a:solidFill>
                <a:latin typeface="Arial"/>
                <a:ea typeface="Arial"/>
                <a:cs typeface="Arial"/>
                <a:sym typeface="Arial"/>
              </a:endParaRPr>
            </a:p>
          </p:txBody>
        </p:sp>
        <p:cxnSp>
          <p:nvCxnSpPr>
            <p:cNvPr id="233" name="Google Shape;233;p29"/>
            <p:cNvCxnSpPr/>
            <p:nvPr/>
          </p:nvCxnSpPr>
          <p:spPr>
            <a:xfrm>
              <a:off x="0" y="1603629"/>
              <a:ext cx="3438900" cy="0"/>
            </a:xfrm>
            <a:prstGeom prst="straightConnector1">
              <a:avLst/>
            </a:prstGeom>
            <a:solidFill>
              <a:srgbClr val="126082"/>
            </a:solidFill>
            <a:ln cap="flat" cmpd="sng" w="19050">
              <a:solidFill>
                <a:srgbClr val="126082"/>
              </a:solidFill>
              <a:prstDash val="solid"/>
              <a:miter lim="800000"/>
              <a:headEnd len="sm" w="sm" type="none"/>
              <a:tailEnd len="sm" w="sm" type="none"/>
            </a:ln>
          </p:spPr>
        </p:cxnSp>
        <p:sp>
          <p:nvSpPr>
            <p:cNvPr id="234" name="Google Shape;234;p29"/>
            <p:cNvSpPr/>
            <p:nvPr/>
          </p:nvSpPr>
          <p:spPr>
            <a:xfrm>
              <a:off x="0" y="1603629"/>
              <a:ext cx="3438900" cy="8019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5" name="Google Shape;235;p29"/>
            <p:cNvSpPr txBox="1"/>
            <p:nvPr/>
          </p:nvSpPr>
          <p:spPr>
            <a:xfrm>
              <a:off x="0" y="1603629"/>
              <a:ext cx="3438900" cy="801900"/>
            </a:xfrm>
            <a:prstGeom prst="rect">
              <a:avLst/>
            </a:prstGeom>
            <a:noFill/>
            <a:ln>
              <a:noFill/>
            </a:ln>
          </p:spPr>
          <p:txBody>
            <a:bodyPr anchorCtr="0" anchor="t" bIns="45725" lIns="45725" spcFirstLastPara="1" rIns="45725" wrap="square" tIns="45725">
              <a:normAutofit/>
            </a:bodyPr>
            <a:lstStyle/>
            <a:p>
              <a:pPr indent="0" lvl="0" marL="0" marR="0" rtl="0" algn="l">
                <a:lnSpc>
                  <a:spcPct val="90000"/>
                </a:lnSpc>
                <a:spcBef>
                  <a:spcPts val="0"/>
                </a:spcBef>
                <a:spcAft>
                  <a:spcPts val="0"/>
                </a:spcAft>
                <a:buClr>
                  <a:schemeClr val="dk1"/>
                </a:buClr>
                <a:buSzPts val="1200"/>
                <a:buFont typeface="Arial"/>
                <a:buNone/>
              </a:pPr>
              <a:r>
                <a:rPr b="0" i="0" lang="uk" sz="1200" u="none" cap="none" strike="noStrike">
                  <a:solidFill>
                    <a:schemeClr val="dk1"/>
                  </a:solidFill>
                  <a:latin typeface="Arial"/>
                  <a:ea typeface="Arial"/>
                  <a:cs typeface="Arial"/>
                  <a:sym typeface="Arial"/>
                </a:rPr>
                <a:t>Навчається за допомогою MLM (Masked Language Model) та NSP (Next Sentence Prediction).</a:t>
              </a:r>
              <a:endParaRPr sz="1100"/>
            </a:p>
          </p:txBody>
        </p:sp>
        <p:cxnSp>
          <p:nvCxnSpPr>
            <p:cNvPr id="236" name="Google Shape;236;p29"/>
            <p:cNvCxnSpPr/>
            <p:nvPr/>
          </p:nvCxnSpPr>
          <p:spPr>
            <a:xfrm>
              <a:off x="0" y="2405443"/>
              <a:ext cx="3438900" cy="0"/>
            </a:xfrm>
            <a:prstGeom prst="straightConnector1">
              <a:avLst/>
            </a:prstGeom>
            <a:solidFill>
              <a:srgbClr val="126082"/>
            </a:solidFill>
            <a:ln cap="flat" cmpd="sng" w="19050">
              <a:solidFill>
                <a:srgbClr val="126082"/>
              </a:solidFill>
              <a:prstDash val="solid"/>
              <a:miter lim="800000"/>
              <a:headEnd len="sm" w="sm" type="none"/>
              <a:tailEnd len="sm" w="sm" type="none"/>
            </a:ln>
          </p:spPr>
        </p:cxnSp>
        <p:sp>
          <p:nvSpPr>
            <p:cNvPr id="237" name="Google Shape;237;p29"/>
            <p:cNvSpPr/>
            <p:nvPr/>
          </p:nvSpPr>
          <p:spPr>
            <a:xfrm>
              <a:off x="0" y="2405443"/>
              <a:ext cx="3438900" cy="8019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8" name="Google Shape;238;p29"/>
            <p:cNvSpPr txBox="1"/>
            <p:nvPr/>
          </p:nvSpPr>
          <p:spPr>
            <a:xfrm>
              <a:off x="0" y="2405443"/>
              <a:ext cx="3438900" cy="801900"/>
            </a:xfrm>
            <a:prstGeom prst="rect">
              <a:avLst/>
            </a:prstGeom>
            <a:noFill/>
            <a:ln>
              <a:noFill/>
            </a:ln>
          </p:spPr>
          <p:txBody>
            <a:bodyPr anchorCtr="0" anchor="t" bIns="45725" lIns="45725" spcFirstLastPara="1" rIns="45725" wrap="square" tIns="45725">
              <a:normAutofit fontScale="92500"/>
            </a:bodyPr>
            <a:lstStyle/>
            <a:p>
              <a:pPr indent="0" lvl="0" marL="0" marR="0" rtl="0" algn="l">
                <a:lnSpc>
                  <a:spcPct val="90000"/>
                </a:lnSpc>
                <a:spcBef>
                  <a:spcPts val="0"/>
                </a:spcBef>
                <a:spcAft>
                  <a:spcPts val="0"/>
                </a:spcAft>
                <a:buClr>
                  <a:schemeClr val="dk1"/>
                </a:buClr>
                <a:buSzPct val="100000"/>
                <a:buFont typeface="Arial"/>
                <a:buNone/>
              </a:pPr>
              <a:r>
                <a:rPr b="0" i="0" lang="uk" sz="1200" u="none" cap="none" strike="noStrike">
                  <a:solidFill>
                    <a:schemeClr val="dk1"/>
                  </a:solidFill>
                  <a:latin typeface="Arial"/>
                  <a:ea typeface="Arial"/>
                  <a:cs typeface="Arial"/>
                  <a:sym typeface="Arial"/>
                </a:rPr>
                <a:t>Чудово підходить для: класифікації, QA, NER (розпізнавання іменованих сутностей).</a:t>
              </a:r>
              <a:endParaRPr b="0" i="0" sz="1200" u="none" cap="none" strike="noStrike">
                <a:solidFill>
                  <a:schemeClr val="dk1"/>
                </a:solidFill>
                <a:latin typeface="Arial"/>
                <a:ea typeface="Arial"/>
                <a:cs typeface="Arial"/>
                <a:sym typeface="Arial"/>
              </a:endParaRPr>
            </a:p>
          </p:txBody>
        </p:sp>
        <p:sp>
          <p:nvSpPr>
            <p:cNvPr id="239" name="Google Shape;239;p29"/>
            <p:cNvSpPr/>
            <p:nvPr/>
          </p:nvSpPr>
          <p:spPr>
            <a:xfrm>
              <a:off x="0" y="0"/>
              <a:ext cx="3438900" cy="8019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0" name="Google Shape;240;p29"/>
            <p:cNvSpPr txBox="1"/>
            <p:nvPr/>
          </p:nvSpPr>
          <p:spPr>
            <a:xfrm>
              <a:off x="0" y="0"/>
              <a:ext cx="3438900" cy="801900"/>
            </a:xfrm>
            <a:prstGeom prst="rect">
              <a:avLst/>
            </a:prstGeom>
            <a:noFill/>
            <a:ln>
              <a:noFill/>
            </a:ln>
          </p:spPr>
          <p:txBody>
            <a:bodyPr anchorCtr="0" anchor="t" bIns="45725" lIns="45725" spcFirstLastPara="1" rIns="45725" wrap="square" tIns="45725">
              <a:normAutofit/>
            </a:bodyPr>
            <a:lstStyle/>
            <a:p>
              <a:pPr indent="0" lvl="0" marL="0" marR="0" rtl="0" algn="l">
                <a:lnSpc>
                  <a:spcPct val="90000"/>
                </a:lnSpc>
                <a:spcBef>
                  <a:spcPts val="0"/>
                </a:spcBef>
                <a:spcAft>
                  <a:spcPts val="0"/>
                </a:spcAft>
                <a:buClr>
                  <a:schemeClr val="dk1"/>
                </a:buClr>
                <a:buSzPts val="1200"/>
                <a:buFont typeface="Arial"/>
                <a:buNone/>
              </a:pPr>
              <a:r>
                <a:rPr lang="uk" sz="1200">
                  <a:solidFill>
                    <a:schemeClr val="dk1"/>
                  </a:solidFill>
                </a:rPr>
                <a:t>Двонаправлені представлення енкодерів з трансформаторів.</a:t>
              </a:r>
              <a:endParaRPr sz="1100"/>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4" name="Shape 244"/>
        <p:cNvGrpSpPr/>
        <p:nvPr/>
      </p:nvGrpSpPr>
      <p:grpSpPr>
        <a:xfrm>
          <a:off x="0" y="0"/>
          <a:ext cx="0" cy="0"/>
          <a:chOff x="0" y="0"/>
          <a:chExt cx="0" cy="0"/>
        </a:xfrm>
      </p:grpSpPr>
      <p:sp>
        <p:nvSpPr>
          <p:cNvPr id="245" name="Google Shape;245;p30"/>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6" name="Google Shape;246;p30"/>
          <p:cNvSpPr/>
          <p:nvPr/>
        </p:nvSpPr>
        <p:spPr>
          <a:xfrm>
            <a:off x="0" y="0"/>
            <a:ext cx="3719285" cy="5143500"/>
          </a:xfrm>
          <a:custGeom>
            <a:rect b="b" l="l" r="r" t="t"/>
            <a:pathLst>
              <a:path extrusionOk="0" h="6858000" w="4959047">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solidFill>
            <a:schemeClr val="lt1"/>
          </a:solidFill>
          <a:ln cap="flat" cmpd="sng" w="9525">
            <a:solidFill>
              <a:srgbClr val="E6E6E6"/>
            </a:solidFill>
            <a:prstDash val="solid"/>
            <a:miter lim="800000"/>
            <a:headEnd len="sm" w="sm" type="none"/>
            <a:tailEnd len="sm" w="sm" type="none"/>
          </a:ln>
          <a:effectLst>
            <a:outerShdw blurRad="76200" rotWithShape="0" algn="l" dist="38100">
              <a:srgbClr val="D8D8D8">
                <a:alpha val="50196"/>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47" name="Google Shape;247;p30"/>
          <p:cNvSpPr/>
          <p:nvPr/>
        </p:nvSpPr>
        <p:spPr>
          <a:xfrm>
            <a:off x="0" y="0"/>
            <a:ext cx="3711665" cy="5143500"/>
          </a:xfrm>
          <a:custGeom>
            <a:rect b="b" l="l" r="r" t="t"/>
            <a:pathLst>
              <a:path extrusionOk="0" h="6858000" w="4948887">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48" name="Google Shape;248;p30"/>
          <p:cNvSpPr txBox="1"/>
          <p:nvPr>
            <p:ph type="title"/>
          </p:nvPr>
        </p:nvSpPr>
        <p:spPr>
          <a:xfrm>
            <a:off x="358486" y="841772"/>
            <a:ext cx="3017520" cy="2403101"/>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3600"/>
              <a:buFont typeface="Play"/>
              <a:buNone/>
            </a:pPr>
            <a:r>
              <a:rPr b="1" lang="uk" sz="3600">
                <a:solidFill>
                  <a:schemeClr val="dk1"/>
                </a:solidFill>
                <a:latin typeface="Play"/>
                <a:ea typeface="Play"/>
                <a:cs typeface="Play"/>
                <a:sym typeface="Play"/>
              </a:rPr>
              <a:t>Як навчається BERT?</a:t>
            </a:r>
            <a:br>
              <a:rPr b="1" lang="uk" sz="3600">
                <a:solidFill>
                  <a:schemeClr val="dk1"/>
                </a:solidFill>
                <a:latin typeface="Play"/>
                <a:ea typeface="Play"/>
                <a:cs typeface="Play"/>
                <a:sym typeface="Play"/>
              </a:rPr>
            </a:br>
            <a:endParaRPr sz="3600">
              <a:solidFill>
                <a:schemeClr val="dk1"/>
              </a:solidFill>
              <a:latin typeface="Play"/>
              <a:ea typeface="Play"/>
              <a:cs typeface="Play"/>
              <a:sym typeface="Play"/>
            </a:endParaRPr>
          </a:p>
        </p:txBody>
      </p:sp>
      <p:sp>
        <p:nvSpPr>
          <p:cNvPr id="249" name="Google Shape;249;p30"/>
          <p:cNvSpPr/>
          <p:nvPr/>
        </p:nvSpPr>
        <p:spPr>
          <a:xfrm rot="5400000">
            <a:off x="569941" y="260093"/>
            <a:ext cx="109728" cy="528066"/>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sp>
        <p:nvSpPr>
          <p:cNvPr id="250" name="Google Shape;250;p30"/>
          <p:cNvSpPr/>
          <p:nvPr/>
        </p:nvSpPr>
        <p:spPr>
          <a:xfrm>
            <a:off x="360772" y="3410190"/>
            <a:ext cx="3017520" cy="13716"/>
          </a:xfrm>
          <a:prstGeom prst="rect">
            <a:avLst/>
          </a:prstGeom>
          <a:solidFill>
            <a:srgbClr val="D5D5D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grpSp>
        <p:nvGrpSpPr>
          <p:cNvPr id="251" name="Google Shape;251;p30"/>
          <p:cNvGrpSpPr/>
          <p:nvPr/>
        </p:nvGrpSpPr>
        <p:grpSpPr>
          <a:xfrm>
            <a:off x="3678789" y="564827"/>
            <a:ext cx="5000175" cy="4086444"/>
            <a:chOff x="0" y="2663"/>
            <a:chExt cx="6666900" cy="5448592"/>
          </a:xfrm>
        </p:grpSpPr>
        <p:cxnSp>
          <p:nvCxnSpPr>
            <p:cNvPr id="252" name="Google Shape;252;p30"/>
            <p:cNvCxnSpPr/>
            <p:nvPr/>
          </p:nvCxnSpPr>
          <p:spPr>
            <a:xfrm>
              <a:off x="0" y="2663"/>
              <a:ext cx="6666833" cy="0"/>
            </a:xfrm>
            <a:prstGeom prst="straightConnector1">
              <a:avLst/>
            </a:prstGeom>
            <a:gradFill>
              <a:gsLst>
                <a:gs pos="0">
                  <a:srgbClr val="EC8154"/>
                </a:gs>
                <a:gs pos="50000">
                  <a:srgbClr val="F16E27"/>
                </a:gs>
                <a:gs pos="100000">
                  <a:srgbClr val="DF5D18"/>
                </a:gs>
              </a:gsLst>
              <a:lin ang="5400000" scaled="0"/>
            </a:gradFill>
            <a:ln cap="flat" cmpd="sng" w="12700">
              <a:solidFill>
                <a:srgbClr val="E97131"/>
              </a:solidFill>
              <a:prstDash val="solid"/>
              <a:miter lim="800000"/>
              <a:headEnd len="sm" w="sm" type="none"/>
              <a:tailEnd len="sm" w="sm" type="none"/>
            </a:ln>
          </p:spPr>
        </p:cxnSp>
        <p:sp>
          <p:nvSpPr>
            <p:cNvPr id="253" name="Google Shape;253;p30"/>
            <p:cNvSpPr/>
            <p:nvPr/>
          </p:nvSpPr>
          <p:spPr>
            <a:xfrm>
              <a:off x="0" y="2663"/>
              <a:ext cx="6666833" cy="181619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4" name="Google Shape;254;p30"/>
            <p:cNvSpPr txBox="1"/>
            <p:nvPr/>
          </p:nvSpPr>
          <p:spPr>
            <a:xfrm>
              <a:off x="0" y="2663"/>
              <a:ext cx="6666900" cy="1773300"/>
            </a:xfrm>
            <a:prstGeom prst="rect">
              <a:avLst/>
            </a:prstGeom>
            <a:noFill/>
            <a:ln>
              <a:noFill/>
            </a:ln>
          </p:spPr>
          <p:txBody>
            <a:bodyPr anchorCtr="0" anchor="t" bIns="102875" lIns="102875" spcFirstLastPara="1" rIns="102875" wrap="square" tIns="102875">
              <a:normAutofit/>
            </a:bodyPr>
            <a:lstStyle/>
            <a:p>
              <a:pPr indent="0" lvl="0" marL="0" marR="0" rtl="0" algn="l">
                <a:lnSpc>
                  <a:spcPct val="90000"/>
                </a:lnSpc>
                <a:spcBef>
                  <a:spcPts val="0"/>
                </a:spcBef>
                <a:spcAft>
                  <a:spcPts val="0"/>
                </a:spcAft>
                <a:buClr>
                  <a:schemeClr val="dk1"/>
                </a:buClr>
                <a:buSzPts val="2700"/>
                <a:buFont typeface="Arial"/>
                <a:buNone/>
              </a:pPr>
              <a:r>
                <a:rPr b="1" i="0" lang="uk" sz="2700" u="none" cap="none" strike="noStrike">
                  <a:solidFill>
                    <a:schemeClr val="dk1"/>
                  </a:solidFill>
                  <a:latin typeface="Arial"/>
                  <a:ea typeface="Arial"/>
                  <a:cs typeface="Arial"/>
                  <a:sym typeface="Arial"/>
                </a:rPr>
                <a:t>MLM</a:t>
              </a:r>
              <a:r>
                <a:rPr b="0" i="0" lang="uk" sz="2700" u="none" cap="none" strike="noStrike">
                  <a:solidFill>
                    <a:schemeClr val="dk1"/>
                  </a:solidFill>
                  <a:latin typeface="Arial"/>
                  <a:ea typeface="Arial"/>
                  <a:cs typeface="Arial"/>
                  <a:sym typeface="Arial"/>
                </a:rPr>
                <a:t> – маскує 15% токенів, передбачає їх (навчається контексту з обох сторін).</a:t>
              </a:r>
              <a:endParaRPr b="0" i="0" sz="2700" u="none" cap="none" strike="noStrike">
                <a:solidFill>
                  <a:schemeClr val="dk1"/>
                </a:solidFill>
                <a:latin typeface="Arial"/>
                <a:ea typeface="Arial"/>
                <a:cs typeface="Arial"/>
                <a:sym typeface="Arial"/>
              </a:endParaRPr>
            </a:p>
          </p:txBody>
        </p:sp>
        <p:cxnSp>
          <p:nvCxnSpPr>
            <p:cNvPr id="255" name="Google Shape;255;p30"/>
            <p:cNvCxnSpPr/>
            <p:nvPr/>
          </p:nvCxnSpPr>
          <p:spPr>
            <a:xfrm>
              <a:off x="0" y="1818861"/>
              <a:ext cx="6666833" cy="0"/>
            </a:xfrm>
            <a:prstGeom prst="straightConnector1">
              <a:avLst/>
            </a:prstGeom>
            <a:gradFill>
              <a:gsLst>
                <a:gs pos="0">
                  <a:srgbClr val="99BA4A"/>
                </a:gs>
                <a:gs pos="50000">
                  <a:srgbClr val="8FB614"/>
                </a:gs>
                <a:gs pos="100000">
                  <a:srgbClr val="81A70B"/>
                </a:gs>
              </a:gsLst>
              <a:lin ang="5400000" scaled="0"/>
            </a:gradFill>
            <a:ln cap="flat" cmpd="sng" w="12700">
              <a:solidFill>
                <a:srgbClr val="8CAF1D"/>
              </a:solidFill>
              <a:prstDash val="solid"/>
              <a:miter lim="800000"/>
              <a:headEnd len="sm" w="sm" type="none"/>
              <a:tailEnd len="sm" w="sm" type="none"/>
            </a:ln>
          </p:spPr>
        </p:cxnSp>
        <p:sp>
          <p:nvSpPr>
            <p:cNvPr id="256" name="Google Shape;256;p30"/>
            <p:cNvSpPr/>
            <p:nvPr/>
          </p:nvSpPr>
          <p:spPr>
            <a:xfrm>
              <a:off x="0" y="1818861"/>
              <a:ext cx="6666833" cy="181619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7" name="Google Shape;257;p30"/>
            <p:cNvSpPr txBox="1"/>
            <p:nvPr/>
          </p:nvSpPr>
          <p:spPr>
            <a:xfrm>
              <a:off x="0" y="1818861"/>
              <a:ext cx="6666833" cy="1816197"/>
            </a:xfrm>
            <a:prstGeom prst="rect">
              <a:avLst/>
            </a:prstGeom>
            <a:noFill/>
            <a:ln>
              <a:noFill/>
            </a:ln>
          </p:spPr>
          <p:txBody>
            <a:bodyPr anchorCtr="0" anchor="t" bIns="102875" lIns="102875" spcFirstLastPara="1" rIns="102875" wrap="square" tIns="102875">
              <a:normAutofit/>
            </a:bodyPr>
            <a:lstStyle/>
            <a:p>
              <a:pPr indent="0" lvl="0" marL="0" marR="0" rtl="0" algn="l">
                <a:lnSpc>
                  <a:spcPct val="90000"/>
                </a:lnSpc>
                <a:spcBef>
                  <a:spcPts val="0"/>
                </a:spcBef>
                <a:spcAft>
                  <a:spcPts val="0"/>
                </a:spcAft>
                <a:buClr>
                  <a:schemeClr val="dk1"/>
                </a:buClr>
                <a:buSzPts val="2700"/>
                <a:buFont typeface="Arial"/>
                <a:buNone/>
              </a:pPr>
              <a:r>
                <a:rPr b="1" i="0" lang="uk" sz="2700" u="none" cap="none" strike="noStrike">
                  <a:solidFill>
                    <a:schemeClr val="dk1"/>
                  </a:solidFill>
                  <a:latin typeface="Arial"/>
                  <a:ea typeface="Arial"/>
                  <a:cs typeface="Arial"/>
                  <a:sym typeface="Arial"/>
                </a:rPr>
                <a:t>NSP</a:t>
              </a:r>
              <a:r>
                <a:rPr b="0" i="0" lang="uk" sz="2700" u="none" cap="none" strike="noStrike">
                  <a:solidFill>
                    <a:schemeClr val="dk1"/>
                  </a:solidFill>
                  <a:latin typeface="Arial"/>
                  <a:ea typeface="Arial"/>
                  <a:cs typeface="Arial"/>
                  <a:sym typeface="Arial"/>
                </a:rPr>
                <a:t> – передбачає, чи є друге речення продовженням першого.</a:t>
              </a:r>
              <a:endParaRPr b="0" i="0" sz="2700" u="none" cap="none" strike="noStrike">
                <a:solidFill>
                  <a:schemeClr val="dk1"/>
                </a:solidFill>
                <a:latin typeface="Arial"/>
                <a:ea typeface="Arial"/>
                <a:cs typeface="Arial"/>
                <a:sym typeface="Arial"/>
              </a:endParaRPr>
            </a:p>
          </p:txBody>
        </p:sp>
        <p:cxnSp>
          <p:nvCxnSpPr>
            <p:cNvPr id="258" name="Google Shape;258;p30"/>
            <p:cNvCxnSpPr/>
            <p:nvPr/>
          </p:nvCxnSpPr>
          <p:spPr>
            <a:xfrm>
              <a:off x="0" y="3635058"/>
              <a:ext cx="6666833" cy="0"/>
            </a:xfrm>
            <a:prstGeom prst="straightConnector1">
              <a:avLst/>
            </a:prstGeom>
            <a:gradFill>
              <a:gsLst>
                <a:gs pos="0">
                  <a:srgbClr val="497B4D"/>
                </a:gs>
                <a:gs pos="50000">
                  <a:srgbClr val="126D20"/>
                </a:gs>
                <a:gs pos="100000">
                  <a:srgbClr val="0C6319"/>
                </a:gs>
              </a:gsLst>
              <a:lin ang="5400000" scaled="0"/>
            </a:gradFill>
            <a:ln cap="flat" cmpd="sng" w="12700">
              <a:solidFill>
                <a:srgbClr val="186923"/>
              </a:solidFill>
              <a:prstDash val="solid"/>
              <a:miter lim="800000"/>
              <a:headEnd len="sm" w="sm" type="none"/>
              <a:tailEnd len="sm" w="sm" type="none"/>
            </a:ln>
          </p:spPr>
        </p:cxnSp>
        <p:sp>
          <p:nvSpPr>
            <p:cNvPr id="259" name="Google Shape;259;p30"/>
            <p:cNvSpPr/>
            <p:nvPr/>
          </p:nvSpPr>
          <p:spPr>
            <a:xfrm>
              <a:off x="0" y="3635058"/>
              <a:ext cx="6666833" cy="181619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0" name="Google Shape;260;p30"/>
            <p:cNvSpPr txBox="1"/>
            <p:nvPr/>
          </p:nvSpPr>
          <p:spPr>
            <a:xfrm>
              <a:off x="0" y="3635058"/>
              <a:ext cx="6666833" cy="1816197"/>
            </a:xfrm>
            <a:prstGeom prst="rect">
              <a:avLst/>
            </a:prstGeom>
            <a:noFill/>
            <a:ln>
              <a:noFill/>
            </a:ln>
          </p:spPr>
          <p:txBody>
            <a:bodyPr anchorCtr="0" anchor="t" bIns="102875" lIns="102875" spcFirstLastPara="1" rIns="102875" wrap="square" tIns="102875">
              <a:noAutofit/>
            </a:bodyPr>
            <a:lstStyle/>
            <a:p>
              <a:pPr indent="0" lvl="0" marL="0" marR="0" rtl="0" algn="l">
                <a:lnSpc>
                  <a:spcPct val="90000"/>
                </a:lnSpc>
                <a:spcBef>
                  <a:spcPts val="0"/>
                </a:spcBef>
                <a:spcAft>
                  <a:spcPts val="0"/>
                </a:spcAft>
                <a:buClr>
                  <a:schemeClr val="dk1"/>
                </a:buClr>
                <a:buSzPts val="2700"/>
                <a:buFont typeface="Arial"/>
                <a:buNone/>
              </a:pPr>
              <a:r>
                <a:rPr b="0" i="0" lang="uk" sz="2700" u="none" cap="none" strike="noStrike">
                  <a:solidFill>
                    <a:schemeClr val="dk1"/>
                  </a:solidFill>
                  <a:latin typeface="Arial"/>
                  <a:ea typeface="Arial"/>
                  <a:cs typeface="Arial"/>
                  <a:sym typeface="Arial"/>
                </a:rPr>
                <a:t>Використовує WordPiece токенізатор.</a:t>
              </a:r>
              <a:endParaRPr b="0" i="0" sz="2700" u="none" cap="none" strike="noStrike">
                <a:solidFill>
                  <a:schemeClr val="dk1"/>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4" name="Shape 264"/>
        <p:cNvGrpSpPr/>
        <p:nvPr/>
      </p:nvGrpSpPr>
      <p:grpSpPr>
        <a:xfrm>
          <a:off x="0" y="0"/>
          <a:ext cx="0" cy="0"/>
          <a:chOff x="0" y="0"/>
          <a:chExt cx="0" cy="0"/>
        </a:xfrm>
      </p:grpSpPr>
      <p:sp>
        <p:nvSpPr>
          <p:cNvPr id="265" name="Google Shape;265;p31"/>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66" name="Google Shape;266;p31"/>
          <p:cNvSpPr txBox="1"/>
          <p:nvPr>
            <p:ph type="title"/>
          </p:nvPr>
        </p:nvSpPr>
        <p:spPr>
          <a:xfrm>
            <a:off x="322326" y="308610"/>
            <a:ext cx="8401050" cy="82981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Play"/>
              <a:buNone/>
            </a:pPr>
            <a:r>
              <a:rPr b="1" lang="uk" sz="2700">
                <a:latin typeface="Play"/>
                <a:ea typeface="Play"/>
                <a:cs typeface="Play"/>
                <a:sym typeface="Play"/>
              </a:rPr>
              <a:t>Застосування BERT</a:t>
            </a:r>
            <a:br>
              <a:rPr b="1" lang="uk" sz="2700">
                <a:latin typeface="Play"/>
                <a:ea typeface="Play"/>
                <a:cs typeface="Play"/>
                <a:sym typeface="Play"/>
              </a:rPr>
            </a:br>
            <a:endParaRPr sz="2700">
              <a:latin typeface="Play"/>
              <a:ea typeface="Play"/>
              <a:cs typeface="Play"/>
              <a:sym typeface="Play"/>
            </a:endParaRPr>
          </a:p>
        </p:txBody>
      </p:sp>
      <p:sp>
        <p:nvSpPr>
          <p:cNvPr id="267" name="Google Shape;267;p31"/>
          <p:cNvSpPr/>
          <p:nvPr/>
        </p:nvSpPr>
        <p:spPr>
          <a:xfrm>
            <a:off x="0" y="448843"/>
            <a:ext cx="96012" cy="528066"/>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pic>
        <p:nvPicPr>
          <p:cNvPr descr="BERT applications in natural language processing: a review | Artificial  Intelligence Review | Springer Nature Link" id="268" name="Google Shape;268;p31"/>
          <p:cNvPicPr preferRelativeResize="0"/>
          <p:nvPr/>
        </p:nvPicPr>
        <p:blipFill rotWithShape="1">
          <a:blip r:embed="rId3">
            <a:alphaModFix/>
          </a:blip>
          <a:srcRect b="0" l="0" r="0" t="0"/>
          <a:stretch/>
        </p:blipFill>
        <p:spPr>
          <a:xfrm>
            <a:off x="577215" y="1289304"/>
            <a:ext cx="4517136" cy="3387852"/>
          </a:xfrm>
          <a:prstGeom prst="rect">
            <a:avLst/>
          </a:prstGeom>
          <a:noFill/>
          <a:ln>
            <a:noFill/>
          </a:ln>
          <a:effectLst>
            <a:outerShdw blurRad="292100" rotWithShape="0" algn="tl" dir="2700000" dist="139700">
              <a:srgbClr val="333333">
                <a:alpha val="65098"/>
              </a:srgbClr>
            </a:outerShdw>
          </a:effectLst>
        </p:spPr>
      </p:pic>
      <p:sp>
        <p:nvSpPr>
          <p:cNvPr id="269" name="Google Shape;269;p31"/>
          <p:cNvSpPr/>
          <p:nvPr/>
        </p:nvSpPr>
        <p:spPr>
          <a:xfrm>
            <a:off x="5657851" y="1291442"/>
            <a:ext cx="3163824" cy="3390420"/>
          </a:xfrm>
          <a:prstGeom prst="rect">
            <a:avLst/>
          </a:prstGeom>
          <a:solidFill>
            <a:schemeClr val="lt1"/>
          </a:solidFill>
          <a:ln cap="flat" cmpd="sng" w="9525">
            <a:solidFill>
              <a:srgbClr val="DEDEDE"/>
            </a:solidFill>
            <a:prstDash val="solid"/>
            <a:miter lim="800000"/>
            <a:headEnd len="sm" w="sm" type="none"/>
            <a:tailEnd len="sm" w="sm" type="none"/>
          </a:ln>
          <a:effectLst>
            <a:outerShdw blurRad="50800" rotWithShape="0" algn="tl" dir="2700000" dist="38100">
              <a:srgbClr val="D8D8D8">
                <a:alpha val="50196"/>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grpSp>
        <p:nvGrpSpPr>
          <p:cNvPr id="270" name="Google Shape;270;p31"/>
          <p:cNvGrpSpPr/>
          <p:nvPr/>
        </p:nvGrpSpPr>
        <p:grpSpPr>
          <a:xfrm>
            <a:off x="5954064" y="1515618"/>
            <a:ext cx="2591323" cy="2969513"/>
            <a:chOff x="0" y="0"/>
            <a:chExt cx="3455097" cy="3959350"/>
          </a:xfrm>
        </p:grpSpPr>
        <p:cxnSp>
          <p:nvCxnSpPr>
            <p:cNvPr id="271" name="Google Shape;271;p31"/>
            <p:cNvCxnSpPr/>
            <p:nvPr/>
          </p:nvCxnSpPr>
          <p:spPr>
            <a:xfrm>
              <a:off x="0" y="0"/>
              <a:ext cx="3455097" cy="0"/>
            </a:xfrm>
            <a:prstGeom prst="straightConnector1">
              <a:avLst/>
            </a:prstGeom>
            <a:gradFill>
              <a:gsLst>
                <a:gs pos="0">
                  <a:srgbClr val="47A9DE"/>
                </a:gs>
                <a:gs pos="50000">
                  <a:srgbClr val="00A2DF"/>
                </a:gs>
                <a:gs pos="100000">
                  <a:srgbClr val="0093CC"/>
                </a:gs>
              </a:gsLst>
              <a:lin ang="5400000" scaled="0"/>
            </a:gradFill>
            <a:ln cap="flat" cmpd="sng" w="12700">
              <a:solidFill>
                <a:srgbClr val="0C9ED5"/>
              </a:solidFill>
              <a:prstDash val="solid"/>
              <a:miter lim="800000"/>
              <a:headEnd len="sm" w="sm" type="none"/>
              <a:tailEnd len="sm" w="sm" type="none"/>
            </a:ln>
          </p:spPr>
        </p:cxnSp>
        <p:sp>
          <p:nvSpPr>
            <p:cNvPr id="272" name="Google Shape;272;p31"/>
            <p:cNvSpPr/>
            <p:nvPr/>
          </p:nvSpPr>
          <p:spPr>
            <a:xfrm>
              <a:off x="0" y="0"/>
              <a:ext cx="3455097" cy="98983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3" name="Google Shape;273;p31"/>
            <p:cNvSpPr txBox="1"/>
            <p:nvPr/>
          </p:nvSpPr>
          <p:spPr>
            <a:xfrm>
              <a:off x="0" y="0"/>
              <a:ext cx="3455097" cy="989837"/>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rial"/>
                <a:buNone/>
              </a:pPr>
              <a:r>
                <a:rPr b="0" i="0" lang="uk" sz="1500" u="none" cap="none" strike="noStrike">
                  <a:solidFill>
                    <a:schemeClr val="dk1"/>
                  </a:solidFill>
                  <a:latin typeface="Arial"/>
                  <a:ea typeface="Arial"/>
                  <a:cs typeface="Arial"/>
                  <a:sym typeface="Arial"/>
                </a:rPr>
                <a:t>Класифікація текстів (тональність, теми).</a:t>
              </a:r>
              <a:endParaRPr b="0" i="0" sz="1500" u="none" cap="none" strike="noStrike">
                <a:solidFill>
                  <a:schemeClr val="dk1"/>
                </a:solidFill>
                <a:latin typeface="Arial"/>
                <a:ea typeface="Arial"/>
                <a:cs typeface="Arial"/>
                <a:sym typeface="Arial"/>
              </a:endParaRPr>
            </a:p>
          </p:txBody>
        </p:sp>
        <p:cxnSp>
          <p:nvCxnSpPr>
            <p:cNvPr id="274" name="Google Shape;274;p31"/>
            <p:cNvCxnSpPr/>
            <p:nvPr/>
          </p:nvCxnSpPr>
          <p:spPr>
            <a:xfrm>
              <a:off x="0" y="989837"/>
              <a:ext cx="3455097" cy="0"/>
            </a:xfrm>
            <a:prstGeom prst="straightConnector1">
              <a:avLst/>
            </a:prstGeom>
            <a:gradFill>
              <a:gsLst>
                <a:gs pos="0">
                  <a:srgbClr val="47A9DE"/>
                </a:gs>
                <a:gs pos="50000">
                  <a:srgbClr val="00A2DF"/>
                </a:gs>
                <a:gs pos="100000">
                  <a:srgbClr val="0093CC"/>
                </a:gs>
              </a:gsLst>
              <a:lin ang="5400000" scaled="0"/>
            </a:gradFill>
            <a:ln cap="flat" cmpd="sng" w="12700">
              <a:solidFill>
                <a:srgbClr val="0C9ED5"/>
              </a:solidFill>
              <a:prstDash val="solid"/>
              <a:miter lim="800000"/>
              <a:headEnd len="sm" w="sm" type="none"/>
              <a:tailEnd len="sm" w="sm" type="none"/>
            </a:ln>
          </p:spPr>
        </p:cxnSp>
        <p:sp>
          <p:nvSpPr>
            <p:cNvPr id="275" name="Google Shape;275;p31"/>
            <p:cNvSpPr/>
            <p:nvPr/>
          </p:nvSpPr>
          <p:spPr>
            <a:xfrm>
              <a:off x="0" y="989837"/>
              <a:ext cx="3455097" cy="98983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6" name="Google Shape;276;p31"/>
            <p:cNvSpPr txBox="1"/>
            <p:nvPr/>
          </p:nvSpPr>
          <p:spPr>
            <a:xfrm>
              <a:off x="0" y="989837"/>
              <a:ext cx="3455097" cy="989837"/>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rial"/>
                <a:buNone/>
              </a:pPr>
              <a:r>
                <a:rPr b="0" i="0" lang="uk" sz="1500" u="none" cap="none" strike="noStrike">
                  <a:solidFill>
                    <a:schemeClr val="dk1"/>
                  </a:solidFill>
                  <a:latin typeface="Arial"/>
                  <a:ea typeface="Arial"/>
                  <a:cs typeface="Arial"/>
                  <a:sym typeface="Arial"/>
                </a:rPr>
                <a:t>Відповіді на питання (SQuAD).</a:t>
              </a:r>
              <a:endParaRPr sz="1100"/>
            </a:p>
          </p:txBody>
        </p:sp>
        <p:cxnSp>
          <p:nvCxnSpPr>
            <p:cNvPr id="277" name="Google Shape;277;p31"/>
            <p:cNvCxnSpPr/>
            <p:nvPr/>
          </p:nvCxnSpPr>
          <p:spPr>
            <a:xfrm>
              <a:off x="0" y="1979675"/>
              <a:ext cx="3455097" cy="0"/>
            </a:xfrm>
            <a:prstGeom prst="straightConnector1">
              <a:avLst/>
            </a:prstGeom>
            <a:gradFill>
              <a:gsLst>
                <a:gs pos="0">
                  <a:srgbClr val="47A9DE"/>
                </a:gs>
                <a:gs pos="50000">
                  <a:srgbClr val="00A2DF"/>
                </a:gs>
                <a:gs pos="100000">
                  <a:srgbClr val="0093CC"/>
                </a:gs>
              </a:gsLst>
              <a:lin ang="5400000" scaled="0"/>
            </a:gradFill>
            <a:ln cap="flat" cmpd="sng" w="12700">
              <a:solidFill>
                <a:srgbClr val="0C9ED5"/>
              </a:solidFill>
              <a:prstDash val="solid"/>
              <a:miter lim="800000"/>
              <a:headEnd len="sm" w="sm" type="none"/>
              <a:tailEnd len="sm" w="sm" type="none"/>
            </a:ln>
          </p:spPr>
        </p:cxnSp>
        <p:sp>
          <p:nvSpPr>
            <p:cNvPr id="278" name="Google Shape;278;p31"/>
            <p:cNvSpPr/>
            <p:nvPr/>
          </p:nvSpPr>
          <p:spPr>
            <a:xfrm>
              <a:off x="0" y="1979675"/>
              <a:ext cx="3455097" cy="98983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9" name="Google Shape;279;p31"/>
            <p:cNvSpPr txBox="1"/>
            <p:nvPr/>
          </p:nvSpPr>
          <p:spPr>
            <a:xfrm>
              <a:off x="0" y="1979675"/>
              <a:ext cx="3455097" cy="989837"/>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rial"/>
                <a:buNone/>
              </a:pPr>
              <a:r>
                <a:rPr b="0" i="0" lang="uk" sz="1500" u="none" cap="none" strike="noStrike">
                  <a:solidFill>
                    <a:schemeClr val="dk1"/>
                  </a:solidFill>
                  <a:latin typeface="Arial"/>
                  <a:ea typeface="Arial"/>
                  <a:cs typeface="Arial"/>
                  <a:sym typeface="Arial"/>
                </a:rPr>
                <a:t>Розпізнавання сутностей (імена, дати, організації).</a:t>
              </a:r>
              <a:endParaRPr b="0" i="0" sz="1500" u="none" cap="none" strike="noStrike">
                <a:solidFill>
                  <a:schemeClr val="dk1"/>
                </a:solidFill>
                <a:latin typeface="Arial"/>
                <a:ea typeface="Arial"/>
                <a:cs typeface="Arial"/>
                <a:sym typeface="Arial"/>
              </a:endParaRPr>
            </a:p>
          </p:txBody>
        </p:sp>
        <p:cxnSp>
          <p:nvCxnSpPr>
            <p:cNvPr id="280" name="Google Shape;280;p31"/>
            <p:cNvCxnSpPr/>
            <p:nvPr/>
          </p:nvCxnSpPr>
          <p:spPr>
            <a:xfrm>
              <a:off x="0" y="2969513"/>
              <a:ext cx="3455097" cy="0"/>
            </a:xfrm>
            <a:prstGeom prst="straightConnector1">
              <a:avLst/>
            </a:prstGeom>
            <a:gradFill>
              <a:gsLst>
                <a:gs pos="0">
                  <a:srgbClr val="47A9DE"/>
                </a:gs>
                <a:gs pos="50000">
                  <a:srgbClr val="00A2DF"/>
                </a:gs>
                <a:gs pos="100000">
                  <a:srgbClr val="0093CC"/>
                </a:gs>
              </a:gsLst>
              <a:lin ang="5400000" scaled="0"/>
            </a:gradFill>
            <a:ln cap="flat" cmpd="sng" w="12700">
              <a:solidFill>
                <a:srgbClr val="0C9ED5"/>
              </a:solidFill>
              <a:prstDash val="solid"/>
              <a:miter lim="800000"/>
              <a:headEnd len="sm" w="sm" type="none"/>
              <a:tailEnd len="sm" w="sm" type="none"/>
            </a:ln>
          </p:spPr>
        </p:cxnSp>
        <p:sp>
          <p:nvSpPr>
            <p:cNvPr id="281" name="Google Shape;281;p31"/>
            <p:cNvSpPr/>
            <p:nvPr/>
          </p:nvSpPr>
          <p:spPr>
            <a:xfrm>
              <a:off x="0" y="2969513"/>
              <a:ext cx="3455097" cy="98983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2" name="Google Shape;282;p31"/>
            <p:cNvSpPr txBox="1"/>
            <p:nvPr/>
          </p:nvSpPr>
          <p:spPr>
            <a:xfrm>
              <a:off x="0" y="2969513"/>
              <a:ext cx="3455097" cy="989837"/>
            </a:xfrm>
            <a:prstGeom prst="rect">
              <a:avLst/>
            </a:prstGeom>
            <a:noFill/>
            <a:ln>
              <a:noFill/>
            </a:ln>
          </p:spPr>
          <p:txBody>
            <a:bodyPr anchorCtr="0" anchor="t" bIns="57150" lIns="57150" spcFirstLastPara="1" rIns="57150" wrap="square" tIns="57150">
              <a:noAutofit/>
            </a:bodyPr>
            <a:lstStyle/>
            <a:p>
              <a:pPr indent="0" lvl="0" marL="0" marR="0" rtl="0" algn="l">
                <a:lnSpc>
                  <a:spcPct val="90000"/>
                </a:lnSpc>
                <a:spcBef>
                  <a:spcPts val="0"/>
                </a:spcBef>
                <a:spcAft>
                  <a:spcPts val="0"/>
                </a:spcAft>
                <a:buClr>
                  <a:schemeClr val="dk1"/>
                </a:buClr>
                <a:buSzPts val="1500"/>
                <a:buFont typeface="Arial"/>
                <a:buNone/>
              </a:pPr>
              <a:r>
                <a:rPr b="0" i="0" lang="uk" sz="1500" u="none" cap="none" strike="noStrike">
                  <a:solidFill>
                    <a:schemeClr val="dk1"/>
                  </a:solidFill>
                  <a:latin typeface="Arial"/>
                  <a:ea typeface="Arial"/>
                  <a:cs typeface="Arial"/>
                  <a:sym typeface="Arial"/>
                </a:rPr>
                <a:t>Ранжування пошуку (Google використовує BERT).</a:t>
              </a:r>
              <a:endParaRPr sz="1100"/>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6" name="Shape 286"/>
        <p:cNvGrpSpPr/>
        <p:nvPr/>
      </p:nvGrpSpPr>
      <p:grpSpPr>
        <a:xfrm>
          <a:off x="0" y="0"/>
          <a:ext cx="0" cy="0"/>
          <a:chOff x="0" y="0"/>
          <a:chExt cx="0" cy="0"/>
        </a:xfrm>
      </p:grpSpPr>
      <p:sp>
        <p:nvSpPr>
          <p:cNvPr id="287" name="Google Shape;287;p32"/>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8" name="Google Shape;288;p32"/>
          <p:cNvSpPr txBox="1"/>
          <p:nvPr>
            <p:ph type="title"/>
          </p:nvPr>
        </p:nvSpPr>
        <p:spPr>
          <a:xfrm>
            <a:off x="459486" y="809244"/>
            <a:ext cx="4701578" cy="1152144"/>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500"/>
              <a:buFont typeface="Play"/>
              <a:buNone/>
            </a:pPr>
            <a:r>
              <a:rPr b="1" lang="uk" sz="2500"/>
              <a:t>GPT: авторегресивна генерація</a:t>
            </a:r>
            <a:br>
              <a:rPr b="1" lang="uk" sz="2500"/>
            </a:br>
            <a:endParaRPr sz="2500"/>
          </a:p>
        </p:txBody>
      </p:sp>
      <p:sp>
        <p:nvSpPr>
          <p:cNvPr id="289" name="Google Shape;289;p32"/>
          <p:cNvSpPr/>
          <p:nvPr/>
        </p:nvSpPr>
        <p:spPr>
          <a:xfrm rot="5400000">
            <a:off x="639902" y="272542"/>
            <a:ext cx="54864" cy="411480"/>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90" name="Google Shape;290;p32"/>
          <p:cNvSpPr/>
          <p:nvPr/>
        </p:nvSpPr>
        <p:spPr>
          <a:xfrm>
            <a:off x="463879" y="2201656"/>
            <a:ext cx="4663440" cy="13716"/>
          </a:xfrm>
          <a:prstGeom prst="rect">
            <a:avLst/>
          </a:prstGeom>
          <a:solidFill>
            <a:srgbClr val="D5D5D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pic>
        <p:nvPicPr>
          <p:cNvPr descr="Understanding Next Token Prediction: Concept To Code: 1st part! | by Akash  Kesrwani | Medium" id="291" name="Google Shape;291;p32"/>
          <p:cNvPicPr preferRelativeResize="0"/>
          <p:nvPr/>
        </p:nvPicPr>
        <p:blipFill rotWithShape="1">
          <a:blip r:embed="rId3">
            <a:alphaModFix/>
          </a:blip>
          <a:srcRect b="3" l="6518" r="23948" t="0"/>
          <a:stretch/>
        </p:blipFill>
        <p:spPr>
          <a:xfrm>
            <a:off x="5763005" y="452628"/>
            <a:ext cx="3038094" cy="4183380"/>
          </a:xfrm>
          <a:prstGeom prst="rect">
            <a:avLst/>
          </a:prstGeom>
          <a:noFill/>
          <a:ln>
            <a:noFill/>
          </a:ln>
          <a:effectLst>
            <a:outerShdw blurRad="292100" rotWithShape="0" algn="tl" dir="2700000" dist="139700">
              <a:srgbClr val="333333">
                <a:alpha val="65098"/>
              </a:srgbClr>
            </a:outerShdw>
          </a:effectLst>
        </p:spPr>
      </p:pic>
      <p:grpSp>
        <p:nvGrpSpPr>
          <p:cNvPr id="292" name="Google Shape;292;p32"/>
          <p:cNvGrpSpPr/>
          <p:nvPr/>
        </p:nvGrpSpPr>
        <p:grpSpPr>
          <a:xfrm>
            <a:off x="479452" y="2516886"/>
            <a:ext cx="4683718" cy="2119121"/>
            <a:chOff x="0" y="0"/>
            <a:chExt cx="6244957" cy="2825494"/>
          </a:xfrm>
        </p:grpSpPr>
        <p:cxnSp>
          <p:nvCxnSpPr>
            <p:cNvPr id="293" name="Google Shape;293;p32"/>
            <p:cNvCxnSpPr/>
            <p:nvPr/>
          </p:nvCxnSpPr>
          <p:spPr>
            <a:xfrm>
              <a:off x="0" y="0"/>
              <a:ext cx="6244957" cy="0"/>
            </a:xfrm>
            <a:prstGeom prst="straightConnector1">
              <a:avLst/>
            </a:prstGeom>
            <a:solidFill>
              <a:srgbClr val="E97131"/>
            </a:solidFill>
            <a:ln cap="flat" cmpd="sng" w="19050">
              <a:solidFill>
                <a:srgbClr val="E97131"/>
              </a:solidFill>
              <a:prstDash val="solid"/>
              <a:miter lim="800000"/>
              <a:headEnd len="sm" w="sm" type="none"/>
              <a:tailEnd len="sm" w="sm" type="none"/>
            </a:ln>
          </p:spPr>
        </p:cxnSp>
        <p:sp>
          <p:nvSpPr>
            <p:cNvPr id="294" name="Google Shape;294;p32"/>
            <p:cNvSpPr/>
            <p:nvPr/>
          </p:nvSpPr>
          <p:spPr>
            <a:xfrm>
              <a:off x="0" y="0"/>
              <a:ext cx="6244957" cy="706373"/>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5" name="Google Shape;295;p32"/>
            <p:cNvSpPr txBox="1"/>
            <p:nvPr/>
          </p:nvSpPr>
          <p:spPr>
            <a:xfrm>
              <a:off x="0" y="0"/>
              <a:ext cx="6244957" cy="706373"/>
            </a:xfrm>
            <a:prstGeom prst="rect">
              <a:avLst/>
            </a:prstGeom>
            <a:noFill/>
            <a:ln>
              <a:noFill/>
            </a:ln>
          </p:spPr>
          <p:txBody>
            <a:bodyPr anchorCtr="0" anchor="t" bIns="54275" lIns="54275" spcFirstLastPara="1" rIns="54275" wrap="square" tIns="54275">
              <a:noAutofit/>
            </a:bodyPr>
            <a:lstStyle/>
            <a:p>
              <a:pPr indent="0" lvl="0" marL="0" marR="0" rtl="0" algn="l">
                <a:lnSpc>
                  <a:spcPct val="90000"/>
                </a:lnSpc>
                <a:spcBef>
                  <a:spcPts val="0"/>
                </a:spcBef>
                <a:spcAft>
                  <a:spcPts val="0"/>
                </a:spcAft>
                <a:buClr>
                  <a:schemeClr val="dk1"/>
                </a:buClr>
                <a:buSzPts val="1400"/>
                <a:buFont typeface="Arial"/>
                <a:buNone/>
              </a:pPr>
              <a:r>
                <a:rPr b="1" i="0" lang="uk" sz="1400" u="none" cap="none" strike="noStrike">
                  <a:solidFill>
                    <a:schemeClr val="dk1"/>
                  </a:solidFill>
                  <a:latin typeface="Arial"/>
                  <a:ea typeface="Arial"/>
                  <a:cs typeface="Arial"/>
                  <a:sym typeface="Arial"/>
                </a:rPr>
                <a:t>Generative Pre-trained Transformer</a:t>
              </a:r>
              <a:r>
                <a:rPr b="0" i="0" lang="uk" sz="1400" u="none" cap="none" strike="noStrike">
                  <a:solidFill>
                    <a:schemeClr val="dk1"/>
                  </a:solidFill>
                  <a:latin typeface="Arial"/>
                  <a:ea typeface="Arial"/>
                  <a:cs typeface="Arial"/>
                  <a:sym typeface="Arial"/>
                </a:rPr>
                <a:t>.</a:t>
              </a:r>
              <a:endParaRPr sz="1100"/>
            </a:p>
          </p:txBody>
        </p:sp>
        <p:cxnSp>
          <p:nvCxnSpPr>
            <p:cNvPr id="296" name="Google Shape;296;p32"/>
            <p:cNvCxnSpPr/>
            <p:nvPr/>
          </p:nvCxnSpPr>
          <p:spPr>
            <a:xfrm>
              <a:off x="0" y="706373"/>
              <a:ext cx="6244957" cy="0"/>
            </a:xfrm>
            <a:prstGeom prst="straightConnector1">
              <a:avLst/>
            </a:prstGeom>
            <a:solidFill>
              <a:srgbClr val="E97131"/>
            </a:solidFill>
            <a:ln cap="flat" cmpd="sng" w="19050">
              <a:solidFill>
                <a:srgbClr val="E97131"/>
              </a:solidFill>
              <a:prstDash val="solid"/>
              <a:miter lim="800000"/>
              <a:headEnd len="sm" w="sm" type="none"/>
              <a:tailEnd len="sm" w="sm" type="none"/>
            </a:ln>
          </p:spPr>
        </p:cxnSp>
        <p:sp>
          <p:nvSpPr>
            <p:cNvPr id="297" name="Google Shape;297;p32"/>
            <p:cNvSpPr/>
            <p:nvPr/>
          </p:nvSpPr>
          <p:spPr>
            <a:xfrm>
              <a:off x="0" y="706373"/>
              <a:ext cx="6244957" cy="706373"/>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8" name="Google Shape;298;p32"/>
            <p:cNvSpPr txBox="1"/>
            <p:nvPr/>
          </p:nvSpPr>
          <p:spPr>
            <a:xfrm>
              <a:off x="0" y="706373"/>
              <a:ext cx="6244957" cy="706373"/>
            </a:xfrm>
            <a:prstGeom prst="rect">
              <a:avLst/>
            </a:prstGeom>
            <a:noFill/>
            <a:ln>
              <a:noFill/>
            </a:ln>
          </p:spPr>
          <p:txBody>
            <a:bodyPr anchorCtr="0" anchor="t" bIns="54275" lIns="54275" spcFirstLastPara="1" rIns="54275" wrap="square" tIns="54275">
              <a:noAutofit/>
            </a:bodyPr>
            <a:lstStyle/>
            <a:p>
              <a:pPr indent="0" lvl="0" marL="0" marR="0" rtl="0" algn="l">
                <a:lnSpc>
                  <a:spcPct val="90000"/>
                </a:lnSpc>
                <a:spcBef>
                  <a:spcPts val="0"/>
                </a:spcBef>
                <a:spcAft>
                  <a:spcPts val="0"/>
                </a:spcAft>
                <a:buClr>
                  <a:schemeClr val="dk1"/>
                </a:buClr>
                <a:buSzPts val="1400"/>
                <a:buFont typeface="Arial"/>
                <a:buNone/>
              </a:pPr>
              <a:r>
                <a:rPr b="0" i="0" lang="uk" sz="1400" u="none" cap="none" strike="noStrike">
                  <a:solidFill>
                    <a:schemeClr val="dk1"/>
                  </a:solidFill>
                  <a:latin typeface="Arial"/>
                  <a:ea typeface="Arial"/>
                  <a:cs typeface="Arial"/>
                  <a:sym typeface="Arial"/>
                </a:rPr>
                <a:t>Використовує тільки декодер.</a:t>
              </a:r>
              <a:endParaRPr b="0" i="0" sz="1400" u="none" cap="none" strike="noStrike">
                <a:solidFill>
                  <a:schemeClr val="dk1"/>
                </a:solidFill>
                <a:latin typeface="Arial"/>
                <a:ea typeface="Arial"/>
                <a:cs typeface="Arial"/>
                <a:sym typeface="Arial"/>
              </a:endParaRPr>
            </a:p>
          </p:txBody>
        </p:sp>
        <p:cxnSp>
          <p:nvCxnSpPr>
            <p:cNvPr id="299" name="Google Shape;299;p32"/>
            <p:cNvCxnSpPr/>
            <p:nvPr/>
          </p:nvCxnSpPr>
          <p:spPr>
            <a:xfrm>
              <a:off x="0" y="1412747"/>
              <a:ext cx="6244957" cy="0"/>
            </a:xfrm>
            <a:prstGeom prst="straightConnector1">
              <a:avLst/>
            </a:prstGeom>
            <a:solidFill>
              <a:srgbClr val="E97131"/>
            </a:solidFill>
            <a:ln cap="flat" cmpd="sng" w="19050">
              <a:solidFill>
                <a:srgbClr val="E97131"/>
              </a:solidFill>
              <a:prstDash val="solid"/>
              <a:miter lim="800000"/>
              <a:headEnd len="sm" w="sm" type="none"/>
              <a:tailEnd len="sm" w="sm" type="none"/>
            </a:ln>
          </p:spPr>
        </p:cxnSp>
        <p:sp>
          <p:nvSpPr>
            <p:cNvPr id="300" name="Google Shape;300;p32"/>
            <p:cNvSpPr/>
            <p:nvPr/>
          </p:nvSpPr>
          <p:spPr>
            <a:xfrm>
              <a:off x="0" y="1412747"/>
              <a:ext cx="6244957" cy="706373"/>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1" name="Google Shape;301;p32"/>
            <p:cNvSpPr txBox="1"/>
            <p:nvPr/>
          </p:nvSpPr>
          <p:spPr>
            <a:xfrm>
              <a:off x="0" y="1412747"/>
              <a:ext cx="6244957" cy="706373"/>
            </a:xfrm>
            <a:prstGeom prst="rect">
              <a:avLst/>
            </a:prstGeom>
            <a:noFill/>
            <a:ln>
              <a:noFill/>
            </a:ln>
          </p:spPr>
          <p:txBody>
            <a:bodyPr anchorCtr="0" anchor="t" bIns="54275" lIns="54275" spcFirstLastPara="1" rIns="54275" wrap="square" tIns="54275">
              <a:noAutofit/>
            </a:bodyPr>
            <a:lstStyle/>
            <a:p>
              <a:pPr indent="0" lvl="0" marL="0" marR="0" rtl="0" algn="l">
                <a:lnSpc>
                  <a:spcPct val="90000"/>
                </a:lnSpc>
                <a:spcBef>
                  <a:spcPts val="0"/>
                </a:spcBef>
                <a:spcAft>
                  <a:spcPts val="0"/>
                </a:spcAft>
                <a:buClr>
                  <a:schemeClr val="dk1"/>
                </a:buClr>
                <a:buSzPts val="1400"/>
                <a:buFont typeface="Arial"/>
                <a:buNone/>
              </a:pPr>
              <a:r>
                <a:rPr b="0" i="0" lang="uk" sz="1400" u="none" cap="none" strike="noStrike">
                  <a:solidFill>
                    <a:schemeClr val="dk1"/>
                  </a:solidFill>
                  <a:latin typeface="Arial"/>
                  <a:ea typeface="Arial"/>
                  <a:cs typeface="Arial"/>
                  <a:sym typeface="Arial"/>
                </a:rPr>
                <a:t>Навчається передбачати наступний токен (autoregressive).</a:t>
              </a:r>
              <a:endParaRPr sz="1100"/>
            </a:p>
          </p:txBody>
        </p:sp>
        <p:cxnSp>
          <p:nvCxnSpPr>
            <p:cNvPr id="302" name="Google Shape;302;p32"/>
            <p:cNvCxnSpPr/>
            <p:nvPr/>
          </p:nvCxnSpPr>
          <p:spPr>
            <a:xfrm>
              <a:off x="0" y="2119121"/>
              <a:ext cx="6244957" cy="0"/>
            </a:xfrm>
            <a:prstGeom prst="straightConnector1">
              <a:avLst/>
            </a:prstGeom>
            <a:solidFill>
              <a:srgbClr val="E97131"/>
            </a:solidFill>
            <a:ln cap="flat" cmpd="sng" w="19050">
              <a:solidFill>
                <a:srgbClr val="E97131"/>
              </a:solidFill>
              <a:prstDash val="solid"/>
              <a:miter lim="800000"/>
              <a:headEnd len="sm" w="sm" type="none"/>
              <a:tailEnd len="sm" w="sm" type="none"/>
            </a:ln>
          </p:spPr>
        </p:cxnSp>
        <p:sp>
          <p:nvSpPr>
            <p:cNvPr id="303" name="Google Shape;303;p32"/>
            <p:cNvSpPr/>
            <p:nvPr/>
          </p:nvSpPr>
          <p:spPr>
            <a:xfrm>
              <a:off x="0" y="2119121"/>
              <a:ext cx="6244957" cy="706373"/>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4" name="Google Shape;304;p32"/>
            <p:cNvSpPr txBox="1"/>
            <p:nvPr/>
          </p:nvSpPr>
          <p:spPr>
            <a:xfrm>
              <a:off x="0" y="2119121"/>
              <a:ext cx="6244957" cy="706373"/>
            </a:xfrm>
            <a:prstGeom prst="rect">
              <a:avLst/>
            </a:prstGeom>
            <a:noFill/>
            <a:ln>
              <a:noFill/>
            </a:ln>
          </p:spPr>
          <p:txBody>
            <a:bodyPr anchorCtr="0" anchor="t" bIns="54275" lIns="54275" spcFirstLastPara="1" rIns="54275" wrap="square" tIns="54275">
              <a:noAutofit/>
            </a:bodyPr>
            <a:lstStyle/>
            <a:p>
              <a:pPr indent="0" lvl="0" marL="0" marR="0" rtl="0" algn="l">
                <a:lnSpc>
                  <a:spcPct val="90000"/>
                </a:lnSpc>
                <a:spcBef>
                  <a:spcPts val="0"/>
                </a:spcBef>
                <a:spcAft>
                  <a:spcPts val="0"/>
                </a:spcAft>
                <a:buClr>
                  <a:schemeClr val="dk1"/>
                </a:buClr>
                <a:buSzPts val="1400"/>
                <a:buFont typeface="Arial"/>
                <a:buNone/>
              </a:pPr>
              <a:r>
                <a:rPr b="0" i="0" lang="uk" sz="1400" u="none" cap="none" strike="noStrike">
                  <a:solidFill>
                    <a:schemeClr val="dk1"/>
                  </a:solidFill>
                  <a:latin typeface="Arial"/>
                  <a:ea typeface="Arial"/>
                  <a:cs typeface="Arial"/>
                  <a:sym typeface="Arial"/>
                </a:rPr>
                <a:t>Генерує текст, код, вірші, статті.</a:t>
              </a:r>
              <a:endParaRPr b="0" i="0" sz="1400" u="none" cap="none" strike="noStrike">
                <a:solidFill>
                  <a:schemeClr val="dk1"/>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8" name="Shape 308"/>
        <p:cNvGrpSpPr/>
        <p:nvPr/>
      </p:nvGrpSpPr>
      <p:grpSpPr>
        <a:xfrm>
          <a:off x="0" y="0"/>
          <a:ext cx="0" cy="0"/>
          <a:chOff x="0" y="0"/>
          <a:chExt cx="0" cy="0"/>
        </a:xfrm>
      </p:grpSpPr>
      <p:sp>
        <p:nvSpPr>
          <p:cNvPr id="309" name="Google Shape;309;p33"/>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10" name="Google Shape;310;p33"/>
          <p:cNvSpPr/>
          <p:nvPr/>
        </p:nvSpPr>
        <p:spPr>
          <a:xfrm>
            <a:off x="0" y="0"/>
            <a:ext cx="3719285" cy="5143500"/>
          </a:xfrm>
          <a:custGeom>
            <a:rect b="b" l="l" r="r" t="t"/>
            <a:pathLst>
              <a:path extrusionOk="0" h="6858000" w="4959047">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solidFill>
            <a:schemeClr val="lt1"/>
          </a:solidFill>
          <a:ln cap="flat" cmpd="sng" w="9525">
            <a:solidFill>
              <a:srgbClr val="E6E6E6"/>
            </a:solidFill>
            <a:prstDash val="solid"/>
            <a:miter lim="800000"/>
            <a:headEnd len="sm" w="sm" type="none"/>
            <a:tailEnd len="sm" w="sm" type="none"/>
          </a:ln>
          <a:effectLst>
            <a:outerShdw blurRad="76200" rotWithShape="0" algn="l" dist="38100">
              <a:srgbClr val="D8D8D8">
                <a:alpha val="50196"/>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311" name="Google Shape;311;p33"/>
          <p:cNvSpPr/>
          <p:nvPr/>
        </p:nvSpPr>
        <p:spPr>
          <a:xfrm>
            <a:off x="0" y="0"/>
            <a:ext cx="3711665" cy="5143500"/>
          </a:xfrm>
          <a:custGeom>
            <a:rect b="b" l="l" r="r" t="t"/>
            <a:pathLst>
              <a:path extrusionOk="0" h="6858000" w="4948887">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312" name="Google Shape;312;p33"/>
          <p:cNvSpPr txBox="1"/>
          <p:nvPr>
            <p:ph type="title"/>
          </p:nvPr>
        </p:nvSpPr>
        <p:spPr>
          <a:xfrm>
            <a:off x="358486" y="841772"/>
            <a:ext cx="3017520" cy="2403101"/>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3600"/>
              <a:buFont typeface="Play"/>
              <a:buNone/>
            </a:pPr>
            <a:r>
              <a:rPr b="1" lang="uk" sz="3600">
                <a:solidFill>
                  <a:schemeClr val="dk1"/>
                </a:solidFill>
                <a:latin typeface="Play"/>
                <a:ea typeface="Play"/>
                <a:cs typeface="Play"/>
                <a:sym typeface="Play"/>
              </a:rPr>
              <a:t>Еволюція GPT</a:t>
            </a:r>
            <a:endParaRPr sz="3600">
              <a:solidFill>
                <a:schemeClr val="dk1"/>
              </a:solidFill>
              <a:latin typeface="Play"/>
              <a:ea typeface="Play"/>
              <a:cs typeface="Play"/>
              <a:sym typeface="Play"/>
            </a:endParaRPr>
          </a:p>
        </p:txBody>
      </p:sp>
      <p:sp>
        <p:nvSpPr>
          <p:cNvPr id="313" name="Google Shape;313;p33"/>
          <p:cNvSpPr/>
          <p:nvPr/>
        </p:nvSpPr>
        <p:spPr>
          <a:xfrm rot="5400000">
            <a:off x="569941" y="260093"/>
            <a:ext cx="109728" cy="528066"/>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sp>
        <p:nvSpPr>
          <p:cNvPr id="314" name="Google Shape;314;p33"/>
          <p:cNvSpPr/>
          <p:nvPr/>
        </p:nvSpPr>
        <p:spPr>
          <a:xfrm>
            <a:off x="360772" y="3410190"/>
            <a:ext cx="3017520" cy="13716"/>
          </a:xfrm>
          <a:prstGeom prst="rect">
            <a:avLst/>
          </a:prstGeom>
          <a:solidFill>
            <a:srgbClr val="D5D5D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graphicFrame>
        <p:nvGraphicFramePr>
          <p:cNvPr id="315" name="Google Shape;315;p33"/>
          <p:cNvGraphicFramePr/>
          <p:nvPr/>
        </p:nvGraphicFramePr>
        <p:xfrm>
          <a:off x="4092913" y="1252907"/>
          <a:ext cx="3000000" cy="3000000"/>
        </p:xfrm>
        <a:graphic>
          <a:graphicData uri="http://schemas.openxmlformats.org/drawingml/2006/table">
            <a:tbl>
              <a:tblPr>
                <a:noFill/>
                <a:tableStyleId>{996B3C0C-AA22-4732-A54B-E419DBC5203C}</a:tableStyleId>
              </a:tblPr>
              <a:tblGrid>
                <a:gridCol w="868300"/>
                <a:gridCol w="671025"/>
                <a:gridCol w="1372775"/>
                <a:gridCol w="1862325"/>
              </a:tblGrid>
              <a:tr h="350550">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rPr>
                        <a:t>Модель</a:t>
                      </a:r>
                      <a:endParaRPr b="0" i="0" sz="1400" u="none" cap="none" strike="noStrike">
                        <a:solidFill>
                          <a:schemeClr val="dk1"/>
                        </a:solidFill>
                        <a:latin typeface="Arial"/>
                        <a:ea typeface="Arial"/>
                        <a:cs typeface="Arial"/>
                        <a:sym typeface="Arial"/>
                      </a:endParaRPr>
                    </a:p>
                  </a:txBody>
                  <a:tcPr marT="60925" marB="60925" marR="97475" marL="73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rPr>
                        <a:t>Рік</a:t>
                      </a:r>
                      <a:endParaRPr b="0" i="0" sz="1400" u="none" cap="none" strike="noStrike">
                        <a:solidFill>
                          <a:schemeClr val="dk1"/>
                        </a:solidFill>
                        <a:latin typeface="Arial"/>
                        <a:ea typeface="Arial"/>
                        <a:cs typeface="Arial"/>
                        <a:sym typeface="Arial"/>
                      </a:endParaRPr>
                    </a:p>
                  </a:txBody>
                  <a:tcPr marT="60925" marB="60925" marR="97475" marL="97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rPr>
                        <a:t>Параметри</a:t>
                      </a:r>
                      <a:endParaRPr b="0" i="0" sz="1400" u="none" cap="none" strike="noStrike">
                        <a:solidFill>
                          <a:schemeClr val="dk1"/>
                        </a:solidFill>
                        <a:latin typeface="Arial"/>
                        <a:ea typeface="Arial"/>
                        <a:cs typeface="Arial"/>
                        <a:sym typeface="Arial"/>
                      </a:endParaRPr>
                    </a:p>
                  </a:txBody>
                  <a:tcPr marT="60925" marB="60925" marR="97475" marL="97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rPr>
                        <a:t>Особливість</a:t>
                      </a:r>
                      <a:endParaRPr b="0" i="0" sz="1400" u="none" cap="none" strike="noStrike">
                        <a:solidFill>
                          <a:schemeClr val="dk1"/>
                        </a:solidFill>
                        <a:latin typeface="Arial"/>
                        <a:ea typeface="Arial"/>
                        <a:cs typeface="Arial"/>
                        <a:sym typeface="Arial"/>
                      </a:endParaRPr>
                    </a:p>
                  </a:txBody>
                  <a:tcPr marT="60925" marB="60925" marR="97475" marL="97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36300">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rPr>
                        <a:t>GPT-1</a:t>
                      </a:r>
                      <a:endParaRPr b="0" i="0" sz="1400" u="none" cap="none" strike="noStrike">
                        <a:solidFill>
                          <a:schemeClr val="dk1"/>
                        </a:solidFill>
                        <a:latin typeface="Arial"/>
                        <a:ea typeface="Arial"/>
                        <a:cs typeface="Arial"/>
                        <a:sym typeface="Arial"/>
                      </a:endParaRPr>
                    </a:p>
                  </a:txBody>
                  <a:tcPr marT="60925" marB="60925" marR="97475" marL="73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rPr>
                        <a:t>2018</a:t>
                      </a:r>
                      <a:endParaRPr b="0" i="0" sz="1400" u="none" cap="none" strike="noStrike">
                        <a:solidFill>
                          <a:schemeClr val="dk1"/>
                        </a:solidFill>
                        <a:latin typeface="Arial"/>
                        <a:ea typeface="Arial"/>
                        <a:cs typeface="Arial"/>
                        <a:sym typeface="Arial"/>
                      </a:endParaRPr>
                    </a:p>
                  </a:txBody>
                  <a:tcPr marT="60925" marB="60925" marR="97475" marL="97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rPr>
                        <a:t>117M</a:t>
                      </a:r>
                      <a:endParaRPr b="0" i="0" sz="1400" u="none" cap="none" strike="noStrike">
                        <a:solidFill>
                          <a:schemeClr val="dk1"/>
                        </a:solidFill>
                        <a:latin typeface="Arial"/>
                        <a:ea typeface="Arial"/>
                        <a:cs typeface="Arial"/>
                        <a:sym typeface="Arial"/>
                      </a:endParaRPr>
                    </a:p>
                  </a:txBody>
                  <a:tcPr marT="60925" marB="60925" marR="97475" marL="97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rPr>
                        <a:t>Перший генеративний трансформер</a:t>
                      </a:r>
                      <a:endParaRPr b="0" i="0" sz="1400" u="none" cap="none" strike="noStrike">
                        <a:solidFill>
                          <a:schemeClr val="dk1"/>
                        </a:solidFill>
                        <a:latin typeface="Arial"/>
                        <a:ea typeface="Arial"/>
                        <a:cs typeface="Arial"/>
                        <a:sym typeface="Arial"/>
                      </a:endParaRPr>
                    </a:p>
                  </a:txBody>
                  <a:tcPr marT="60925" marB="60925" marR="73100" marL="97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43425">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rPr>
                        <a:t>GPT-2</a:t>
                      </a:r>
                      <a:endParaRPr b="0" i="0" sz="1400" u="none" cap="none" strike="noStrike">
                        <a:solidFill>
                          <a:schemeClr val="dk1"/>
                        </a:solidFill>
                        <a:latin typeface="Arial"/>
                        <a:ea typeface="Arial"/>
                        <a:cs typeface="Arial"/>
                        <a:sym typeface="Arial"/>
                      </a:endParaRPr>
                    </a:p>
                  </a:txBody>
                  <a:tcPr marT="60925" marB="60925" marR="97475" marL="73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rPr>
                        <a:t>2019</a:t>
                      </a:r>
                      <a:endParaRPr b="0" i="0" sz="1400" u="none" cap="none" strike="noStrike">
                        <a:solidFill>
                          <a:schemeClr val="dk1"/>
                        </a:solidFill>
                        <a:latin typeface="Arial"/>
                        <a:ea typeface="Arial"/>
                        <a:cs typeface="Arial"/>
                        <a:sym typeface="Arial"/>
                      </a:endParaRPr>
                    </a:p>
                  </a:txBody>
                  <a:tcPr marT="60925" marB="60925" marR="97475" marL="97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rPr>
                        <a:t>1.5B</a:t>
                      </a:r>
                      <a:endParaRPr b="0" i="0" sz="1400" u="none" cap="none" strike="noStrike">
                        <a:solidFill>
                          <a:schemeClr val="dk1"/>
                        </a:solidFill>
                        <a:latin typeface="Arial"/>
                        <a:ea typeface="Arial"/>
                        <a:cs typeface="Arial"/>
                        <a:sym typeface="Arial"/>
                      </a:endParaRPr>
                    </a:p>
                  </a:txBody>
                  <a:tcPr marT="60925" marB="60925" marR="97475" marL="97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rPr>
                        <a:t>Генерація реалістичного тексту</a:t>
                      </a:r>
                      <a:endParaRPr b="0" i="0" sz="1400" u="none" cap="none" strike="noStrike">
                        <a:solidFill>
                          <a:schemeClr val="dk1"/>
                        </a:solidFill>
                        <a:latin typeface="Arial"/>
                        <a:ea typeface="Arial"/>
                        <a:cs typeface="Arial"/>
                        <a:sym typeface="Arial"/>
                      </a:endParaRPr>
                    </a:p>
                  </a:txBody>
                  <a:tcPr marT="60925" marB="60925" marR="73100" marL="97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50550">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rPr>
                        <a:t>GPT-3</a:t>
                      </a:r>
                      <a:endParaRPr b="0" i="0" sz="1400" u="none" cap="none" strike="noStrike">
                        <a:solidFill>
                          <a:schemeClr val="dk1"/>
                        </a:solidFill>
                        <a:latin typeface="Arial"/>
                        <a:ea typeface="Arial"/>
                        <a:cs typeface="Arial"/>
                        <a:sym typeface="Arial"/>
                      </a:endParaRPr>
                    </a:p>
                  </a:txBody>
                  <a:tcPr marT="60925" marB="60925" marR="97475" marL="73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rPr>
                        <a:t>2020</a:t>
                      </a:r>
                      <a:endParaRPr b="0" i="0" sz="1400" u="none" cap="none" strike="noStrike">
                        <a:solidFill>
                          <a:schemeClr val="dk1"/>
                        </a:solidFill>
                        <a:latin typeface="Arial"/>
                        <a:ea typeface="Arial"/>
                        <a:cs typeface="Arial"/>
                        <a:sym typeface="Arial"/>
                      </a:endParaRPr>
                    </a:p>
                  </a:txBody>
                  <a:tcPr marT="60925" marB="60925" marR="97475" marL="97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rPr>
                        <a:t>175B</a:t>
                      </a:r>
                      <a:endParaRPr b="0" i="0" sz="1400" u="none" cap="none" strike="noStrike">
                        <a:solidFill>
                          <a:schemeClr val="dk1"/>
                        </a:solidFill>
                        <a:latin typeface="Arial"/>
                        <a:ea typeface="Arial"/>
                        <a:cs typeface="Arial"/>
                        <a:sym typeface="Arial"/>
                      </a:endParaRPr>
                    </a:p>
                  </a:txBody>
                  <a:tcPr marT="60925" marB="60925" marR="97475" marL="97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rPr>
                        <a:t>Few-shot learning, API</a:t>
                      </a:r>
                      <a:endParaRPr b="0" i="0" sz="1400" u="none" cap="none" strike="noStrike">
                        <a:solidFill>
                          <a:schemeClr val="dk1"/>
                        </a:solidFill>
                        <a:latin typeface="Arial"/>
                        <a:ea typeface="Arial"/>
                        <a:cs typeface="Arial"/>
                        <a:sym typeface="Arial"/>
                      </a:endParaRPr>
                    </a:p>
                  </a:txBody>
                  <a:tcPr marT="60925" marB="60925" marR="73100" marL="97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43425">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rPr>
                        <a:t>GPT-4</a:t>
                      </a:r>
                      <a:endParaRPr b="0" i="0" sz="1400" u="none" cap="none" strike="noStrike">
                        <a:solidFill>
                          <a:schemeClr val="dk1"/>
                        </a:solidFill>
                        <a:latin typeface="Arial"/>
                        <a:ea typeface="Arial"/>
                        <a:cs typeface="Arial"/>
                        <a:sym typeface="Arial"/>
                      </a:endParaRPr>
                    </a:p>
                  </a:txBody>
                  <a:tcPr marT="60925" marB="60925" marR="97475" marL="731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rPr>
                        <a:t>2023</a:t>
                      </a:r>
                      <a:endParaRPr b="0" i="0" sz="1400" u="none" cap="none" strike="noStrike">
                        <a:solidFill>
                          <a:schemeClr val="dk1"/>
                        </a:solidFill>
                        <a:latin typeface="Arial"/>
                        <a:ea typeface="Arial"/>
                        <a:cs typeface="Arial"/>
                        <a:sym typeface="Arial"/>
                      </a:endParaRPr>
                    </a:p>
                  </a:txBody>
                  <a:tcPr marT="60925" marB="60925" marR="97475" marL="97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rPr>
                        <a:t>~1.7T (оцінка)</a:t>
                      </a:r>
                      <a:endParaRPr b="0" i="0" sz="1400" u="none" cap="none" strike="noStrike">
                        <a:solidFill>
                          <a:schemeClr val="dk1"/>
                        </a:solidFill>
                        <a:latin typeface="Arial"/>
                        <a:ea typeface="Arial"/>
                        <a:cs typeface="Arial"/>
                        <a:sym typeface="Arial"/>
                      </a:endParaRPr>
                    </a:p>
                  </a:txBody>
                  <a:tcPr marT="60925" marB="60925" marR="97475" marL="97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rPr>
                        <a:t>Мультимодальність, довгий контекст</a:t>
                      </a:r>
                      <a:endParaRPr b="0" i="0" sz="1400" u="none" cap="none" strike="noStrike">
                        <a:solidFill>
                          <a:schemeClr val="dk1"/>
                        </a:solidFill>
                        <a:latin typeface="Arial"/>
                        <a:ea typeface="Arial"/>
                        <a:cs typeface="Arial"/>
                        <a:sym typeface="Arial"/>
                      </a:endParaRPr>
                    </a:p>
                  </a:txBody>
                  <a:tcPr marT="60925" marB="60925" marR="73100" marL="97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9" name="Shape 319"/>
        <p:cNvGrpSpPr/>
        <p:nvPr/>
      </p:nvGrpSpPr>
      <p:grpSpPr>
        <a:xfrm>
          <a:off x="0" y="0"/>
          <a:ext cx="0" cy="0"/>
          <a:chOff x="0" y="0"/>
          <a:chExt cx="0" cy="0"/>
        </a:xfrm>
      </p:grpSpPr>
      <p:sp>
        <p:nvSpPr>
          <p:cNvPr id="320" name="Google Shape;320;p34"/>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21" name="Google Shape;321;p34"/>
          <p:cNvSpPr txBox="1"/>
          <p:nvPr>
            <p:ph type="title"/>
          </p:nvPr>
        </p:nvSpPr>
        <p:spPr>
          <a:xfrm>
            <a:off x="322326" y="308610"/>
            <a:ext cx="8401050" cy="82981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Play"/>
              <a:buNone/>
            </a:pPr>
            <a:r>
              <a:rPr b="1" lang="uk" sz="2700"/>
              <a:t>LLaMA та відкриті моделі</a:t>
            </a:r>
            <a:br>
              <a:rPr b="1" lang="uk" sz="2700"/>
            </a:br>
            <a:endParaRPr sz="2700"/>
          </a:p>
        </p:txBody>
      </p:sp>
      <p:sp>
        <p:nvSpPr>
          <p:cNvPr id="322" name="Google Shape;322;p34"/>
          <p:cNvSpPr/>
          <p:nvPr/>
        </p:nvSpPr>
        <p:spPr>
          <a:xfrm>
            <a:off x="0" y="448843"/>
            <a:ext cx="96012" cy="528066"/>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pic>
        <p:nvPicPr>
          <p:cNvPr descr="Top 10 Open-Source AI Models That Are Beating ChatGPT- 2026" id="323" name="Google Shape;323;p34"/>
          <p:cNvPicPr preferRelativeResize="0"/>
          <p:nvPr/>
        </p:nvPicPr>
        <p:blipFill rotWithShape="1">
          <a:blip r:embed="rId3">
            <a:alphaModFix/>
          </a:blip>
          <a:srcRect b="0" l="0" r="0" t="0"/>
          <a:stretch/>
        </p:blipFill>
        <p:spPr>
          <a:xfrm>
            <a:off x="322326" y="1669949"/>
            <a:ext cx="5026914" cy="2626562"/>
          </a:xfrm>
          <a:prstGeom prst="rect">
            <a:avLst/>
          </a:prstGeom>
          <a:noFill/>
          <a:ln>
            <a:noFill/>
          </a:ln>
        </p:spPr>
      </p:pic>
      <p:sp>
        <p:nvSpPr>
          <p:cNvPr id="324" name="Google Shape;324;p34"/>
          <p:cNvSpPr/>
          <p:nvPr/>
        </p:nvSpPr>
        <p:spPr>
          <a:xfrm>
            <a:off x="5657851" y="1291442"/>
            <a:ext cx="3163824" cy="3390420"/>
          </a:xfrm>
          <a:prstGeom prst="rect">
            <a:avLst/>
          </a:prstGeom>
          <a:solidFill>
            <a:schemeClr val="lt1"/>
          </a:solidFill>
          <a:ln cap="flat" cmpd="sng" w="9525">
            <a:solidFill>
              <a:srgbClr val="DEDEDE"/>
            </a:solidFill>
            <a:prstDash val="solid"/>
            <a:miter lim="800000"/>
            <a:headEnd len="sm" w="sm" type="none"/>
            <a:tailEnd len="sm" w="sm" type="none"/>
          </a:ln>
          <a:effectLst>
            <a:outerShdw blurRad="50800" rotWithShape="0" algn="tl" dir="2700000" dist="38100">
              <a:srgbClr val="D8D8D8">
                <a:alpha val="50196"/>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grpSp>
        <p:nvGrpSpPr>
          <p:cNvPr id="325" name="Google Shape;325;p34"/>
          <p:cNvGrpSpPr/>
          <p:nvPr/>
        </p:nvGrpSpPr>
        <p:grpSpPr>
          <a:xfrm>
            <a:off x="5870750" y="1447050"/>
            <a:ext cx="2852562" cy="3097327"/>
            <a:chOff x="0" y="0"/>
            <a:chExt cx="3657600" cy="4129770"/>
          </a:xfrm>
        </p:grpSpPr>
        <p:cxnSp>
          <p:nvCxnSpPr>
            <p:cNvPr id="326" name="Google Shape;326;p34"/>
            <p:cNvCxnSpPr/>
            <p:nvPr/>
          </p:nvCxnSpPr>
          <p:spPr>
            <a:xfrm>
              <a:off x="0" y="0"/>
              <a:ext cx="3657600" cy="0"/>
            </a:xfrm>
            <a:prstGeom prst="straightConnector1">
              <a:avLst/>
            </a:prstGeom>
            <a:solidFill>
              <a:srgbClr val="0C9ED5"/>
            </a:solidFill>
            <a:ln cap="flat" cmpd="sng" w="19050">
              <a:solidFill>
                <a:srgbClr val="0C9ED5"/>
              </a:solidFill>
              <a:prstDash val="solid"/>
              <a:miter lim="800000"/>
              <a:headEnd len="sm" w="sm" type="none"/>
              <a:tailEnd len="sm" w="sm" type="none"/>
            </a:ln>
          </p:spPr>
        </p:cxnSp>
        <p:sp>
          <p:nvSpPr>
            <p:cNvPr id="327" name="Google Shape;327;p34"/>
            <p:cNvSpPr/>
            <p:nvPr/>
          </p:nvSpPr>
          <p:spPr>
            <a:xfrm>
              <a:off x="0" y="0"/>
              <a:ext cx="3657600" cy="1032442"/>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8" name="Google Shape;328;p34"/>
            <p:cNvSpPr txBox="1"/>
            <p:nvPr/>
          </p:nvSpPr>
          <p:spPr>
            <a:xfrm>
              <a:off x="0" y="0"/>
              <a:ext cx="3657600" cy="1032442"/>
            </a:xfrm>
            <a:prstGeom prst="rect">
              <a:avLst/>
            </a:prstGeom>
            <a:noFill/>
            <a:ln>
              <a:noFill/>
            </a:ln>
          </p:spPr>
          <p:txBody>
            <a:bodyPr anchorCtr="0" anchor="t" bIns="54275" lIns="54275" spcFirstLastPara="1" rIns="54275" wrap="square" tIns="54275">
              <a:noAutofit/>
            </a:bodyPr>
            <a:lstStyle/>
            <a:p>
              <a:pPr indent="0" lvl="0" marL="0" marR="0" rtl="0" algn="l">
                <a:lnSpc>
                  <a:spcPct val="90000"/>
                </a:lnSpc>
                <a:spcBef>
                  <a:spcPts val="0"/>
                </a:spcBef>
                <a:spcAft>
                  <a:spcPts val="0"/>
                </a:spcAft>
                <a:buClr>
                  <a:schemeClr val="dk1"/>
                </a:buClr>
                <a:buSzPts val="1400"/>
                <a:buFont typeface="Arial"/>
                <a:buNone/>
              </a:pPr>
              <a:r>
                <a:rPr b="1" i="0" lang="uk" sz="1400" u="none" cap="none" strike="noStrike">
                  <a:solidFill>
                    <a:schemeClr val="dk1"/>
                  </a:solidFill>
                  <a:latin typeface="Arial"/>
                  <a:ea typeface="Arial"/>
                  <a:cs typeface="Arial"/>
                  <a:sym typeface="Arial"/>
                </a:rPr>
                <a:t>LLaMA (Meta)</a:t>
              </a:r>
              <a:r>
                <a:rPr b="0" i="0" lang="uk" sz="1400" u="none" cap="none" strike="noStrike">
                  <a:solidFill>
                    <a:schemeClr val="dk1"/>
                  </a:solidFill>
                  <a:latin typeface="Arial"/>
                  <a:ea typeface="Arial"/>
                  <a:cs typeface="Arial"/>
                  <a:sym typeface="Arial"/>
                </a:rPr>
                <a:t> – відкрита вагова модель (7B, 13B, 33B, 65B).</a:t>
              </a:r>
              <a:endParaRPr sz="1100"/>
            </a:p>
          </p:txBody>
        </p:sp>
        <p:cxnSp>
          <p:nvCxnSpPr>
            <p:cNvPr id="329" name="Google Shape;329;p34"/>
            <p:cNvCxnSpPr/>
            <p:nvPr/>
          </p:nvCxnSpPr>
          <p:spPr>
            <a:xfrm>
              <a:off x="0" y="1032442"/>
              <a:ext cx="3657600" cy="0"/>
            </a:xfrm>
            <a:prstGeom prst="straightConnector1">
              <a:avLst/>
            </a:prstGeom>
            <a:solidFill>
              <a:srgbClr val="0C9ED5"/>
            </a:solidFill>
            <a:ln cap="flat" cmpd="sng" w="19050">
              <a:solidFill>
                <a:srgbClr val="0C9ED5"/>
              </a:solidFill>
              <a:prstDash val="solid"/>
              <a:miter lim="800000"/>
              <a:headEnd len="sm" w="sm" type="none"/>
              <a:tailEnd len="sm" w="sm" type="none"/>
            </a:ln>
          </p:spPr>
        </p:cxnSp>
        <p:sp>
          <p:nvSpPr>
            <p:cNvPr id="330" name="Google Shape;330;p34"/>
            <p:cNvSpPr/>
            <p:nvPr/>
          </p:nvSpPr>
          <p:spPr>
            <a:xfrm>
              <a:off x="0" y="1032442"/>
              <a:ext cx="3657600" cy="1032442"/>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1" name="Google Shape;331;p34"/>
            <p:cNvSpPr txBox="1"/>
            <p:nvPr/>
          </p:nvSpPr>
          <p:spPr>
            <a:xfrm>
              <a:off x="0" y="1032442"/>
              <a:ext cx="3657600" cy="1032442"/>
            </a:xfrm>
            <a:prstGeom prst="rect">
              <a:avLst/>
            </a:prstGeom>
            <a:noFill/>
            <a:ln>
              <a:noFill/>
            </a:ln>
          </p:spPr>
          <p:txBody>
            <a:bodyPr anchorCtr="0" anchor="t" bIns="54275" lIns="54275" spcFirstLastPara="1" rIns="54275" wrap="square" tIns="54275">
              <a:noAutofit/>
            </a:bodyPr>
            <a:lstStyle/>
            <a:p>
              <a:pPr indent="0" lvl="0" marL="0" marR="0" rtl="0" algn="l">
                <a:lnSpc>
                  <a:spcPct val="90000"/>
                </a:lnSpc>
                <a:spcBef>
                  <a:spcPts val="0"/>
                </a:spcBef>
                <a:spcAft>
                  <a:spcPts val="0"/>
                </a:spcAft>
                <a:buClr>
                  <a:schemeClr val="dk1"/>
                </a:buClr>
                <a:buSzPts val="1400"/>
                <a:buFont typeface="Arial"/>
                <a:buNone/>
              </a:pPr>
              <a:r>
                <a:rPr b="1" i="0" lang="uk" sz="1400" u="none" cap="none" strike="noStrike">
                  <a:solidFill>
                    <a:schemeClr val="dk1"/>
                  </a:solidFill>
                  <a:latin typeface="Arial"/>
                  <a:ea typeface="Arial"/>
                  <a:cs typeface="Arial"/>
                  <a:sym typeface="Arial"/>
                </a:rPr>
                <a:t>Mistral</a:t>
              </a:r>
              <a:r>
                <a:rPr b="0" i="0" lang="uk" sz="1400" u="none" cap="none" strike="noStrike">
                  <a:solidFill>
                    <a:schemeClr val="dk1"/>
                  </a:solidFill>
                  <a:latin typeface="Arial"/>
                  <a:ea typeface="Arial"/>
                  <a:cs typeface="Arial"/>
                  <a:sym typeface="Arial"/>
                </a:rPr>
                <a:t> – ефективна архітектура, довгий контекст.</a:t>
              </a:r>
              <a:endParaRPr b="0" i="0" sz="1400" u="none" cap="none" strike="noStrike">
                <a:solidFill>
                  <a:schemeClr val="dk1"/>
                </a:solidFill>
                <a:latin typeface="Arial"/>
                <a:ea typeface="Arial"/>
                <a:cs typeface="Arial"/>
                <a:sym typeface="Arial"/>
              </a:endParaRPr>
            </a:p>
          </p:txBody>
        </p:sp>
        <p:cxnSp>
          <p:nvCxnSpPr>
            <p:cNvPr id="332" name="Google Shape;332;p34"/>
            <p:cNvCxnSpPr/>
            <p:nvPr/>
          </p:nvCxnSpPr>
          <p:spPr>
            <a:xfrm>
              <a:off x="0" y="2064885"/>
              <a:ext cx="3657600" cy="0"/>
            </a:xfrm>
            <a:prstGeom prst="straightConnector1">
              <a:avLst/>
            </a:prstGeom>
            <a:solidFill>
              <a:srgbClr val="0C9ED5"/>
            </a:solidFill>
            <a:ln cap="flat" cmpd="sng" w="19050">
              <a:solidFill>
                <a:srgbClr val="0C9ED5"/>
              </a:solidFill>
              <a:prstDash val="solid"/>
              <a:miter lim="800000"/>
              <a:headEnd len="sm" w="sm" type="none"/>
              <a:tailEnd len="sm" w="sm" type="none"/>
            </a:ln>
          </p:spPr>
        </p:cxnSp>
        <p:sp>
          <p:nvSpPr>
            <p:cNvPr id="333" name="Google Shape;333;p34"/>
            <p:cNvSpPr/>
            <p:nvPr/>
          </p:nvSpPr>
          <p:spPr>
            <a:xfrm>
              <a:off x="0" y="2064885"/>
              <a:ext cx="3657600" cy="1032442"/>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4" name="Google Shape;334;p34"/>
            <p:cNvSpPr txBox="1"/>
            <p:nvPr/>
          </p:nvSpPr>
          <p:spPr>
            <a:xfrm>
              <a:off x="0" y="2064885"/>
              <a:ext cx="3657600" cy="1032442"/>
            </a:xfrm>
            <a:prstGeom prst="rect">
              <a:avLst/>
            </a:prstGeom>
            <a:noFill/>
            <a:ln>
              <a:noFill/>
            </a:ln>
          </p:spPr>
          <p:txBody>
            <a:bodyPr anchorCtr="0" anchor="t" bIns="54275" lIns="54275" spcFirstLastPara="1" rIns="54275" wrap="square" tIns="54275">
              <a:normAutofit/>
            </a:bodyPr>
            <a:lstStyle/>
            <a:p>
              <a:pPr indent="0" lvl="0" marL="0" marR="0" rtl="0" algn="l">
                <a:lnSpc>
                  <a:spcPct val="90000"/>
                </a:lnSpc>
                <a:spcBef>
                  <a:spcPts val="0"/>
                </a:spcBef>
                <a:spcAft>
                  <a:spcPts val="0"/>
                </a:spcAft>
                <a:buClr>
                  <a:schemeClr val="dk1"/>
                </a:buClr>
                <a:buSzPts val="1400"/>
                <a:buFont typeface="Arial"/>
                <a:buNone/>
              </a:pPr>
              <a:r>
                <a:rPr b="1" i="0" lang="uk" sz="1400" u="none" cap="none" strike="noStrike">
                  <a:solidFill>
                    <a:schemeClr val="dk1"/>
                  </a:solidFill>
                  <a:latin typeface="Arial"/>
                  <a:ea typeface="Arial"/>
                  <a:cs typeface="Arial"/>
                  <a:sym typeface="Arial"/>
                </a:rPr>
                <a:t>Falcon</a:t>
              </a:r>
              <a:r>
                <a:rPr b="0" i="0" lang="uk" sz="1400" u="none" cap="none" strike="noStrike">
                  <a:solidFill>
                    <a:schemeClr val="dk1"/>
                  </a:solidFill>
                  <a:latin typeface="Arial"/>
                  <a:ea typeface="Arial"/>
                  <a:cs typeface="Arial"/>
                  <a:sym typeface="Arial"/>
                </a:rPr>
                <a:t> (TII), </a:t>
              </a:r>
              <a:r>
                <a:rPr b="1" i="0" lang="uk" sz="1400" u="none" cap="none" strike="noStrike">
                  <a:solidFill>
                    <a:schemeClr val="dk1"/>
                  </a:solidFill>
                  <a:latin typeface="Arial"/>
                  <a:ea typeface="Arial"/>
                  <a:cs typeface="Arial"/>
                  <a:sym typeface="Arial"/>
                </a:rPr>
                <a:t>Bloom</a:t>
              </a:r>
              <a:r>
                <a:rPr b="0" i="0" lang="uk" sz="1400" u="none" cap="none" strike="noStrike">
                  <a:solidFill>
                    <a:schemeClr val="dk1"/>
                  </a:solidFill>
                  <a:latin typeface="Arial"/>
                  <a:ea typeface="Arial"/>
                  <a:cs typeface="Arial"/>
                  <a:sym typeface="Arial"/>
                </a:rPr>
                <a:t> (BigScience).</a:t>
              </a:r>
              <a:endParaRPr sz="1100"/>
            </a:p>
          </p:txBody>
        </p:sp>
        <p:cxnSp>
          <p:nvCxnSpPr>
            <p:cNvPr id="335" name="Google Shape;335;p34"/>
            <p:cNvCxnSpPr/>
            <p:nvPr/>
          </p:nvCxnSpPr>
          <p:spPr>
            <a:xfrm>
              <a:off x="0" y="3097328"/>
              <a:ext cx="3657600" cy="0"/>
            </a:xfrm>
            <a:prstGeom prst="straightConnector1">
              <a:avLst/>
            </a:prstGeom>
            <a:solidFill>
              <a:srgbClr val="0C9ED5"/>
            </a:solidFill>
            <a:ln cap="flat" cmpd="sng" w="19050">
              <a:solidFill>
                <a:srgbClr val="0C9ED5"/>
              </a:solidFill>
              <a:prstDash val="solid"/>
              <a:miter lim="800000"/>
              <a:headEnd len="sm" w="sm" type="none"/>
              <a:tailEnd len="sm" w="sm" type="none"/>
            </a:ln>
          </p:spPr>
        </p:cxnSp>
        <p:sp>
          <p:nvSpPr>
            <p:cNvPr id="336" name="Google Shape;336;p34"/>
            <p:cNvSpPr/>
            <p:nvPr/>
          </p:nvSpPr>
          <p:spPr>
            <a:xfrm>
              <a:off x="0" y="3097328"/>
              <a:ext cx="3657600" cy="1032442"/>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7" name="Google Shape;337;p34"/>
            <p:cNvSpPr txBox="1"/>
            <p:nvPr/>
          </p:nvSpPr>
          <p:spPr>
            <a:xfrm>
              <a:off x="0" y="3097328"/>
              <a:ext cx="3657600" cy="1032442"/>
            </a:xfrm>
            <a:prstGeom prst="rect">
              <a:avLst/>
            </a:prstGeom>
            <a:noFill/>
            <a:ln>
              <a:noFill/>
            </a:ln>
          </p:spPr>
          <p:txBody>
            <a:bodyPr anchorCtr="0" anchor="t" bIns="54275" lIns="54275" spcFirstLastPara="1" rIns="54275" wrap="square" tIns="54275">
              <a:noAutofit/>
            </a:bodyPr>
            <a:lstStyle/>
            <a:p>
              <a:pPr indent="0" lvl="0" marL="0" marR="0" rtl="0" algn="l">
                <a:lnSpc>
                  <a:spcPct val="90000"/>
                </a:lnSpc>
                <a:spcBef>
                  <a:spcPts val="0"/>
                </a:spcBef>
                <a:spcAft>
                  <a:spcPts val="0"/>
                </a:spcAft>
                <a:buClr>
                  <a:schemeClr val="dk1"/>
                </a:buClr>
                <a:buSzPts val="1400"/>
                <a:buFont typeface="Arial"/>
                <a:buNone/>
              </a:pPr>
              <a:r>
                <a:rPr b="0" i="0" lang="uk" sz="1400" u="none" cap="none" strike="noStrike">
                  <a:solidFill>
                    <a:schemeClr val="dk1"/>
                  </a:solidFill>
                  <a:latin typeface="Arial"/>
                  <a:ea typeface="Arial"/>
                  <a:cs typeface="Arial"/>
                  <a:sym typeface="Arial"/>
                </a:rPr>
                <a:t>Дозволили запускати LLM локально.</a:t>
              </a:r>
              <a:endParaRPr b="0" i="0" sz="1400" u="none" cap="none" strike="noStrike">
                <a:solidFill>
                  <a:schemeClr val="dk1"/>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1" name="Shape 341"/>
        <p:cNvGrpSpPr/>
        <p:nvPr/>
      </p:nvGrpSpPr>
      <p:grpSpPr>
        <a:xfrm>
          <a:off x="0" y="0"/>
          <a:ext cx="0" cy="0"/>
          <a:chOff x="0" y="0"/>
          <a:chExt cx="0" cy="0"/>
        </a:xfrm>
      </p:grpSpPr>
      <p:sp>
        <p:nvSpPr>
          <p:cNvPr id="342" name="Google Shape;342;p35"/>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43" name="Google Shape;343;p35"/>
          <p:cNvSpPr/>
          <p:nvPr/>
        </p:nvSpPr>
        <p:spPr>
          <a:xfrm>
            <a:off x="415812" y="3164179"/>
            <a:ext cx="8375585" cy="1566988"/>
          </a:xfrm>
          <a:prstGeom prst="rect">
            <a:avLst/>
          </a:prstGeom>
          <a:solidFill>
            <a:schemeClr val="lt1"/>
          </a:solidFill>
          <a:ln cap="flat" cmpd="sng" w="12700">
            <a:solidFill>
              <a:srgbClr val="DEDEDE"/>
            </a:solidFill>
            <a:prstDash val="solid"/>
            <a:miter lim="800000"/>
            <a:headEnd len="sm" w="sm" type="none"/>
            <a:tailEnd len="sm" w="sm" type="none"/>
          </a:ln>
          <a:effectLst>
            <a:outerShdw blurRad="50800" rotWithShape="0" algn="tl" dir="2700000" dist="38100">
              <a:srgbClr val="C5C5C5">
                <a:alpha val="50196"/>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344" name="Google Shape;344;p35"/>
          <p:cNvSpPr txBox="1"/>
          <p:nvPr>
            <p:ph type="title"/>
          </p:nvPr>
        </p:nvSpPr>
        <p:spPr>
          <a:xfrm>
            <a:off x="788670" y="3333249"/>
            <a:ext cx="2668850" cy="123444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000"/>
              <a:buFont typeface="Play"/>
              <a:buNone/>
            </a:pPr>
            <a:r>
              <a:rPr b="1" lang="uk" sz="2000"/>
              <a:t>Fine-tuning: адаптація під задачу</a:t>
            </a:r>
            <a:br>
              <a:rPr b="1" lang="uk" sz="2000"/>
            </a:br>
            <a:endParaRPr sz="2000"/>
          </a:p>
        </p:txBody>
      </p:sp>
      <p:pic>
        <p:nvPicPr>
          <p:cNvPr descr="Customizing LLMs for Enterprise Data Using Domain Adaptation: The Wix  Journey" id="345" name="Google Shape;345;p35"/>
          <p:cNvPicPr preferRelativeResize="0"/>
          <p:nvPr/>
        </p:nvPicPr>
        <p:blipFill rotWithShape="1">
          <a:blip r:embed="rId3">
            <a:alphaModFix/>
          </a:blip>
          <a:srcRect b="0" l="0" r="0" t="0"/>
          <a:stretch/>
        </p:blipFill>
        <p:spPr>
          <a:xfrm>
            <a:off x="1089241" y="281178"/>
            <a:ext cx="7031812" cy="2707248"/>
          </a:xfrm>
          <a:prstGeom prst="rect">
            <a:avLst/>
          </a:prstGeom>
          <a:noFill/>
          <a:ln>
            <a:noFill/>
          </a:ln>
          <a:effectLst>
            <a:outerShdw blurRad="292100" rotWithShape="0" algn="tl" dir="2700000" dist="139700">
              <a:srgbClr val="333333">
                <a:alpha val="65098"/>
              </a:srgbClr>
            </a:outerShdw>
          </a:effectLst>
        </p:spPr>
      </p:pic>
      <p:sp>
        <p:nvSpPr>
          <p:cNvPr id="346" name="Google Shape;346;p35"/>
          <p:cNvSpPr/>
          <p:nvPr/>
        </p:nvSpPr>
        <p:spPr>
          <a:xfrm>
            <a:off x="367806" y="3683639"/>
            <a:ext cx="96012" cy="528066"/>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sp>
        <p:nvSpPr>
          <p:cNvPr id="347" name="Google Shape;347;p35"/>
          <p:cNvSpPr/>
          <p:nvPr/>
        </p:nvSpPr>
        <p:spPr>
          <a:xfrm rot="5400000">
            <a:off x="3182656" y="3940814"/>
            <a:ext cx="1097280" cy="13716"/>
          </a:xfrm>
          <a:prstGeom prst="rect">
            <a:avLst/>
          </a:prstGeom>
          <a:solidFill>
            <a:srgbClr val="D5D5D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grpSp>
        <p:nvGrpSpPr>
          <p:cNvPr id="348" name="Google Shape;348;p35"/>
          <p:cNvGrpSpPr/>
          <p:nvPr/>
        </p:nvGrpSpPr>
        <p:grpSpPr>
          <a:xfrm>
            <a:off x="4011930" y="3331054"/>
            <a:ext cx="4505705" cy="1233235"/>
            <a:chOff x="0" y="803"/>
            <a:chExt cx="6007607" cy="1644313"/>
          </a:xfrm>
        </p:grpSpPr>
        <p:cxnSp>
          <p:nvCxnSpPr>
            <p:cNvPr id="349" name="Google Shape;349;p35"/>
            <p:cNvCxnSpPr/>
            <p:nvPr/>
          </p:nvCxnSpPr>
          <p:spPr>
            <a:xfrm>
              <a:off x="0" y="803"/>
              <a:ext cx="6007607" cy="0"/>
            </a:xfrm>
            <a:prstGeom prst="straightConnector1">
              <a:avLst/>
            </a:prstGeom>
            <a:gradFill>
              <a:gsLst>
                <a:gs pos="0">
                  <a:srgbClr val="AB4E9D"/>
                </a:gs>
                <a:gs pos="50000">
                  <a:srgbClr val="A62094"/>
                </a:gs>
                <a:gs pos="100000">
                  <a:srgbClr val="961886"/>
                </a:gs>
              </a:gsLst>
              <a:lin ang="5400000" scaled="0"/>
            </a:gradFill>
            <a:ln cap="flat" cmpd="sng" w="12700">
              <a:solidFill>
                <a:srgbClr val="A02891"/>
              </a:solidFill>
              <a:prstDash val="solid"/>
              <a:miter lim="800000"/>
              <a:headEnd len="sm" w="sm" type="none"/>
              <a:tailEnd len="sm" w="sm" type="none"/>
            </a:ln>
          </p:spPr>
        </p:cxnSp>
        <p:sp>
          <p:nvSpPr>
            <p:cNvPr id="350" name="Google Shape;350;p35"/>
            <p:cNvSpPr/>
            <p:nvPr/>
          </p:nvSpPr>
          <p:spPr>
            <a:xfrm>
              <a:off x="0" y="803"/>
              <a:ext cx="6007607" cy="548104"/>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1" name="Google Shape;351;p35"/>
            <p:cNvSpPr txBox="1"/>
            <p:nvPr/>
          </p:nvSpPr>
          <p:spPr>
            <a:xfrm>
              <a:off x="0" y="803"/>
              <a:ext cx="6007607" cy="548104"/>
            </a:xfrm>
            <a:prstGeom prst="rect">
              <a:avLst/>
            </a:prstGeom>
            <a:noFill/>
            <a:ln>
              <a:noFill/>
            </a:ln>
          </p:spPr>
          <p:txBody>
            <a:bodyPr anchorCtr="0" anchor="t" bIns="42875" lIns="42875" spcFirstLastPara="1" rIns="42875" wrap="square" tIns="42875">
              <a:normAutofit/>
            </a:bodyPr>
            <a:lstStyle/>
            <a:p>
              <a:pPr indent="0" lvl="0" marL="0" marR="0" rtl="0" algn="l">
                <a:lnSpc>
                  <a:spcPct val="90000"/>
                </a:lnSpc>
                <a:spcBef>
                  <a:spcPts val="0"/>
                </a:spcBef>
                <a:spcAft>
                  <a:spcPts val="0"/>
                </a:spcAft>
                <a:buClr>
                  <a:schemeClr val="dk1"/>
                </a:buClr>
                <a:buSzPts val="1100"/>
                <a:buFont typeface="Arial"/>
                <a:buNone/>
              </a:pPr>
              <a:r>
                <a:rPr b="1" i="0" lang="uk" sz="1100" u="none" cap="none" strike="noStrike">
                  <a:solidFill>
                    <a:schemeClr val="dk1"/>
                  </a:solidFill>
                  <a:latin typeface="Arial"/>
                  <a:ea typeface="Arial"/>
                  <a:cs typeface="Arial"/>
                  <a:sym typeface="Arial"/>
                </a:rPr>
                <a:t>Fine-tuning</a:t>
              </a:r>
              <a:r>
                <a:rPr b="0" i="0" lang="uk" sz="1100" u="none" cap="none" strike="noStrike">
                  <a:solidFill>
                    <a:schemeClr val="dk1"/>
                  </a:solidFill>
                  <a:latin typeface="Arial"/>
                  <a:ea typeface="Arial"/>
                  <a:cs typeface="Arial"/>
                  <a:sym typeface="Arial"/>
                </a:rPr>
                <a:t> – донавчання вже попередньо навченої моделі на власних даних.</a:t>
              </a:r>
              <a:endParaRPr b="0" i="0" sz="1100" u="none" cap="none" strike="noStrike">
                <a:solidFill>
                  <a:schemeClr val="dk1"/>
                </a:solidFill>
                <a:latin typeface="Arial"/>
                <a:ea typeface="Arial"/>
                <a:cs typeface="Arial"/>
                <a:sym typeface="Arial"/>
              </a:endParaRPr>
            </a:p>
          </p:txBody>
        </p:sp>
        <p:cxnSp>
          <p:nvCxnSpPr>
            <p:cNvPr id="352" name="Google Shape;352;p35"/>
            <p:cNvCxnSpPr/>
            <p:nvPr/>
          </p:nvCxnSpPr>
          <p:spPr>
            <a:xfrm>
              <a:off x="0" y="548907"/>
              <a:ext cx="6007607" cy="0"/>
            </a:xfrm>
            <a:prstGeom prst="straightConnector1">
              <a:avLst/>
            </a:prstGeom>
            <a:gradFill>
              <a:gsLst>
                <a:gs pos="0">
                  <a:srgbClr val="4F7FAD"/>
                </a:gs>
                <a:gs pos="50000">
                  <a:srgbClr val="246EA7"/>
                </a:gs>
                <a:gs pos="100000">
                  <a:srgbClr val="1A6298"/>
                </a:gs>
              </a:gsLst>
              <a:lin ang="5400000" scaled="0"/>
            </a:gradFill>
            <a:ln cap="flat" cmpd="sng" w="12700">
              <a:solidFill>
                <a:srgbClr val="2B6FA2"/>
              </a:solidFill>
              <a:prstDash val="solid"/>
              <a:miter lim="800000"/>
              <a:headEnd len="sm" w="sm" type="none"/>
              <a:tailEnd len="sm" w="sm" type="none"/>
            </a:ln>
          </p:spPr>
        </p:cxnSp>
        <p:sp>
          <p:nvSpPr>
            <p:cNvPr id="353" name="Google Shape;353;p35"/>
            <p:cNvSpPr/>
            <p:nvPr/>
          </p:nvSpPr>
          <p:spPr>
            <a:xfrm>
              <a:off x="0" y="548907"/>
              <a:ext cx="6007607" cy="548104"/>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4" name="Google Shape;354;p35"/>
            <p:cNvSpPr txBox="1"/>
            <p:nvPr/>
          </p:nvSpPr>
          <p:spPr>
            <a:xfrm>
              <a:off x="0" y="548907"/>
              <a:ext cx="6007607" cy="548104"/>
            </a:xfrm>
            <a:prstGeom prst="rect">
              <a:avLst/>
            </a:prstGeom>
            <a:noFill/>
            <a:ln>
              <a:noFill/>
            </a:ln>
          </p:spPr>
          <p:txBody>
            <a:bodyPr anchorCtr="0" anchor="t" bIns="42875" lIns="42875" spcFirstLastPara="1" rIns="42875" wrap="square" tIns="42875">
              <a:noAutofit/>
            </a:bodyPr>
            <a:lstStyle/>
            <a:p>
              <a:pPr indent="0" lvl="0" marL="0" marR="0" rtl="0" algn="l">
                <a:lnSpc>
                  <a:spcPct val="90000"/>
                </a:lnSpc>
                <a:spcBef>
                  <a:spcPts val="0"/>
                </a:spcBef>
                <a:spcAft>
                  <a:spcPts val="0"/>
                </a:spcAft>
                <a:buClr>
                  <a:schemeClr val="dk1"/>
                </a:buClr>
                <a:buSzPts val="1100"/>
                <a:buFont typeface="Arial"/>
                <a:buNone/>
              </a:pPr>
              <a:r>
                <a:rPr b="0" i="0" lang="uk" sz="1100" u="none" cap="none" strike="noStrike">
                  <a:solidFill>
                    <a:schemeClr val="dk1"/>
                  </a:solidFill>
                  <a:latin typeface="Arial"/>
                  <a:ea typeface="Arial"/>
                  <a:cs typeface="Arial"/>
                  <a:sym typeface="Arial"/>
                </a:rPr>
                <a:t>Потрібно набагато менше даних і часу.</a:t>
              </a:r>
              <a:endParaRPr b="0" i="0" sz="1100" u="none" cap="none" strike="noStrike">
                <a:solidFill>
                  <a:schemeClr val="dk1"/>
                </a:solidFill>
                <a:latin typeface="Arial"/>
                <a:ea typeface="Arial"/>
                <a:cs typeface="Arial"/>
                <a:sym typeface="Arial"/>
              </a:endParaRPr>
            </a:p>
          </p:txBody>
        </p:sp>
        <p:cxnSp>
          <p:nvCxnSpPr>
            <p:cNvPr id="355" name="Google Shape;355;p35"/>
            <p:cNvCxnSpPr/>
            <p:nvPr/>
          </p:nvCxnSpPr>
          <p:spPr>
            <a:xfrm>
              <a:off x="0" y="1097012"/>
              <a:ext cx="6007607" cy="0"/>
            </a:xfrm>
            <a:prstGeom prst="straightConnector1">
              <a:avLst/>
            </a:prstGeom>
            <a:gradFill>
              <a:gsLst>
                <a:gs pos="0">
                  <a:srgbClr val="63B150"/>
                </a:gs>
                <a:gs pos="50000">
                  <a:srgbClr val="48AC24"/>
                </a:gs>
                <a:gs pos="100000">
                  <a:srgbClr val="3D9D1A"/>
                </a:gs>
              </a:gsLst>
              <a:lin ang="5400000" scaled="0"/>
            </a:gradFill>
            <a:ln cap="flat" cmpd="sng" w="12700">
              <a:solidFill>
                <a:srgbClr val="4CA62C"/>
              </a:solidFill>
              <a:prstDash val="solid"/>
              <a:miter lim="800000"/>
              <a:headEnd len="sm" w="sm" type="none"/>
              <a:tailEnd len="sm" w="sm" type="none"/>
            </a:ln>
          </p:spPr>
        </p:cxnSp>
        <p:sp>
          <p:nvSpPr>
            <p:cNvPr id="356" name="Google Shape;356;p35"/>
            <p:cNvSpPr/>
            <p:nvPr/>
          </p:nvSpPr>
          <p:spPr>
            <a:xfrm>
              <a:off x="0" y="1097012"/>
              <a:ext cx="6007607" cy="548104"/>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7" name="Google Shape;357;p35"/>
            <p:cNvSpPr txBox="1"/>
            <p:nvPr/>
          </p:nvSpPr>
          <p:spPr>
            <a:xfrm>
              <a:off x="0" y="1097012"/>
              <a:ext cx="6007607" cy="548104"/>
            </a:xfrm>
            <a:prstGeom prst="rect">
              <a:avLst/>
            </a:prstGeom>
            <a:noFill/>
            <a:ln>
              <a:noFill/>
            </a:ln>
          </p:spPr>
          <p:txBody>
            <a:bodyPr anchorCtr="0" anchor="t" bIns="42875" lIns="42875" spcFirstLastPara="1" rIns="42875" wrap="square" tIns="42875">
              <a:noAutofit/>
            </a:bodyPr>
            <a:lstStyle/>
            <a:p>
              <a:pPr indent="0" lvl="0" marL="0" marR="0" rtl="0" algn="l">
                <a:lnSpc>
                  <a:spcPct val="90000"/>
                </a:lnSpc>
                <a:spcBef>
                  <a:spcPts val="0"/>
                </a:spcBef>
                <a:spcAft>
                  <a:spcPts val="0"/>
                </a:spcAft>
                <a:buClr>
                  <a:schemeClr val="dk1"/>
                </a:buClr>
                <a:buSzPts val="1100"/>
                <a:buFont typeface="Arial"/>
                <a:buNone/>
              </a:pPr>
              <a:r>
                <a:rPr b="0" i="0" lang="uk" sz="1100" u="none" cap="none" strike="noStrike">
                  <a:solidFill>
                    <a:schemeClr val="dk1"/>
                  </a:solidFill>
                  <a:latin typeface="Arial"/>
                  <a:ea typeface="Arial"/>
                  <a:cs typeface="Arial"/>
                  <a:sym typeface="Arial"/>
                </a:rPr>
                <a:t>Приклад: навчити GPT-3 відповідати на питання у вашій предметній області.</a:t>
              </a:r>
              <a:endParaRPr b="0" i="0" sz="1100" u="none" cap="none" strike="noStrike">
                <a:solidFill>
                  <a:schemeClr val="dk1"/>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1" name="Shape 361"/>
        <p:cNvGrpSpPr/>
        <p:nvPr/>
      </p:nvGrpSpPr>
      <p:grpSpPr>
        <a:xfrm>
          <a:off x="0" y="0"/>
          <a:ext cx="0" cy="0"/>
          <a:chOff x="0" y="0"/>
          <a:chExt cx="0" cy="0"/>
        </a:xfrm>
      </p:grpSpPr>
      <p:sp>
        <p:nvSpPr>
          <p:cNvPr id="362" name="Google Shape;362;p36"/>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63" name="Google Shape;363;p36"/>
          <p:cNvSpPr/>
          <p:nvPr/>
        </p:nvSpPr>
        <p:spPr>
          <a:xfrm>
            <a:off x="0" y="0"/>
            <a:ext cx="3719285" cy="5143500"/>
          </a:xfrm>
          <a:custGeom>
            <a:rect b="b" l="l" r="r" t="t"/>
            <a:pathLst>
              <a:path extrusionOk="0" h="6858000" w="4959047">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solidFill>
            <a:schemeClr val="lt1"/>
          </a:solidFill>
          <a:ln cap="flat" cmpd="sng" w="9525">
            <a:solidFill>
              <a:srgbClr val="E6E6E6"/>
            </a:solidFill>
            <a:prstDash val="solid"/>
            <a:miter lim="800000"/>
            <a:headEnd len="sm" w="sm" type="none"/>
            <a:tailEnd len="sm" w="sm" type="none"/>
          </a:ln>
          <a:effectLst>
            <a:outerShdw blurRad="76200" rotWithShape="0" algn="l" dist="38100">
              <a:srgbClr val="D8D8D8">
                <a:alpha val="50196"/>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364" name="Google Shape;364;p36"/>
          <p:cNvSpPr/>
          <p:nvPr/>
        </p:nvSpPr>
        <p:spPr>
          <a:xfrm>
            <a:off x="0" y="0"/>
            <a:ext cx="3711665" cy="5143500"/>
          </a:xfrm>
          <a:custGeom>
            <a:rect b="b" l="l" r="r" t="t"/>
            <a:pathLst>
              <a:path extrusionOk="0" h="6858000" w="4948887">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365" name="Google Shape;365;p36"/>
          <p:cNvSpPr txBox="1"/>
          <p:nvPr>
            <p:ph type="title"/>
          </p:nvPr>
        </p:nvSpPr>
        <p:spPr>
          <a:xfrm>
            <a:off x="358486" y="841772"/>
            <a:ext cx="3017520" cy="2403101"/>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Play"/>
              <a:buNone/>
            </a:pPr>
            <a:r>
              <a:rPr b="1" lang="uk">
                <a:solidFill>
                  <a:schemeClr val="dk1"/>
                </a:solidFill>
                <a:latin typeface="Play"/>
                <a:ea typeface="Play"/>
                <a:cs typeface="Play"/>
                <a:sym typeface="Play"/>
              </a:rPr>
              <a:t>Повний fine-tuning vs Parameter-Efficient</a:t>
            </a:r>
            <a:br>
              <a:rPr b="1" lang="uk">
                <a:solidFill>
                  <a:schemeClr val="dk1"/>
                </a:solidFill>
                <a:latin typeface="Play"/>
                <a:ea typeface="Play"/>
                <a:cs typeface="Play"/>
                <a:sym typeface="Play"/>
              </a:rPr>
            </a:br>
            <a:endParaRPr>
              <a:solidFill>
                <a:schemeClr val="dk1"/>
              </a:solidFill>
              <a:latin typeface="Play"/>
              <a:ea typeface="Play"/>
              <a:cs typeface="Play"/>
              <a:sym typeface="Play"/>
            </a:endParaRPr>
          </a:p>
        </p:txBody>
      </p:sp>
      <p:sp>
        <p:nvSpPr>
          <p:cNvPr id="366" name="Google Shape;366;p36"/>
          <p:cNvSpPr/>
          <p:nvPr/>
        </p:nvSpPr>
        <p:spPr>
          <a:xfrm rot="5400000">
            <a:off x="569941" y="260093"/>
            <a:ext cx="109728" cy="528066"/>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sp>
        <p:nvSpPr>
          <p:cNvPr id="367" name="Google Shape;367;p36"/>
          <p:cNvSpPr/>
          <p:nvPr/>
        </p:nvSpPr>
        <p:spPr>
          <a:xfrm>
            <a:off x="360772" y="3410190"/>
            <a:ext cx="3017520" cy="13716"/>
          </a:xfrm>
          <a:prstGeom prst="rect">
            <a:avLst/>
          </a:prstGeom>
          <a:solidFill>
            <a:srgbClr val="D5D5D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graphicFrame>
        <p:nvGraphicFramePr>
          <p:cNvPr id="368" name="Google Shape;368;p36"/>
          <p:cNvGraphicFramePr/>
          <p:nvPr/>
        </p:nvGraphicFramePr>
        <p:xfrm>
          <a:off x="3809842" y="667957"/>
          <a:ext cx="3000000" cy="3000000"/>
        </p:xfrm>
        <a:graphic>
          <a:graphicData uri="http://schemas.openxmlformats.org/drawingml/2006/table">
            <a:tbl>
              <a:tblPr>
                <a:noFill/>
                <a:tableStyleId>{69AF2FCD-E6B4-48AD-BCCF-BC0375A9A4F9}</a:tableStyleId>
              </a:tblPr>
              <a:tblGrid>
                <a:gridCol w="1454150"/>
                <a:gridCol w="2127875"/>
                <a:gridCol w="1654750"/>
              </a:tblGrid>
              <a:tr h="587950">
                <a:tc>
                  <a:txBody>
                    <a:bodyPr/>
                    <a:lstStyle/>
                    <a:p>
                      <a:pPr indent="0" lvl="0" marL="0" marR="0" rtl="0" algn="ctr">
                        <a:lnSpc>
                          <a:spcPct val="72115"/>
                        </a:lnSpc>
                        <a:spcBef>
                          <a:spcPts val="0"/>
                        </a:spcBef>
                        <a:spcAft>
                          <a:spcPts val="0"/>
                        </a:spcAft>
                        <a:buClr>
                          <a:schemeClr val="dk1"/>
                        </a:buClr>
                        <a:buSzPts val="2000"/>
                        <a:buFont typeface="Arial"/>
                        <a:buNone/>
                      </a:pPr>
                      <a:r>
                        <a:rPr b="0" lang="uk" sz="2000" u="none" cap="none" strike="noStrike">
                          <a:solidFill>
                            <a:schemeClr val="dk1"/>
                          </a:solidFill>
                          <a:latin typeface="Arial"/>
                          <a:ea typeface="Arial"/>
                          <a:cs typeface="Arial"/>
                          <a:sym typeface="Arial"/>
                        </a:rPr>
                        <a:t>Метод</a:t>
                      </a:r>
                      <a:endParaRPr sz="1100"/>
                    </a:p>
                  </a:txBody>
                  <a:tcPr marT="22100" marB="110500" marR="147325" marL="0"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2115"/>
                        </a:lnSpc>
                        <a:spcBef>
                          <a:spcPts val="0"/>
                        </a:spcBef>
                        <a:spcAft>
                          <a:spcPts val="0"/>
                        </a:spcAft>
                        <a:buClr>
                          <a:schemeClr val="dk1"/>
                        </a:buClr>
                        <a:buSzPts val="2000"/>
                        <a:buFont typeface="Arial"/>
                        <a:buNone/>
                      </a:pPr>
                      <a:r>
                        <a:rPr b="0" lang="uk" sz="2000" u="none" cap="none" strike="noStrike">
                          <a:solidFill>
                            <a:schemeClr val="dk1"/>
                          </a:solidFill>
                          <a:latin typeface="Arial"/>
                          <a:ea typeface="Arial"/>
                          <a:cs typeface="Arial"/>
                          <a:sym typeface="Arial"/>
                        </a:rPr>
                        <a:t>Переваги</a:t>
                      </a:r>
                      <a:endParaRPr sz="1100"/>
                    </a:p>
                  </a:txBody>
                  <a:tcPr marT="22100" marB="110500" marR="147325" marL="0"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72115"/>
                        </a:lnSpc>
                        <a:spcBef>
                          <a:spcPts val="0"/>
                        </a:spcBef>
                        <a:spcAft>
                          <a:spcPts val="0"/>
                        </a:spcAft>
                        <a:buClr>
                          <a:schemeClr val="dk1"/>
                        </a:buClr>
                        <a:buSzPts val="2000"/>
                        <a:buFont typeface="Arial"/>
                        <a:buNone/>
                      </a:pPr>
                      <a:r>
                        <a:rPr b="0" lang="uk" sz="2000" u="none" cap="none" strike="noStrike">
                          <a:solidFill>
                            <a:schemeClr val="dk1"/>
                          </a:solidFill>
                          <a:latin typeface="Arial"/>
                          <a:ea typeface="Arial"/>
                          <a:cs typeface="Arial"/>
                          <a:sym typeface="Arial"/>
                        </a:rPr>
                        <a:t>Недоліки</a:t>
                      </a:r>
                      <a:endParaRPr sz="1100"/>
                    </a:p>
                  </a:txBody>
                  <a:tcPr marT="22100" marB="110500" marR="147325" marL="0" anchor="b">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37375">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latin typeface="Arial"/>
                          <a:ea typeface="Arial"/>
                          <a:cs typeface="Arial"/>
                          <a:sym typeface="Arial"/>
                        </a:rPr>
                        <a:t>Повний fine-tuning</a:t>
                      </a:r>
                      <a:endParaRPr sz="1100"/>
                    </a:p>
                  </a:txBody>
                  <a:tcPr marT="33150" marB="110500" marR="147325"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latin typeface="Arial"/>
                          <a:ea typeface="Arial"/>
                          <a:cs typeface="Arial"/>
                          <a:sym typeface="Arial"/>
                        </a:rPr>
                        <a:t>Висока точність</a:t>
                      </a:r>
                      <a:endParaRPr sz="1100"/>
                    </a:p>
                  </a:txBody>
                  <a:tcPr marT="33150" marB="110500" marR="147325"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latin typeface="Arial"/>
                          <a:ea typeface="Arial"/>
                          <a:cs typeface="Arial"/>
                          <a:sym typeface="Arial"/>
                        </a:rPr>
                        <a:t>Потребує багато пам'яті (GPU)</a:t>
                      </a:r>
                      <a:endParaRPr sz="1100"/>
                    </a:p>
                  </a:txBody>
                  <a:tcPr marT="33150" marB="110500" marR="11050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973300">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latin typeface="Arial"/>
                          <a:ea typeface="Arial"/>
                          <a:cs typeface="Arial"/>
                          <a:sym typeface="Arial"/>
                        </a:rPr>
                        <a:t>LoRA (Low-Rank Adaptation)</a:t>
                      </a:r>
                      <a:endParaRPr sz="1100"/>
                    </a:p>
                  </a:txBody>
                  <a:tcPr marT="33150" marB="110500" marR="147325"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latin typeface="Arial"/>
                          <a:ea typeface="Arial"/>
                          <a:cs typeface="Arial"/>
                          <a:sym typeface="Arial"/>
                        </a:rPr>
                        <a:t>Мало пам'яті, швидко</a:t>
                      </a:r>
                      <a:endParaRPr sz="1100"/>
                    </a:p>
                  </a:txBody>
                  <a:tcPr marT="33150" marB="110500" marR="147325"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latin typeface="Arial"/>
                          <a:ea typeface="Arial"/>
                          <a:cs typeface="Arial"/>
                          <a:sym typeface="Arial"/>
                        </a:rPr>
                        <a:t>Трохи нижча точність</a:t>
                      </a:r>
                      <a:endParaRPr sz="1100"/>
                    </a:p>
                  </a:txBody>
                  <a:tcPr marT="33150" marB="110500" marR="11050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937375">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latin typeface="Arial"/>
                          <a:ea typeface="Arial"/>
                          <a:cs typeface="Arial"/>
                          <a:sym typeface="Arial"/>
                        </a:rPr>
                        <a:t>QLoRA</a:t>
                      </a:r>
                      <a:endParaRPr sz="1100"/>
                    </a:p>
                  </a:txBody>
                  <a:tcPr marT="33150" marB="110500" marR="147325"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latin typeface="Arial"/>
                          <a:ea typeface="Arial"/>
                          <a:cs typeface="Arial"/>
                          <a:sym typeface="Arial"/>
                        </a:rPr>
                        <a:t>4-бітне квантування + LoRA</a:t>
                      </a:r>
                      <a:endParaRPr sz="1100"/>
                    </a:p>
                  </a:txBody>
                  <a:tcPr marT="33150" marB="110500" marR="147325"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98684"/>
                        </a:lnSpc>
                        <a:spcBef>
                          <a:spcPts val="0"/>
                        </a:spcBef>
                        <a:spcAft>
                          <a:spcPts val="0"/>
                        </a:spcAft>
                        <a:buClr>
                          <a:schemeClr val="dk1"/>
                        </a:buClr>
                        <a:buSzPts val="1400"/>
                        <a:buFont typeface="Arial"/>
                        <a:buNone/>
                      </a:pPr>
                      <a:r>
                        <a:rPr b="0" lang="uk" sz="1400" u="none" cap="none" strike="noStrike">
                          <a:solidFill>
                            <a:schemeClr val="dk1"/>
                          </a:solidFill>
                          <a:latin typeface="Arial"/>
                          <a:ea typeface="Arial"/>
                          <a:cs typeface="Arial"/>
                          <a:sym typeface="Arial"/>
                        </a:rPr>
                        <a:t>Можна на одному GPU</a:t>
                      </a:r>
                      <a:endParaRPr sz="1100"/>
                    </a:p>
                  </a:txBody>
                  <a:tcPr marT="33150" marB="110500" marR="11050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2" name="Shape 372"/>
        <p:cNvGrpSpPr/>
        <p:nvPr/>
      </p:nvGrpSpPr>
      <p:grpSpPr>
        <a:xfrm>
          <a:off x="0" y="0"/>
          <a:ext cx="0" cy="0"/>
          <a:chOff x="0" y="0"/>
          <a:chExt cx="0" cy="0"/>
        </a:xfrm>
      </p:grpSpPr>
      <p:sp>
        <p:nvSpPr>
          <p:cNvPr id="373" name="Google Shape;373;p37"/>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74" name="Google Shape;374;p37"/>
          <p:cNvSpPr txBox="1"/>
          <p:nvPr>
            <p:ph type="title"/>
          </p:nvPr>
        </p:nvSpPr>
        <p:spPr>
          <a:xfrm>
            <a:off x="322326" y="308610"/>
            <a:ext cx="8401050" cy="82981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Play"/>
              <a:buNone/>
            </a:pPr>
            <a:r>
              <a:rPr b="1" lang="uk" sz="2700"/>
              <a:t>LoRA – адаптація з низьким рангом</a:t>
            </a:r>
            <a:br>
              <a:rPr b="1" lang="uk" sz="2700"/>
            </a:br>
            <a:endParaRPr sz="2700"/>
          </a:p>
        </p:txBody>
      </p:sp>
      <p:sp>
        <p:nvSpPr>
          <p:cNvPr id="375" name="Google Shape;375;p37"/>
          <p:cNvSpPr/>
          <p:nvPr/>
        </p:nvSpPr>
        <p:spPr>
          <a:xfrm>
            <a:off x="0" y="448843"/>
            <a:ext cx="96012" cy="528066"/>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pic>
        <p:nvPicPr>
          <p:cNvPr descr="Low Rank Adaptation (LoRA): Efficient Fine-Tuning for Real-World AI  Applications | by Pranjal Khadka | Towards AI" id="376" name="Google Shape;376;p37"/>
          <p:cNvPicPr preferRelativeResize="0"/>
          <p:nvPr/>
        </p:nvPicPr>
        <p:blipFill rotWithShape="1">
          <a:blip r:embed="rId3">
            <a:alphaModFix/>
          </a:blip>
          <a:srcRect b="0" l="0" r="0" t="0"/>
          <a:stretch/>
        </p:blipFill>
        <p:spPr>
          <a:xfrm>
            <a:off x="118730" y="1894274"/>
            <a:ext cx="5420390" cy="2493379"/>
          </a:xfrm>
          <a:prstGeom prst="rect">
            <a:avLst/>
          </a:prstGeom>
          <a:noFill/>
          <a:ln>
            <a:noFill/>
          </a:ln>
          <a:effectLst>
            <a:outerShdw blurRad="292100" rotWithShape="0" algn="tl" dir="2700000" dist="139700">
              <a:srgbClr val="333333">
                <a:alpha val="65098"/>
              </a:srgbClr>
            </a:outerShdw>
          </a:effectLst>
        </p:spPr>
      </p:pic>
      <p:sp>
        <p:nvSpPr>
          <p:cNvPr id="377" name="Google Shape;377;p37"/>
          <p:cNvSpPr/>
          <p:nvPr/>
        </p:nvSpPr>
        <p:spPr>
          <a:xfrm>
            <a:off x="5657851" y="1291442"/>
            <a:ext cx="3163824" cy="3390420"/>
          </a:xfrm>
          <a:prstGeom prst="rect">
            <a:avLst/>
          </a:prstGeom>
          <a:solidFill>
            <a:schemeClr val="lt1"/>
          </a:solidFill>
          <a:ln cap="flat" cmpd="sng" w="9525">
            <a:solidFill>
              <a:srgbClr val="DEDEDE"/>
            </a:solidFill>
            <a:prstDash val="solid"/>
            <a:miter lim="800000"/>
            <a:headEnd len="sm" w="sm" type="none"/>
            <a:tailEnd len="sm" w="sm" type="none"/>
          </a:ln>
          <a:effectLst>
            <a:outerShdw blurRad="50800" rotWithShape="0" algn="tl" dir="2700000" dist="38100">
              <a:srgbClr val="D8D8D8">
                <a:alpha val="50196"/>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grpSp>
        <p:nvGrpSpPr>
          <p:cNvPr id="378" name="Google Shape;378;p37"/>
          <p:cNvGrpSpPr/>
          <p:nvPr/>
        </p:nvGrpSpPr>
        <p:grpSpPr>
          <a:xfrm>
            <a:off x="5954064" y="1517068"/>
            <a:ext cx="2591323" cy="2966614"/>
            <a:chOff x="0" y="1933"/>
            <a:chExt cx="3455097" cy="3955485"/>
          </a:xfrm>
        </p:grpSpPr>
        <p:cxnSp>
          <p:nvCxnSpPr>
            <p:cNvPr id="379" name="Google Shape;379;p37"/>
            <p:cNvCxnSpPr/>
            <p:nvPr/>
          </p:nvCxnSpPr>
          <p:spPr>
            <a:xfrm>
              <a:off x="0" y="1933"/>
              <a:ext cx="3455097" cy="0"/>
            </a:xfrm>
            <a:prstGeom prst="straightConnector1">
              <a:avLst/>
            </a:prstGeom>
            <a:gradFill>
              <a:gsLst>
                <a:gs pos="0">
                  <a:srgbClr val="EC8154"/>
                </a:gs>
                <a:gs pos="50000">
                  <a:srgbClr val="F16E27"/>
                </a:gs>
                <a:gs pos="100000">
                  <a:srgbClr val="DF5D18"/>
                </a:gs>
              </a:gsLst>
              <a:lin ang="5400000" scaled="0"/>
            </a:gradFill>
            <a:ln cap="flat" cmpd="sng" w="12700">
              <a:solidFill>
                <a:srgbClr val="E97131"/>
              </a:solidFill>
              <a:prstDash val="solid"/>
              <a:miter lim="800000"/>
              <a:headEnd len="sm" w="sm" type="none"/>
              <a:tailEnd len="sm" w="sm" type="none"/>
            </a:ln>
            <a:effectLst>
              <a:outerShdw blurRad="57150" rotWithShape="0" algn="ctr" dir="5400000" dist="19050">
                <a:srgbClr val="000000">
                  <a:alpha val="63137"/>
                </a:srgbClr>
              </a:outerShdw>
            </a:effectLst>
          </p:spPr>
        </p:cxnSp>
        <p:sp>
          <p:nvSpPr>
            <p:cNvPr id="380" name="Google Shape;380;p37"/>
            <p:cNvSpPr/>
            <p:nvPr/>
          </p:nvSpPr>
          <p:spPr>
            <a:xfrm>
              <a:off x="0" y="1933"/>
              <a:ext cx="3455097" cy="1318495"/>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1" name="Google Shape;381;p37"/>
            <p:cNvSpPr txBox="1"/>
            <p:nvPr/>
          </p:nvSpPr>
          <p:spPr>
            <a:xfrm>
              <a:off x="0" y="1933"/>
              <a:ext cx="3455097" cy="1318495"/>
            </a:xfrm>
            <a:prstGeom prst="rect">
              <a:avLst/>
            </a:prstGeom>
            <a:noFill/>
            <a:ln>
              <a:noFill/>
            </a:ln>
          </p:spPr>
          <p:txBody>
            <a:bodyPr anchorCtr="0" anchor="t" bIns="65725" lIns="65725" spcFirstLastPara="1" rIns="65725" wrap="square" tIns="65725">
              <a:normAutofit/>
            </a:bodyPr>
            <a:lstStyle/>
            <a:p>
              <a:pPr indent="0" lvl="0" marL="0" marR="0" rtl="0" algn="l">
                <a:lnSpc>
                  <a:spcPct val="90000"/>
                </a:lnSpc>
                <a:spcBef>
                  <a:spcPts val="0"/>
                </a:spcBef>
                <a:spcAft>
                  <a:spcPts val="0"/>
                </a:spcAft>
                <a:buClr>
                  <a:schemeClr val="dk1"/>
                </a:buClr>
                <a:buSzPts val="1700"/>
                <a:buFont typeface="Arial"/>
                <a:buNone/>
              </a:pPr>
              <a:r>
                <a:rPr b="0" i="0" lang="uk" sz="1700" u="none" cap="none" strike="noStrike">
                  <a:solidFill>
                    <a:schemeClr val="dk1"/>
                  </a:solidFill>
                  <a:latin typeface="Arial"/>
                  <a:ea typeface="Arial"/>
                  <a:cs typeface="Arial"/>
                  <a:sym typeface="Arial"/>
                </a:rPr>
                <a:t>Замість оновлення всіх ваг – додаються малі матриці низького рангу.</a:t>
              </a:r>
              <a:endParaRPr b="0" i="0" sz="1700" u="none" cap="none" strike="noStrike">
                <a:solidFill>
                  <a:schemeClr val="dk1"/>
                </a:solidFill>
                <a:latin typeface="Arial"/>
                <a:ea typeface="Arial"/>
                <a:cs typeface="Arial"/>
                <a:sym typeface="Arial"/>
              </a:endParaRPr>
            </a:p>
          </p:txBody>
        </p:sp>
        <p:cxnSp>
          <p:nvCxnSpPr>
            <p:cNvPr id="382" name="Google Shape;382;p37"/>
            <p:cNvCxnSpPr/>
            <p:nvPr/>
          </p:nvCxnSpPr>
          <p:spPr>
            <a:xfrm>
              <a:off x="0" y="1320428"/>
              <a:ext cx="3455097" cy="0"/>
            </a:xfrm>
            <a:prstGeom prst="straightConnector1">
              <a:avLst/>
            </a:prstGeom>
            <a:gradFill>
              <a:gsLst>
                <a:gs pos="0">
                  <a:srgbClr val="497D4C"/>
                </a:gs>
                <a:gs pos="50000">
                  <a:srgbClr val="116F1D"/>
                </a:gs>
                <a:gs pos="100000">
                  <a:srgbClr val="0B6417"/>
                </a:gs>
              </a:gsLst>
              <a:lin ang="5400000" scaled="0"/>
            </a:gradFill>
            <a:ln cap="flat" cmpd="sng" w="12700">
              <a:solidFill>
                <a:srgbClr val="176B22"/>
              </a:solidFill>
              <a:prstDash val="solid"/>
              <a:miter lim="800000"/>
              <a:headEnd len="sm" w="sm" type="none"/>
              <a:tailEnd len="sm" w="sm" type="none"/>
            </a:ln>
            <a:effectLst>
              <a:outerShdw blurRad="57150" rotWithShape="0" algn="ctr" dir="5400000" dist="19050">
                <a:srgbClr val="000000">
                  <a:alpha val="63137"/>
                </a:srgbClr>
              </a:outerShdw>
            </a:effectLst>
          </p:spPr>
        </p:cxnSp>
        <p:sp>
          <p:nvSpPr>
            <p:cNvPr id="383" name="Google Shape;383;p37"/>
            <p:cNvSpPr/>
            <p:nvPr/>
          </p:nvSpPr>
          <p:spPr>
            <a:xfrm>
              <a:off x="0" y="1320428"/>
              <a:ext cx="3455097" cy="1318495"/>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4" name="Google Shape;384;p37"/>
            <p:cNvSpPr txBox="1"/>
            <p:nvPr/>
          </p:nvSpPr>
          <p:spPr>
            <a:xfrm>
              <a:off x="0" y="1320428"/>
              <a:ext cx="3455097" cy="1318495"/>
            </a:xfrm>
            <a:prstGeom prst="rect">
              <a:avLst/>
            </a:prstGeom>
            <a:noFill/>
            <a:ln>
              <a:noFill/>
            </a:ln>
          </p:spPr>
          <p:txBody>
            <a:bodyPr anchorCtr="0" anchor="t" bIns="65725" lIns="65725" spcFirstLastPara="1" rIns="65725" wrap="square" tIns="65725">
              <a:normAutofit/>
            </a:bodyPr>
            <a:lstStyle/>
            <a:p>
              <a:pPr indent="0" lvl="0" marL="0" marR="0" rtl="0" algn="l">
                <a:lnSpc>
                  <a:spcPct val="90000"/>
                </a:lnSpc>
                <a:spcBef>
                  <a:spcPts val="0"/>
                </a:spcBef>
                <a:spcAft>
                  <a:spcPts val="0"/>
                </a:spcAft>
                <a:buClr>
                  <a:schemeClr val="dk1"/>
                </a:buClr>
                <a:buSzPts val="1700"/>
                <a:buFont typeface="Arial"/>
                <a:buNone/>
              </a:pPr>
              <a:r>
                <a:rPr b="0" i="0" lang="uk" sz="1700" u="none" cap="none" strike="noStrike">
                  <a:solidFill>
                    <a:schemeClr val="dk1"/>
                  </a:solidFill>
                  <a:latin typeface="Arial"/>
                  <a:ea typeface="Arial"/>
                  <a:cs typeface="Arial"/>
                  <a:sym typeface="Arial"/>
                </a:rPr>
                <a:t>Навчається лише кілька мільйонів параметрів.</a:t>
              </a:r>
              <a:endParaRPr b="0" i="0" sz="1700" u="none" cap="none" strike="noStrike">
                <a:solidFill>
                  <a:schemeClr val="dk1"/>
                </a:solidFill>
                <a:latin typeface="Arial"/>
                <a:ea typeface="Arial"/>
                <a:cs typeface="Arial"/>
                <a:sym typeface="Arial"/>
              </a:endParaRPr>
            </a:p>
          </p:txBody>
        </p:sp>
        <p:cxnSp>
          <p:nvCxnSpPr>
            <p:cNvPr id="385" name="Google Shape;385;p37"/>
            <p:cNvCxnSpPr/>
            <p:nvPr/>
          </p:nvCxnSpPr>
          <p:spPr>
            <a:xfrm>
              <a:off x="0" y="2638923"/>
              <a:ext cx="3455097" cy="0"/>
            </a:xfrm>
            <a:prstGeom prst="straightConnector1">
              <a:avLst/>
            </a:prstGeom>
            <a:gradFill>
              <a:gsLst>
                <a:gs pos="0">
                  <a:srgbClr val="47A9DE"/>
                </a:gs>
                <a:gs pos="50000">
                  <a:srgbClr val="00A2DF"/>
                </a:gs>
                <a:gs pos="100000">
                  <a:srgbClr val="0093CC"/>
                </a:gs>
              </a:gsLst>
              <a:lin ang="5400000" scaled="0"/>
            </a:gradFill>
            <a:ln cap="flat" cmpd="sng" w="12700">
              <a:solidFill>
                <a:srgbClr val="0C9ED5"/>
              </a:solidFill>
              <a:prstDash val="solid"/>
              <a:miter lim="800000"/>
              <a:headEnd len="sm" w="sm" type="none"/>
              <a:tailEnd len="sm" w="sm" type="none"/>
            </a:ln>
            <a:effectLst>
              <a:outerShdw blurRad="57150" rotWithShape="0" algn="ctr" dir="5400000" dist="19050">
                <a:srgbClr val="000000">
                  <a:alpha val="63137"/>
                </a:srgbClr>
              </a:outerShdw>
            </a:effectLst>
          </p:spPr>
        </p:cxnSp>
        <p:sp>
          <p:nvSpPr>
            <p:cNvPr id="386" name="Google Shape;386;p37"/>
            <p:cNvSpPr/>
            <p:nvPr/>
          </p:nvSpPr>
          <p:spPr>
            <a:xfrm>
              <a:off x="0" y="2638923"/>
              <a:ext cx="3455097" cy="1318495"/>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7" name="Google Shape;387;p37"/>
            <p:cNvSpPr txBox="1"/>
            <p:nvPr/>
          </p:nvSpPr>
          <p:spPr>
            <a:xfrm>
              <a:off x="0" y="2638923"/>
              <a:ext cx="3455097" cy="1318495"/>
            </a:xfrm>
            <a:prstGeom prst="rect">
              <a:avLst/>
            </a:prstGeom>
            <a:noFill/>
            <a:ln>
              <a:noFill/>
            </a:ln>
          </p:spPr>
          <p:txBody>
            <a:bodyPr anchorCtr="0" anchor="t" bIns="65725" lIns="65725" spcFirstLastPara="1" rIns="65725" wrap="square" tIns="65725">
              <a:noAutofit/>
            </a:bodyPr>
            <a:lstStyle/>
            <a:p>
              <a:pPr indent="0" lvl="0" marL="0" marR="0" rtl="0" algn="l">
                <a:lnSpc>
                  <a:spcPct val="90000"/>
                </a:lnSpc>
                <a:spcBef>
                  <a:spcPts val="0"/>
                </a:spcBef>
                <a:spcAft>
                  <a:spcPts val="0"/>
                </a:spcAft>
                <a:buClr>
                  <a:schemeClr val="dk1"/>
                </a:buClr>
                <a:buSzPts val="1700"/>
                <a:buFont typeface="Arial"/>
                <a:buNone/>
              </a:pPr>
              <a:r>
                <a:rPr b="0" i="0" lang="uk" sz="1700" u="none" cap="none" strike="noStrike">
                  <a:solidFill>
                    <a:schemeClr val="dk1"/>
                  </a:solidFill>
                  <a:latin typeface="Arial"/>
                  <a:ea typeface="Arial"/>
                  <a:cs typeface="Arial"/>
                  <a:sym typeface="Arial"/>
                </a:rPr>
                <a:t>Економить пам'ять і час.</a:t>
              </a:r>
              <a:endParaRPr b="0" i="0" sz="1700" u="none" cap="none" strike="noStrike">
                <a:solidFill>
                  <a:schemeClr val="dk1"/>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1" name="Shape 391"/>
        <p:cNvGrpSpPr/>
        <p:nvPr/>
      </p:nvGrpSpPr>
      <p:grpSpPr>
        <a:xfrm>
          <a:off x="0" y="0"/>
          <a:ext cx="0" cy="0"/>
          <a:chOff x="0" y="0"/>
          <a:chExt cx="0" cy="0"/>
        </a:xfrm>
      </p:grpSpPr>
      <p:sp>
        <p:nvSpPr>
          <p:cNvPr id="392" name="Google Shape;392;p38"/>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93" name="Google Shape;393;p38"/>
          <p:cNvSpPr/>
          <p:nvPr/>
        </p:nvSpPr>
        <p:spPr>
          <a:xfrm flipH="1" rot="5400000">
            <a:off x="-1057563" y="1057561"/>
            <a:ext cx="5143500" cy="3028377"/>
          </a:xfrm>
          <a:prstGeom prst="rect">
            <a:avLst/>
          </a:prstGeom>
          <a:gradFill>
            <a:gsLst>
              <a:gs pos="0">
                <a:srgbClr val="000000"/>
              </a:gs>
              <a:gs pos="8000">
                <a:srgbClr val="000000"/>
              </a:gs>
              <a:gs pos="100000">
                <a:srgbClr val="0F4861"/>
              </a:gs>
            </a:gsLst>
            <a:lin ang="3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94" name="Google Shape;394;p38"/>
          <p:cNvSpPr/>
          <p:nvPr/>
        </p:nvSpPr>
        <p:spPr>
          <a:xfrm flipH="1" rot="5400000">
            <a:off x="-1057564" y="1065164"/>
            <a:ext cx="5143499" cy="3028379"/>
          </a:xfrm>
          <a:prstGeom prst="rect">
            <a:avLst/>
          </a:prstGeom>
          <a:gradFill>
            <a:gsLst>
              <a:gs pos="0">
                <a:srgbClr val="000000">
                  <a:alpha val="0"/>
                </a:srgbClr>
              </a:gs>
              <a:gs pos="99000">
                <a:srgbClr val="156082">
                  <a:alpha val="45882"/>
                </a:srgbClr>
              </a:gs>
              <a:gs pos="100000">
                <a:srgbClr val="156082">
                  <a:alpha val="45882"/>
                </a:srgbClr>
              </a:gs>
            </a:gsLst>
            <a:lin ang="18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95" name="Google Shape;395;p38"/>
          <p:cNvSpPr/>
          <p:nvPr/>
        </p:nvSpPr>
        <p:spPr>
          <a:xfrm flipH="1" rot="5400000">
            <a:off x="575942" y="2691064"/>
            <a:ext cx="1876484" cy="3028381"/>
          </a:xfrm>
          <a:prstGeom prst="rect">
            <a:avLst/>
          </a:prstGeom>
          <a:gradFill>
            <a:gsLst>
              <a:gs pos="0">
                <a:srgbClr val="156082">
                  <a:alpha val="29019"/>
                </a:srgbClr>
              </a:gs>
              <a:gs pos="2000">
                <a:srgbClr val="156082">
                  <a:alpha val="29019"/>
                </a:srgbClr>
              </a:gs>
              <a:gs pos="100000">
                <a:srgbClr val="000000">
                  <a:alpha val="30196"/>
                </a:srgbClr>
              </a:gs>
            </a:gsLst>
            <a:lin ang="78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96" name="Google Shape;396;p38"/>
          <p:cNvSpPr/>
          <p:nvPr/>
        </p:nvSpPr>
        <p:spPr>
          <a:xfrm rot="-964587">
            <a:off x="-376303" y="727289"/>
            <a:ext cx="2925268" cy="3134218"/>
          </a:xfrm>
          <a:custGeom>
            <a:rect b="b" l="l" r="r" t="t"/>
            <a:pathLst>
              <a:path extrusionOk="0" h="4178958" w="3900357">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156082">
                  <a:alpha val="43137"/>
                </a:srgbClr>
              </a:gs>
            </a:gsLst>
            <a:lin ang="18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97" name="Google Shape;397;p38"/>
          <p:cNvSpPr/>
          <p:nvPr/>
        </p:nvSpPr>
        <p:spPr>
          <a:xfrm flipH="1" rot="5400000">
            <a:off x="-1057571" y="1057559"/>
            <a:ext cx="5143502" cy="3028376"/>
          </a:xfrm>
          <a:prstGeom prst="rect">
            <a:avLst/>
          </a:prstGeom>
          <a:gradFill>
            <a:gsLst>
              <a:gs pos="0">
                <a:srgbClr val="000000">
                  <a:alpha val="0"/>
                </a:srgbClr>
              </a:gs>
              <a:gs pos="99000">
                <a:srgbClr val="43AFE2">
                  <a:alpha val="10980"/>
                </a:srgbClr>
              </a:gs>
              <a:gs pos="100000">
                <a:srgbClr val="43AFE2">
                  <a:alpha val="10980"/>
                </a:srgbClr>
              </a:gs>
            </a:gsLst>
            <a:lin ang="72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98" name="Google Shape;398;p38"/>
          <p:cNvSpPr txBox="1"/>
          <p:nvPr>
            <p:ph type="title"/>
          </p:nvPr>
        </p:nvSpPr>
        <p:spPr>
          <a:xfrm>
            <a:off x="439850" y="1262825"/>
            <a:ext cx="2382900" cy="1797300"/>
          </a:xfrm>
          <a:prstGeom prst="rect">
            <a:avLst/>
          </a:prstGeom>
          <a:noFill/>
          <a:ln>
            <a:noFill/>
          </a:ln>
        </p:spPr>
        <p:txBody>
          <a:bodyPr anchorCtr="0" anchor="b" bIns="34275" lIns="68575" spcFirstLastPara="1" rIns="68575" wrap="square" tIns="34275">
            <a:normAutofit fontScale="90000"/>
          </a:bodyPr>
          <a:lstStyle/>
          <a:p>
            <a:pPr indent="0" lvl="0" marL="0" rtl="0" algn="r">
              <a:lnSpc>
                <a:spcPct val="90000"/>
              </a:lnSpc>
              <a:spcBef>
                <a:spcPts val="0"/>
              </a:spcBef>
              <a:spcAft>
                <a:spcPts val="0"/>
              </a:spcAft>
              <a:buClr>
                <a:srgbClr val="FFFFFF"/>
              </a:buClr>
              <a:buSzPct val="100000"/>
              <a:buFont typeface="Play"/>
              <a:buNone/>
            </a:pPr>
            <a:r>
              <a:rPr b="1" lang="uk" sz="3000">
                <a:solidFill>
                  <a:srgbClr val="FFFFFF"/>
                </a:solidFill>
              </a:rPr>
              <a:t>Промптинг (Prompt Engineering)</a:t>
            </a:r>
            <a:br>
              <a:rPr b="1" lang="uk" sz="3000">
                <a:solidFill>
                  <a:srgbClr val="FFFFFF"/>
                </a:solidFill>
              </a:rPr>
            </a:br>
            <a:endParaRPr sz="3000">
              <a:solidFill>
                <a:srgbClr val="FFFFFF"/>
              </a:solidFill>
            </a:endParaRPr>
          </a:p>
        </p:txBody>
      </p:sp>
      <p:grpSp>
        <p:nvGrpSpPr>
          <p:cNvPr id="399" name="Google Shape;399;p38"/>
          <p:cNvGrpSpPr/>
          <p:nvPr/>
        </p:nvGrpSpPr>
        <p:grpSpPr>
          <a:xfrm>
            <a:off x="4133631" y="562830"/>
            <a:ext cx="4090440" cy="4090440"/>
            <a:chOff x="606456" y="0"/>
            <a:chExt cx="5453920" cy="5453920"/>
          </a:xfrm>
        </p:grpSpPr>
        <p:sp>
          <p:nvSpPr>
            <p:cNvPr id="400" name="Google Shape;400;p38"/>
            <p:cNvSpPr/>
            <p:nvPr/>
          </p:nvSpPr>
          <p:spPr>
            <a:xfrm>
              <a:off x="606456" y="0"/>
              <a:ext cx="5453920" cy="5453920"/>
            </a:xfrm>
            <a:prstGeom prst="diamond">
              <a:avLst/>
            </a:prstGeom>
            <a:solidFill>
              <a:srgbClr val="F6D4C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1" name="Google Shape;401;p38"/>
            <p:cNvSpPr/>
            <p:nvPr/>
          </p:nvSpPr>
          <p:spPr>
            <a:xfrm>
              <a:off x="1124578" y="518122"/>
              <a:ext cx="2127028" cy="2127028"/>
            </a:xfrm>
            <a:prstGeom prst="roundRect">
              <a:avLst>
                <a:gd fmla="val 16667" name="adj"/>
              </a:avLst>
            </a:prstGeom>
            <a:gradFill>
              <a:gsLst>
                <a:gs pos="0">
                  <a:srgbClr val="EC8154"/>
                </a:gs>
                <a:gs pos="50000">
                  <a:srgbClr val="F16E27"/>
                </a:gs>
                <a:gs pos="100000">
                  <a:srgbClr val="DF5D18"/>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2" name="Google Shape;402;p38"/>
            <p:cNvSpPr txBox="1"/>
            <p:nvPr/>
          </p:nvSpPr>
          <p:spPr>
            <a:xfrm>
              <a:off x="1228411" y="621955"/>
              <a:ext cx="1919362" cy="1919362"/>
            </a:xfrm>
            <a:prstGeom prst="rect">
              <a:avLst/>
            </a:prstGeom>
            <a:noFill/>
            <a:ln>
              <a:noFill/>
            </a:ln>
          </p:spPr>
          <p:txBody>
            <a:bodyPr anchorCtr="0" anchor="ctr" bIns="65725" lIns="65725" spcFirstLastPara="1" rIns="65725" wrap="square" tIns="65725">
              <a:noAutofit/>
            </a:bodyPr>
            <a:lstStyle/>
            <a:p>
              <a:pPr indent="0" lvl="0" marL="0" marR="0" rtl="0" algn="ctr">
                <a:lnSpc>
                  <a:spcPct val="90000"/>
                </a:lnSpc>
                <a:spcBef>
                  <a:spcPts val="0"/>
                </a:spcBef>
                <a:spcAft>
                  <a:spcPts val="0"/>
                </a:spcAft>
                <a:buClr>
                  <a:schemeClr val="lt1"/>
                </a:buClr>
                <a:buSzPts val="1700"/>
                <a:buFont typeface="Arial"/>
                <a:buNone/>
              </a:pPr>
              <a:r>
                <a:rPr b="0" i="0" lang="uk" sz="1700" u="none" cap="none" strike="noStrike">
                  <a:solidFill>
                    <a:schemeClr val="lt1"/>
                  </a:solidFill>
                  <a:latin typeface="Arial"/>
                  <a:ea typeface="Arial"/>
                  <a:cs typeface="Arial"/>
                  <a:sym typeface="Arial"/>
                </a:rPr>
                <a:t>Мистецтво складання інструкцій для LLM.</a:t>
              </a:r>
              <a:endParaRPr sz="1100"/>
            </a:p>
          </p:txBody>
        </p:sp>
        <p:sp>
          <p:nvSpPr>
            <p:cNvPr id="403" name="Google Shape;403;p38"/>
            <p:cNvSpPr/>
            <p:nvPr/>
          </p:nvSpPr>
          <p:spPr>
            <a:xfrm>
              <a:off x="3415225" y="518122"/>
              <a:ext cx="2127028" cy="2127028"/>
            </a:xfrm>
            <a:prstGeom prst="roundRect">
              <a:avLst>
                <a:gd fmla="val 16667" name="adj"/>
              </a:avLst>
            </a:prstGeom>
            <a:gradFill>
              <a:gsLst>
                <a:gs pos="0">
                  <a:srgbClr val="497D4C"/>
                </a:gs>
                <a:gs pos="50000">
                  <a:srgbClr val="116F1D"/>
                </a:gs>
                <a:gs pos="100000">
                  <a:srgbClr val="0B6417"/>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4" name="Google Shape;404;p38"/>
            <p:cNvSpPr txBox="1"/>
            <p:nvPr/>
          </p:nvSpPr>
          <p:spPr>
            <a:xfrm>
              <a:off x="3519058" y="621955"/>
              <a:ext cx="1919362" cy="1919362"/>
            </a:xfrm>
            <a:prstGeom prst="rect">
              <a:avLst/>
            </a:prstGeom>
            <a:noFill/>
            <a:ln>
              <a:noFill/>
            </a:ln>
          </p:spPr>
          <p:txBody>
            <a:bodyPr anchorCtr="0" anchor="ctr" bIns="65725" lIns="65725" spcFirstLastPara="1" rIns="65725" wrap="square" tIns="65725">
              <a:noAutofit/>
            </a:bodyPr>
            <a:lstStyle/>
            <a:p>
              <a:pPr indent="0" lvl="0" marL="0" marR="0" rtl="0" algn="ctr">
                <a:lnSpc>
                  <a:spcPct val="90000"/>
                </a:lnSpc>
                <a:spcBef>
                  <a:spcPts val="0"/>
                </a:spcBef>
                <a:spcAft>
                  <a:spcPts val="0"/>
                </a:spcAft>
                <a:buClr>
                  <a:schemeClr val="lt1"/>
                </a:buClr>
                <a:buSzPts val="1700"/>
                <a:buFont typeface="Arial"/>
                <a:buNone/>
              </a:pPr>
              <a:r>
                <a:rPr b="0" i="0" lang="uk" sz="1700" u="none" cap="none" strike="noStrike">
                  <a:solidFill>
                    <a:schemeClr val="lt1"/>
                  </a:solidFill>
                  <a:latin typeface="Arial"/>
                  <a:ea typeface="Arial"/>
                  <a:cs typeface="Arial"/>
                  <a:sym typeface="Arial"/>
                </a:rPr>
                <a:t>Zero-shot: без прикладів.</a:t>
              </a:r>
              <a:endParaRPr b="0" i="0" sz="1700" u="none" cap="none" strike="noStrike">
                <a:solidFill>
                  <a:schemeClr val="lt1"/>
                </a:solidFill>
                <a:latin typeface="Arial"/>
                <a:ea typeface="Arial"/>
                <a:cs typeface="Arial"/>
                <a:sym typeface="Arial"/>
              </a:endParaRPr>
            </a:p>
          </p:txBody>
        </p:sp>
        <p:sp>
          <p:nvSpPr>
            <p:cNvPr id="405" name="Google Shape;405;p38"/>
            <p:cNvSpPr/>
            <p:nvPr/>
          </p:nvSpPr>
          <p:spPr>
            <a:xfrm>
              <a:off x="1124578" y="2808768"/>
              <a:ext cx="2127028" cy="2127028"/>
            </a:xfrm>
            <a:prstGeom prst="roundRect">
              <a:avLst>
                <a:gd fmla="val 16667" name="adj"/>
              </a:avLst>
            </a:prstGeom>
            <a:gradFill>
              <a:gsLst>
                <a:gs pos="0">
                  <a:srgbClr val="47A9DE"/>
                </a:gs>
                <a:gs pos="50000">
                  <a:srgbClr val="00A2DF"/>
                </a:gs>
                <a:gs pos="100000">
                  <a:srgbClr val="0093CC"/>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6" name="Google Shape;406;p38"/>
            <p:cNvSpPr txBox="1"/>
            <p:nvPr/>
          </p:nvSpPr>
          <p:spPr>
            <a:xfrm>
              <a:off x="1228411" y="2912601"/>
              <a:ext cx="1919362" cy="1919362"/>
            </a:xfrm>
            <a:prstGeom prst="rect">
              <a:avLst/>
            </a:prstGeom>
            <a:noFill/>
            <a:ln>
              <a:noFill/>
            </a:ln>
          </p:spPr>
          <p:txBody>
            <a:bodyPr anchorCtr="0" anchor="ctr" bIns="65725" lIns="65725" spcFirstLastPara="1" rIns="65725" wrap="square" tIns="65725">
              <a:noAutofit/>
            </a:bodyPr>
            <a:lstStyle/>
            <a:p>
              <a:pPr indent="0" lvl="0" marL="0" marR="0" rtl="0" algn="ctr">
                <a:lnSpc>
                  <a:spcPct val="90000"/>
                </a:lnSpc>
                <a:spcBef>
                  <a:spcPts val="0"/>
                </a:spcBef>
                <a:spcAft>
                  <a:spcPts val="0"/>
                </a:spcAft>
                <a:buClr>
                  <a:schemeClr val="lt1"/>
                </a:buClr>
                <a:buSzPts val="1700"/>
                <a:buFont typeface="Arial"/>
                <a:buNone/>
              </a:pPr>
              <a:r>
                <a:rPr b="0" i="0" lang="uk" sz="1700" u="none" cap="none" strike="noStrike">
                  <a:solidFill>
                    <a:schemeClr val="lt1"/>
                  </a:solidFill>
                  <a:latin typeface="Arial"/>
                  <a:ea typeface="Arial"/>
                  <a:cs typeface="Arial"/>
                  <a:sym typeface="Arial"/>
                </a:rPr>
                <a:t>Few-shot: надати 2-3 приклади в промпті.</a:t>
              </a:r>
              <a:endParaRPr b="0" i="0" sz="1700" u="none" cap="none" strike="noStrike">
                <a:solidFill>
                  <a:schemeClr val="lt1"/>
                </a:solidFill>
                <a:latin typeface="Arial"/>
                <a:ea typeface="Arial"/>
                <a:cs typeface="Arial"/>
                <a:sym typeface="Arial"/>
              </a:endParaRPr>
            </a:p>
          </p:txBody>
        </p:sp>
        <p:sp>
          <p:nvSpPr>
            <p:cNvPr id="407" name="Google Shape;407;p38"/>
            <p:cNvSpPr/>
            <p:nvPr/>
          </p:nvSpPr>
          <p:spPr>
            <a:xfrm>
              <a:off x="3415225" y="2808768"/>
              <a:ext cx="2127028" cy="2127028"/>
            </a:xfrm>
            <a:prstGeom prst="roundRect">
              <a:avLst>
                <a:gd fmla="val 16667" name="adj"/>
              </a:avLst>
            </a:prstGeom>
            <a:gradFill>
              <a:gsLst>
                <a:gs pos="0">
                  <a:srgbClr val="AB4E9D"/>
                </a:gs>
                <a:gs pos="50000">
                  <a:srgbClr val="A62094"/>
                </a:gs>
                <a:gs pos="100000">
                  <a:srgbClr val="961886"/>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8" name="Google Shape;408;p38"/>
            <p:cNvSpPr txBox="1"/>
            <p:nvPr/>
          </p:nvSpPr>
          <p:spPr>
            <a:xfrm>
              <a:off x="3519058" y="2912601"/>
              <a:ext cx="1919362" cy="1919362"/>
            </a:xfrm>
            <a:prstGeom prst="rect">
              <a:avLst/>
            </a:prstGeom>
            <a:noFill/>
            <a:ln>
              <a:noFill/>
            </a:ln>
          </p:spPr>
          <p:txBody>
            <a:bodyPr anchorCtr="0" anchor="ctr" bIns="65725" lIns="65725" spcFirstLastPara="1" rIns="65725" wrap="square" tIns="65725">
              <a:noAutofit/>
            </a:bodyPr>
            <a:lstStyle/>
            <a:p>
              <a:pPr indent="0" lvl="0" marL="0" marR="0" rtl="0" algn="ctr">
                <a:lnSpc>
                  <a:spcPct val="90000"/>
                </a:lnSpc>
                <a:spcBef>
                  <a:spcPts val="0"/>
                </a:spcBef>
                <a:spcAft>
                  <a:spcPts val="0"/>
                </a:spcAft>
                <a:buClr>
                  <a:schemeClr val="lt1"/>
                </a:buClr>
                <a:buSzPts val="1700"/>
                <a:buFont typeface="Arial"/>
                <a:buNone/>
              </a:pPr>
              <a:r>
                <a:rPr b="0" i="0" lang="uk" sz="1700" u="none" cap="none" strike="noStrike">
                  <a:solidFill>
                    <a:schemeClr val="lt1"/>
                  </a:solidFill>
                  <a:latin typeface="Arial"/>
                  <a:ea typeface="Arial"/>
                  <a:cs typeface="Arial"/>
                  <a:sym typeface="Arial"/>
                </a:rPr>
                <a:t>Chain-of-Thought (CoT): «поясни свої міркування».</a:t>
              </a:r>
              <a:endParaRPr b="0" i="0" sz="1700" u="none" cap="none" strike="noStrike">
                <a:solidFill>
                  <a:schemeClr val="lt1"/>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2" name="Shape 412"/>
        <p:cNvGrpSpPr/>
        <p:nvPr/>
      </p:nvGrpSpPr>
      <p:grpSpPr>
        <a:xfrm>
          <a:off x="0" y="0"/>
          <a:ext cx="0" cy="0"/>
          <a:chOff x="0" y="0"/>
          <a:chExt cx="0" cy="0"/>
        </a:xfrm>
      </p:grpSpPr>
      <p:sp>
        <p:nvSpPr>
          <p:cNvPr id="413" name="Google Shape;413;p39"/>
          <p:cNvSpPr/>
          <p:nvPr/>
        </p:nvSpPr>
        <p:spPr>
          <a:xfrm>
            <a:off x="0" y="0"/>
            <a:ext cx="9141714"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14" name="Google Shape;414;p39"/>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15" name="Google Shape;415;p39"/>
          <p:cNvSpPr/>
          <p:nvPr/>
        </p:nvSpPr>
        <p:spPr>
          <a:xfrm>
            <a:off x="0" y="0"/>
            <a:ext cx="9144000" cy="5143500"/>
          </a:xfrm>
          <a:custGeom>
            <a:rect b="b" l="l" r="r" t="t"/>
            <a:pathLst>
              <a:path extrusionOk="0" h="6858000" w="12192000">
                <a:moveTo>
                  <a:pt x="9149158" y="2038490"/>
                </a:moveTo>
                <a:cubicBezTo>
                  <a:pt x="9152630" y="2038396"/>
                  <a:pt x="9157442" y="2039945"/>
                  <a:pt x="9164184" y="2044026"/>
                </a:cubicBezTo>
                <a:lnTo>
                  <a:pt x="9172532" y="2045543"/>
                </a:lnTo>
                <a:lnTo>
                  <a:pt x="9171580" y="2056997"/>
                </a:lnTo>
                <a:cubicBezTo>
                  <a:pt x="9169082" y="2082897"/>
                  <a:pt x="9165822" y="2102884"/>
                  <a:pt x="9161257" y="2098605"/>
                </a:cubicBezTo>
                <a:cubicBezTo>
                  <a:pt x="9149066" y="2086928"/>
                  <a:pt x="9130962" y="2077578"/>
                  <a:pt x="9138232" y="2059518"/>
                </a:cubicBezTo>
                <a:cubicBezTo>
                  <a:pt x="9140394" y="2053821"/>
                  <a:pt x="9138743" y="2038771"/>
                  <a:pt x="9149158" y="2038490"/>
                </a:cubicBezTo>
                <a:close/>
                <a:moveTo>
                  <a:pt x="9177606" y="1977215"/>
                </a:moveTo>
                <a:lnTo>
                  <a:pt x="9181592" y="1987782"/>
                </a:lnTo>
                <a:lnTo>
                  <a:pt x="9181923" y="1998627"/>
                </a:lnTo>
                <a:cubicBezTo>
                  <a:pt x="9182120" y="2008276"/>
                  <a:pt x="9182258" y="2019324"/>
                  <a:pt x="9182316" y="2031066"/>
                </a:cubicBezTo>
                <a:lnTo>
                  <a:pt x="9182278" y="2047313"/>
                </a:lnTo>
                <a:lnTo>
                  <a:pt x="9172532" y="2045543"/>
                </a:lnTo>
                <a:lnTo>
                  <a:pt x="9173842" y="2029805"/>
                </a:lnTo>
                <a:cubicBezTo>
                  <a:pt x="9175210" y="2011268"/>
                  <a:pt x="9176320" y="1992822"/>
                  <a:pt x="9177334" y="1979903"/>
                </a:cubicBezTo>
                <a:close/>
                <a:moveTo>
                  <a:pt x="3696300" y="1578900"/>
                </a:moveTo>
                <a:cubicBezTo>
                  <a:pt x="3710474" y="1584699"/>
                  <a:pt x="3724648" y="1590499"/>
                  <a:pt x="3738823" y="1596298"/>
                </a:cubicBezTo>
                <a:cubicBezTo>
                  <a:pt x="3731018" y="1595365"/>
                  <a:pt x="3722545" y="1594511"/>
                  <a:pt x="3714409" y="1593618"/>
                </a:cubicBezTo>
                <a:cubicBezTo>
                  <a:pt x="3707437" y="1589899"/>
                  <a:pt x="3700149" y="1586487"/>
                  <a:pt x="3693161" y="1582501"/>
                </a:cubicBezTo>
                <a:cubicBezTo>
                  <a:pt x="3694096" y="1581313"/>
                  <a:pt x="3695364" y="1580088"/>
                  <a:pt x="3696300" y="1578900"/>
                </a:cubicBezTo>
                <a:close/>
                <a:moveTo>
                  <a:pt x="3918454" y="1175387"/>
                </a:moveTo>
                <a:cubicBezTo>
                  <a:pt x="4003499" y="1210184"/>
                  <a:pt x="4088562" y="1245245"/>
                  <a:pt x="4173607" y="1280040"/>
                </a:cubicBezTo>
                <a:cubicBezTo>
                  <a:pt x="4172338" y="1281268"/>
                  <a:pt x="4171404" y="1282454"/>
                  <a:pt x="4170135" y="1283683"/>
                </a:cubicBezTo>
                <a:cubicBezTo>
                  <a:pt x="4077511" y="1256783"/>
                  <a:pt x="3989628" y="1225016"/>
                  <a:pt x="3918454" y="1175387"/>
                </a:cubicBezTo>
                <a:close/>
                <a:moveTo>
                  <a:pt x="8109090" y="602108"/>
                </a:moveTo>
                <a:lnTo>
                  <a:pt x="8113034" y="602645"/>
                </a:lnTo>
                <a:cubicBezTo>
                  <a:pt x="8117145" y="603257"/>
                  <a:pt x="8117456" y="603522"/>
                  <a:pt x="8111220" y="603405"/>
                </a:cubicBezTo>
                <a:close/>
                <a:moveTo>
                  <a:pt x="8489536" y="389280"/>
                </a:moveTo>
                <a:cubicBezTo>
                  <a:pt x="8479909" y="386150"/>
                  <a:pt x="8475270" y="392618"/>
                  <a:pt x="8470194" y="397527"/>
                </a:cubicBezTo>
                <a:cubicBezTo>
                  <a:pt x="8442581" y="423957"/>
                  <a:pt x="8407160" y="444085"/>
                  <a:pt x="8373511" y="465608"/>
                </a:cubicBezTo>
                <a:cubicBezTo>
                  <a:pt x="8325315" y="496678"/>
                  <a:pt x="8274262" y="525140"/>
                  <a:pt x="8231753" y="560890"/>
                </a:cubicBezTo>
                <a:cubicBezTo>
                  <a:pt x="8220884" y="569991"/>
                  <a:pt x="8202133" y="566357"/>
                  <a:pt x="8199967" y="553465"/>
                </a:cubicBezTo>
                <a:cubicBezTo>
                  <a:pt x="8197799" y="540575"/>
                  <a:pt x="8188778" y="541668"/>
                  <a:pt x="8175616" y="546483"/>
                </a:cubicBezTo>
                <a:cubicBezTo>
                  <a:pt x="8159813" y="552155"/>
                  <a:pt x="8144012" y="557828"/>
                  <a:pt x="8128578" y="563992"/>
                </a:cubicBezTo>
                <a:cubicBezTo>
                  <a:pt x="8112493" y="570503"/>
                  <a:pt x="8105752" y="580983"/>
                  <a:pt x="8104845" y="593172"/>
                </a:cubicBezTo>
                <a:cubicBezTo>
                  <a:pt x="8104654" y="595478"/>
                  <a:pt x="8104732" y="598018"/>
                  <a:pt x="8105615" y="599991"/>
                </a:cubicBezTo>
                <a:lnTo>
                  <a:pt x="8109090" y="602108"/>
                </a:lnTo>
                <a:lnTo>
                  <a:pt x="8092049" y="599788"/>
                </a:lnTo>
                <a:cubicBezTo>
                  <a:pt x="8074125" y="597229"/>
                  <a:pt x="8051995" y="593399"/>
                  <a:pt x="8047646" y="588557"/>
                </a:cubicBezTo>
                <a:cubicBezTo>
                  <a:pt x="8047278" y="588065"/>
                  <a:pt x="7852240" y="650342"/>
                  <a:pt x="7793637" y="681868"/>
                </a:cubicBezTo>
                <a:cubicBezTo>
                  <a:pt x="7757179" y="701583"/>
                  <a:pt x="7034011" y="1031296"/>
                  <a:pt x="6007741" y="1095470"/>
                </a:cubicBezTo>
                <a:cubicBezTo>
                  <a:pt x="5971519" y="1097710"/>
                  <a:pt x="5937353" y="1100506"/>
                  <a:pt x="5902533" y="1103650"/>
                </a:cubicBezTo>
                <a:cubicBezTo>
                  <a:pt x="5594429" y="1129961"/>
                  <a:pt x="5292360" y="1161179"/>
                  <a:pt x="5164222" y="1163546"/>
                </a:cubicBezTo>
                <a:cubicBezTo>
                  <a:pt x="5063988" y="1165217"/>
                  <a:pt x="4549164" y="1138992"/>
                  <a:pt x="4395075" y="1082763"/>
                </a:cubicBezTo>
                <a:cubicBezTo>
                  <a:pt x="4237527" y="1025076"/>
                  <a:pt x="4088158" y="958345"/>
                  <a:pt x="3939440" y="891265"/>
                </a:cubicBezTo>
                <a:cubicBezTo>
                  <a:pt x="3874968" y="862299"/>
                  <a:pt x="3806689" y="837016"/>
                  <a:pt x="3747894" y="801994"/>
                </a:cubicBezTo>
                <a:cubicBezTo>
                  <a:pt x="3689082" y="766706"/>
                  <a:pt x="3632839" y="729495"/>
                  <a:pt x="3569553" y="697970"/>
                </a:cubicBezTo>
                <a:cubicBezTo>
                  <a:pt x="3551464" y="688887"/>
                  <a:pt x="3533327" y="679005"/>
                  <a:pt x="3507813" y="680216"/>
                </a:cubicBezTo>
                <a:cubicBezTo>
                  <a:pt x="3502099" y="680371"/>
                  <a:pt x="3496101" y="681365"/>
                  <a:pt x="3490455" y="682587"/>
                </a:cubicBezTo>
                <a:cubicBezTo>
                  <a:pt x="3484140" y="683888"/>
                  <a:pt x="3479298" y="687159"/>
                  <a:pt x="3477246" y="691971"/>
                </a:cubicBezTo>
                <a:cubicBezTo>
                  <a:pt x="3475230" y="697315"/>
                  <a:pt x="3479426" y="699760"/>
                  <a:pt x="3484273" y="701857"/>
                </a:cubicBezTo>
                <a:cubicBezTo>
                  <a:pt x="3487733" y="703316"/>
                  <a:pt x="3491260" y="705843"/>
                  <a:pt x="3495638" y="705849"/>
                </a:cubicBezTo>
                <a:cubicBezTo>
                  <a:pt x="3523576" y="705686"/>
                  <a:pt x="3534967" y="720681"/>
                  <a:pt x="3548914" y="733487"/>
                </a:cubicBezTo>
                <a:cubicBezTo>
                  <a:pt x="3554984" y="738925"/>
                  <a:pt x="3561304" y="742991"/>
                  <a:pt x="3551504" y="753036"/>
                </a:cubicBezTo>
                <a:cubicBezTo>
                  <a:pt x="3542974" y="761854"/>
                  <a:pt x="3552584" y="764716"/>
                  <a:pt x="3562075" y="765715"/>
                </a:cubicBezTo>
                <a:cubicBezTo>
                  <a:pt x="3575293" y="767067"/>
                  <a:pt x="3590630" y="764672"/>
                  <a:pt x="3605942" y="772481"/>
                </a:cubicBezTo>
                <a:cubicBezTo>
                  <a:pt x="3550860" y="779958"/>
                  <a:pt x="3525860" y="757484"/>
                  <a:pt x="3499309" y="737079"/>
                </a:cubicBezTo>
                <a:cubicBezTo>
                  <a:pt x="3489410" y="729689"/>
                  <a:pt x="3482419" y="720334"/>
                  <a:pt x="3473788" y="711717"/>
                </a:cubicBezTo>
                <a:cubicBezTo>
                  <a:pt x="3463019" y="701211"/>
                  <a:pt x="3451290" y="702093"/>
                  <a:pt x="3437248" y="714263"/>
                </a:cubicBezTo>
                <a:cubicBezTo>
                  <a:pt x="3424810" y="725164"/>
                  <a:pt x="3418411" y="725135"/>
                  <a:pt x="3413254" y="712874"/>
                </a:cubicBezTo>
                <a:cubicBezTo>
                  <a:pt x="3405299" y="693706"/>
                  <a:pt x="3389031" y="681450"/>
                  <a:pt x="3362511" y="677414"/>
                </a:cubicBezTo>
                <a:cubicBezTo>
                  <a:pt x="3356728" y="676504"/>
                  <a:pt x="3349492" y="673891"/>
                  <a:pt x="3344467" y="679599"/>
                </a:cubicBezTo>
                <a:cubicBezTo>
                  <a:pt x="3340061" y="684428"/>
                  <a:pt x="3344392" y="689004"/>
                  <a:pt x="3347971" y="692328"/>
                </a:cubicBezTo>
                <a:cubicBezTo>
                  <a:pt x="3354407" y="698260"/>
                  <a:pt x="3360162" y="704004"/>
                  <a:pt x="3363008" y="711713"/>
                </a:cubicBezTo>
                <a:cubicBezTo>
                  <a:pt x="3365019" y="716838"/>
                  <a:pt x="3367062" y="722495"/>
                  <a:pt x="3362637" y="727058"/>
                </a:cubicBezTo>
                <a:cubicBezTo>
                  <a:pt x="3344342" y="746453"/>
                  <a:pt x="3358884" y="752745"/>
                  <a:pt x="3376167" y="759779"/>
                </a:cubicBezTo>
                <a:cubicBezTo>
                  <a:pt x="3400002" y="769239"/>
                  <a:pt x="3410177" y="786259"/>
                  <a:pt x="3406203" y="808483"/>
                </a:cubicBezTo>
                <a:cubicBezTo>
                  <a:pt x="3404757" y="817516"/>
                  <a:pt x="3406433" y="822682"/>
                  <a:pt x="3420116" y="820757"/>
                </a:cubicBezTo>
                <a:cubicBezTo>
                  <a:pt x="3425463" y="820110"/>
                  <a:pt x="3426984" y="822878"/>
                  <a:pt x="3429194" y="825831"/>
                </a:cubicBezTo>
                <a:cubicBezTo>
                  <a:pt x="3476758" y="896035"/>
                  <a:pt x="3542778" y="954609"/>
                  <a:pt x="3619149" y="1006561"/>
                </a:cubicBezTo>
                <a:cubicBezTo>
                  <a:pt x="3681093" y="1048718"/>
                  <a:pt x="3748746" y="1085351"/>
                  <a:pt x="3818654" y="1120369"/>
                </a:cubicBezTo>
                <a:cubicBezTo>
                  <a:pt x="3820742" y="1121458"/>
                  <a:pt x="3822850" y="1122813"/>
                  <a:pt x="3824021" y="1125355"/>
                </a:cubicBezTo>
                <a:cubicBezTo>
                  <a:pt x="3791940" y="1123873"/>
                  <a:pt x="3763844" y="1116270"/>
                  <a:pt x="3736668" y="1107215"/>
                </a:cubicBezTo>
                <a:cubicBezTo>
                  <a:pt x="3664431" y="1083216"/>
                  <a:pt x="3602610" y="1048291"/>
                  <a:pt x="3540174" y="1014247"/>
                </a:cubicBezTo>
                <a:cubicBezTo>
                  <a:pt x="3502142" y="993353"/>
                  <a:pt x="3463159" y="973379"/>
                  <a:pt x="3421640" y="955861"/>
                </a:cubicBezTo>
                <a:cubicBezTo>
                  <a:pt x="3414719" y="952940"/>
                  <a:pt x="3409737" y="948712"/>
                  <a:pt x="3404753" y="944484"/>
                </a:cubicBezTo>
                <a:cubicBezTo>
                  <a:pt x="3401911" y="942144"/>
                  <a:pt x="3398417" y="940152"/>
                  <a:pt x="3393138" y="941865"/>
                </a:cubicBezTo>
                <a:cubicBezTo>
                  <a:pt x="3386540" y="944006"/>
                  <a:pt x="3386126" y="948083"/>
                  <a:pt x="3385712" y="952159"/>
                </a:cubicBezTo>
                <a:cubicBezTo>
                  <a:pt x="3384520" y="965187"/>
                  <a:pt x="3389594" y="976116"/>
                  <a:pt x="3398641" y="986025"/>
                </a:cubicBezTo>
                <a:cubicBezTo>
                  <a:pt x="3422140" y="1011364"/>
                  <a:pt x="3455589" y="1029056"/>
                  <a:pt x="3489975" y="1045560"/>
                </a:cubicBezTo>
                <a:cubicBezTo>
                  <a:pt x="3534421" y="1066751"/>
                  <a:pt x="3577600" y="1089169"/>
                  <a:pt x="3617273" y="1114697"/>
                </a:cubicBezTo>
                <a:cubicBezTo>
                  <a:pt x="3620082" y="1116503"/>
                  <a:pt x="3625178" y="1117229"/>
                  <a:pt x="3623898" y="1123556"/>
                </a:cubicBezTo>
                <a:cubicBezTo>
                  <a:pt x="3599276" y="1112313"/>
                  <a:pt x="3576007" y="1101173"/>
                  <a:pt x="3552438" y="1090606"/>
                </a:cubicBezTo>
                <a:cubicBezTo>
                  <a:pt x="3529203" y="1079998"/>
                  <a:pt x="3505634" y="1069432"/>
                  <a:pt x="3482417" y="1059092"/>
                </a:cubicBezTo>
                <a:cubicBezTo>
                  <a:pt x="3476868" y="1056543"/>
                  <a:pt x="3470899" y="1052702"/>
                  <a:pt x="3463468" y="1057629"/>
                </a:cubicBezTo>
                <a:cubicBezTo>
                  <a:pt x="3455703" y="1062595"/>
                  <a:pt x="3457128" y="1069134"/>
                  <a:pt x="3459472" y="1074217"/>
                </a:cubicBezTo>
                <a:cubicBezTo>
                  <a:pt x="3466821" y="1089165"/>
                  <a:pt x="3478729" y="1101681"/>
                  <a:pt x="3494211" y="1112153"/>
                </a:cubicBezTo>
                <a:cubicBezTo>
                  <a:pt x="3546907" y="1146573"/>
                  <a:pt x="3606933" y="1174465"/>
                  <a:pt x="3663137" y="1205775"/>
                </a:cubicBezTo>
                <a:cubicBezTo>
                  <a:pt x="3693512" y="1222766"/>
                  <a:pt x="3721631" y="1241370"/>
                  <a:pt x="3748466" y="1260936"/>
                </a:cubicBezTo>
                <a:cubicBezTo>
                  <a:pt x="3754470" y="1265310"/>
                  <a:pt x="3754440" y="1270144"/>
                  <a:pt x="3753142" y="1276208"/>
                </a:cubicBezTo>
                <a:cubicBezTo>
                  <a:pt x="3747968" y="1300726"/>
                  <a:pt x="3758834" y="1307462"/>
                  <a:pt x="3791960" y="1298886"/>
                </a:cubicBezTo>
                <a:cubicBezTo>
                  <a:pt x="3802234" y="1296299"/>
                  <a:pt x="3809336" y="1296782"/>
                  <a:pt x="3816039" y="1301606"/>
                </a:cubicBezTo>
                <a:cubicBezTo>
                  <a:pt x="3897299" y="1361555"/>
                  <a:pt x="3991895" y="1408883"/>
                  <a:pt x="4094439" y="1448806"/>
                </a:cubicBezTo>
                <a:cubicBezTo>
                  <a:pt x="4136210" y="1464953"/>
                  <a:pt x="4179249" y="1479874"/>
                  <a:pt x="4222870" y="1493379"/>
                </a:cubicBezTo>
                <a:cubicBezTo>
                  <a:pt x="4222955" y="1494711"/>
                  <a:pt x="4223057" y="1496309"/>
                  <a:pt x="4223141" y="1497641"/>
                </a:cubicBezTo>
                <a:cubicBezTo>
                  <a:pt x="4222925" y="1499546"/>
                  <a:pt x="4222659" y="1500653"/>
                  <a:pt x="4222428" y="1502292"/>
                </a:cubicBezTo>
                <a:cubicBezTo>
                  <a:pt x="4160784" y="1480767"/>
                  <a:pt x="4099761" y="1458363"/>
                  <a:pt x="4039973" y="1434198"/>
                </a:cubicBezTo>
                <a:cubicBezTo>
                  <a:pt x="3877889" y="1368737"/>
                  <a:pt x="3722432" y="1296301"/>
                  <a:pt x="3564773" y="1226279"/>
                </a:cubicBezTo>
                <a:cubicBezTo>
                  <a:pt x="3511752" y="1202636"/>
                  <a:pt x="3468897" y="1169442"/>
                  <a:pt x="3420650" y="1141464"/>
                </a:cubicBezTo>
                <a:cubicBezTo>
                  <a:pt x="3388486" y="1122812"/>
                  <a:pt x="3357590" y="1102932"/>
                  <a:pt x="3320669" y="1088883"/>
                </a:cubicBezTo>
                <a:cubicBezTo>
                  <a:pt x="3305491" y="1083205"/>
                  <a:pt x="3289697" y="1078406"/>
                  <a:pt x="3270102" y="1082659"/>
                </a:cubicBezTo>
                <a:cubicBezTo>
                  <a:pt x="3262467" y="1084389"/>
                  <a:pt x="3253881" y="1087040"/>
                  <a:pt x="3251648" y="1094290"/>
                </a:cubicBezTo>
                <a:cubicBezTo>
                  <a:pt x="3249750" y="1101498"/>
                  <a:pt x="3256970" y="1103846"/>
                  <a:pt x="3263506" y="1106005"/>
                </a:cubicBezTo>
                <a:cubicBezTo>
                  <a:pt x="3265227" y="1106604"/>
                  <a:pt x="3266966" y="1107467"/>
                  <a:pt x="3268636" y="1107265"/>
                </a:cubicBezTo>
                <a:cubicBezTo>
                  <a:pt x="3300482" y="1105018"/>
                  <a:pt x="3309121" y="1124372"/>
                  <a:pt x="3325089" y="1137201"/>
                </a:cubicBezTo>
                <a:cubicBezTo>
                  <a:pt x="3330055" y="1141164"/>
                  <a:pt x="3330677" y="1145651"/>
                  <a:pt x="3326003" y="1151585"/>
                </a:cubicBezTo>
                <a:cubicBezTo>
                  <a:pt x="3317592" y="1162266"/>
                  <a:pt x="3324211" y="1165760"/>
                  <a:pt x="3336410" y="1166967"/>
                </a:cubicBezTo>
                <a:cubicBezTo>
                  <a:pt x="3348608" y="1168175"/>
                  <a:pt x="3361690" y="1167395"/>
                  <a:pt x="3375112" y="1171943"/>
                </a:cubicBezTo>
                <a:cubicBezTo>
                  <a:pt x="3354718" y="1179513"/>
                  <a:pt x="3340011" y="1175927"/>
                  <a:pt x="3326222" y="1170885"/>
                </a:cubicBezTo>
                <a:cubicBezTo>
                  <a:pt x="3295216" y="1159877"/>
                  <a:pt x="3274464" y="1140648"/>
                  <a:pt x="3254679" y="1120765"/>
                </a:cubicBezTo>
                <a:cubicBezTo>
                  <a:pt x="3250733" y="1116948"/>
                  <a:pt x="3247420" y="1112518"/>
                  <a:pt x="3242188" y="1109662"/>
                </a:cubicBezTo>
                <a:cubicBezTo>
                  <a:pt x="3232391" y="1103869"/>
                  <a:pt x="3222316" y="1104284"/>
                  <a:pt x="3211499" y="1114184"/>
                </a:cubicBezTo>
                <a:cubicBezTo>
                  <a:pt x="3197173" y="1127194"/>
                  <a:pt x="3191777" y="1127042"/>
                  <a:pt x="3185849" y="1113265"/>
                </a:cubicBezTo>
                <a:cubicBezTo>
                  <a:pt x="3177929" y="1094629"/>
                  <a:pt x="3162028" y="1082865"/>
                  <a:pt x="3135843" y="1078789"/>
                </a:cubicBezTo>
                <a:cubicBezTo>
                  <a:pt x="3130396" y="1077837"/>
                  <a:pt x="3124578" y="1076395"/>
                  <a:pt x="3119118" y="1080546"/>
                </a:cubicBezTo>
                <a:cubicBezTo>
                  <a:pt x="3113359" y="1085269"/>
                  <a:pt x="3117622" y="1088780"/>
                  <a:pt x="3120198" y="1092226"/>
                </a:cubicBezTo>
                <a:cubicBezTo>
                  <a:pt x="3123912" y="1097682"/>
                  <a:pt x="3128295" y="1103057"/>
                  <a:pt x="3131691" y="1108819"/>
                </a:cubicBezTo>
                <a:cubicBezTo>
                  <a:pt x="3137665" y="1118027"/>
                  <a:pt x="3139328" y="1128295"/>
                  <a:pt x="3129914" y="1139097"/>
                </a:cubicBezTo>
                <a:cubicBezTo>
                  <a:pt x="3123003" y="1146915"/>
                  <a:pt x="3123960" y="1151361"/>
                  <a:pt x="3133955" y="1154983"/>
                </a:cubicBezTo>
                <a:cubicBezTo>
                  <a:pt x="3165979" y="1166136"/>
                  <a:pt x="3186931" y="1183194"/>
                  <a:pt x="3178170" y="1214855"/>
                </a:cubicBezTo>
                <a:cubicBezTo>
                  <a:pt x="3176770" y="1219320"/>
                  <a:pt x="3179046" y="1223338"/>
                  <a:pt x="3185378" y="1222303"/>
                </a:cubicBezTo>
                <a:cubicBezTo>
                  <a:pt x="3199361" y="1219805"/>
                  <a:pt x="3202140" y="1226447"/>
                  <a:pt x="3206608" y="1233153"/>
                </a:cubicBezTo>
                <a:cubicBezTo>
                  <a:pt x="3250090" y="1297409"/>
                  <a:pt x="3310389" y="1350771"/>
                  <a:pt x="3379140" y="1399351"/>
                </a:cubicBezTo>
                <a:cubicBezTo>
                  <a:pt x="3447189" y="1447479"/>
                  <a:pt x="3522881" y="1488775"/>
                  <a:pt x="3603118" y="1527375"/>
                </a:cubicBezTo>
                <a:cubicBezTo>
                  <a:pt x="3581296" y="1528405"/>
                  <a:pt x="3552602" y="1521951"/>
                  <a:pt x="3524809" y="1513774"/>
                </a:cubicBezTo>
                <a:cubicBezTo>
                  <a:pt x="3451354" y="1491802"/>
                  <a:pt x="3389901" y="1457369"/>
                  <a:pt x="3327498" y="1423859"/>
                </a:cubicBezTo>
                <a:cubicBezTo>
                  <a:pt x="3283917" y="1400416"/>
                  <a:pt x="3241288" y="1376052"/>
                  <a:pt x="3192949" y="1357211"/>
                </a:cubicBezTo>
                <a:cubicBezTo>
                  <a:pt x="3187434" y="1355196"/>
                  <a:pt x="3183538" y="1352177"/>
                  <a:pt x="3180259" y="1348280"/>
                </a:cubicBezTo>
                <a:cubicBezTo>
                  <a:pt x="3177348" y="1344874"/>
                  <a:pt x="3173119" y="1341896"/>
                  <a:pt x="3166204" y="1344345"/>
                </a:cubicBezTo>
                <a:cubicBezTo>
                  <a:pt x="3159306" y="1347059"/>
                  <a:pt x="3158942" y="1351935"/>
                  <a:pt x="3159212" y="1356197"/>
                </a:cubicBezTo>
                <a:cubicBezTo>
                  <a:pt x="3161232" y="1372059"/>
                  <a:pt x="3167827" y="1385754"/>
                  <a:pt x="3181004" y="1397043"/>
                </a:cubicBezTo>
                <a:cubicBezTo>
                  <a:pt x="3206688" y="1419701"/>
                  <a:pt x="3240037" y="1435794"/>
                  <a:pt x="3273385" y="1451888"/>
                </a:cubicBezTo>
                <a:cubicBezTo>
                  <a:pt x="3319573" y="1473941"/>
                  <a:pt x="3362569" y="1498797"/>
                  <a:pt x="3401776" y="1527602"/>
                </a:cubicBezTo>
                <a:cubicBezTo>
                  <a:pt x="3374012" y="1514591"/>
                  <a:pt x="3346230" y="1501313"/>
                  <a:pt x="3318130" y="1488342"/>
                </a:cubicBezTo>
                <a:cubicBezTo>
                  <a:pt x="3296969" y="1478558"/>
                  <a:pt x="3275173" y="1469387"/>
                  <a:pt x="3253694" y="1459909"/>
                </a:cubicBezTo>
                <a:cubicBezTo>
                  <a:pt x="3248495" y="1457587"/>
                  <a:pt x="3242945" y="1455038"/>
                  <a:pt x="3236182" y="1459882"/>
                </a:cubicBezTo>
                <a:cubicBezTo>
                  <a:pt x="3230053" y="1464115"/>
                  <a:pt x="3231378" y="1469055"/>
                  <a:pt x="3233020" y="1473687"/>
                </a:cubicBezTo>
                <a:cubicBezTo>
                  <a:pt x="3239235" y="1491993"/>
                  <a:pt x="3254236" y="1505477"/>
                  <a:pt x="3272474" y="1516958"/>
                </a:cubicBezTo>
                <a:cubicBezTo>
                  <a:pt x="3294559" y="1530657"/>
                  <a:pt x="3317595" y="1543436"/>
                  <a:pt x="3341300" y="1556133"/>
                </a:cubicBezTo>
                <a:cubicBezTo>
                  <a:pt x="3316637" y="1554825"/>
                  <a:pt x="3291973" y="1553517"/>
                  <a:pt x="3267359" y="1553009"/>
                </a:cubicBezTo>
                <a:cubicBezTo>
                  <a:pt x="3280352" y="1582573"/>
                  <a:pt x="3306470" y="1585584"/>
                  <a:pt x="3329832" y="1587586"/>
                </a:cubicBezTo>
                <a:cubicBezTo>
                  <a:pt x="3361297" y="1589949"/>
                  <a:pt x="3391527" y="1594072"/>
                  <a:pt x="3421490" y="1599301"/>
                </a:cubicBezTo>
                <a:cubicBezTo>
                  <a:pt x="3434412" y="1606594"/>
                  <a:pt x="3447319" y="1613621"/>
                  <a:pt x="3459923" y="1621220"/>
                </a:cubicBezTo>
                <a:cubicBezTo>
                  <a:pt x="3472880" y="1629046"/>
                  <a:pt x="3485168" y="1636952"/>
                  <a:pt x="3497490" y="1645392"/>
                </a:cubicBezTo>
                <a:cubicBezTo>
                  <a:pt x="3506301" y="1651572"/>
                  <a:pt x="3516714" y="1656484"/>
                  <a:pt x="3507803" y="1669911"/>
                </a:cubicBezTo>
                <a:cubicBezTo>
                  <a:pt x="3503816" y="1676032"/>
                  <a:pt x="3534148" y="1702959"/>
                  <a:pt x="3543290" y="1703729"/>
                </a:cubicBezTo>
                <a:cubicBezTo>
                  <a:pt x="3544644" y="1703834"/>
                  <a:pt x="3545996" y="1703940"/>
                  <a:pt x="3546999" y="1703818"/>
                </a:cubicBezTo>
                <a:cubicBezTo>
                  <a:pt x="3566312" y="1700405"/>
                  <a:pt x="3571232" y="1708935"/>
                  <a:pt x="3572295" y="1720349"/>
                </a:cubicBezTo>
                <a:cubicBezTo>
                  <a:pt x="3573341" y="1731497"/>
                  <a:pt x="3570880" y="1745753"/>
                  <a:pt x="3596922" y="1736961"/>
                </a:cubicBezTo>
                <a:cubicBezTo>
                  <a:pt x="3599895" y="1736064"/>
                  <a:pt x="3600664" y="1737582"/>
                  <a:pt x="3602119" y="1739285"/>
                </a:cubicBezTo>
                <a:cubicBezTo>
                  <a:pt x="3633888" y="1783486"/>
                  <a:pt x="3684678" y="1814377"/>
                  <a:pt x="3734798" y="1845349"/>
                </a:cubicBezTo>
                <a:cubicBezTo>
                  <a:pt x="3737590" y="1846890"/>
                  <a:pt x="3740383" y="1848430"/>
                  <a:pt x="3743174" y="1849972"/>
                </a:cubicBezTo>
                <a:cubicBezTo>
                  <a:pt x="3692460" y="1846720"/>
                  <a:pt x="3526297" y="1854765"/>
                  <a:pt x="3478101" y="1864630"/>
                </a:cubicBezTo>
                <a:cubicBezTo>
                  <a:pt x="3435216" y="1873314"/>
                  <a:pt x="3187933" y="1844748"/>
                  <a:pt x="3135293" y="1816496"/>
                </a:cubicBezTo>
                <a:cubicBezTo>
                  <a:pt x="3129987" y="1844249"/>
                  <a:pt x="3145700" y="1853084"/>
                  <a:pt x="3158510" y="1863880"/>
                </a:cubicBezTo>
                <a:cubicBezTo>
                  <a:pt x="3176652" y="1879130"/>
                  <a:pt x="3180104" y="1891061"/>
                  <a:pt x="3148907" y="1908797"/>
                </a:cubicBezTo>
                <a:cubicBezTo>
                  <a:pt x="3059526" y="1959351"/>
                  <a:pt x="3060614" y="1960561"/>
                  <a:pt x="3150229" y="2003660"/>
                </a:cubicBezTo>
                <a:cubicBezTo>
                  <a:pt x="3154391" y="2005572"/>
                  <a:pt x="3152878" y="2013539"/>
                  <a:pt x="3154219" y="2018746"/>
                </a:cubicBezTo>
                <a:cubicBezTo>
                  <a:pt x="3132340" y="2029448"/>
                  <a:pt x="3104621" y="2011868"/>
                  <a:pt x="3079313" y="2037482"/>
                </a:cubicBezTo>
                <a:cubicBezTo>
                  <a:pt x="3200844" y="2121812"/>
                  <a:pt x="3382216" y="2194063"/>
                  <a:pt x="3545961" y="2248584"/>
                </a:cubicBezTo>
                <a:cubicBezTo>
                  <a:pt x="3418859" y="2288406"/>
                  <a:pt x="3336249" y="2212515"/>
                  <a:pt x="3242382" y="2234890"/>
                </a:cubicBezTo>
                <a:cubicBezTo>
                  <a:pt x="3196963" y="2267233"/>
                  <a:pt x="3340047" y="2293389"/>
                  <a:pt x="3206852" y="2322137"/>
                </a:cubicBezTo>
                <a:cubicBezTo>
                  <a:pt x="3266485" y="2338535"/>
                  <a:pt x="3311047" y="2356223"/>
                  <a:pt x="3352854" y="2378270"/>
                </a:cubicBezTo>
                <a:cubicBezTo>
                  <a:pt x="3427094" y="2417864"/>
                  <a:pt x="3443161" y="2448130"/>
                  <a:pt x="3414532" y="2516826"/>
                </a:cubicBezTo>
                <a:cubicBezTo>
                  <a:pt x="3395525" y="2562076"/>
                  <a:pt x="3366606" y="2605038"/>
                  <a:pt x="3397577" y="2652556"/>
                </a:cubicBezTo>
                <a:cubicBezTo>
                  <a:pt x="3418842" y="2685144"/>
                  <a:pt x="3412947" y="2708944"/>
                  <a:pt x="3339773" y="2701969"/>
                </a:cubicBezTo>
                <a:cubicBezTo>
                  <a:pt x="3260852" y="2694617"/>
                  <a:pt x="3233446" y="2729610"/>
                  <a:pt x="3257041" y="2788223"/>
                </a:cubicBezTo>
                <a:cubicBezTo>
                  <a:pt x="3272229" y="2825841"/>
                  <a:pt x="3259642" y="2839714"/>
                  <a:pt x="3205892" y="2841661"/>
                </a:cubicBezTo>
                <a:cubicBezTo>
                  <a:pt x="3146428" y="2843763"/>
                  <a:pt x="3088665" y="2824990"/>
                  <a:pt x="3016267" y="2846107"/>
                </a:cubicBezTo>
                <a:cubicBezTo>
                  <a:pt x="3079284" y="2910414"/>
                  <a:pt x="3202965" y="2875032"/>
                  <a:pt x="3275450" y="2934701"/>
                </a:cubicBezTo>
                <a:cubicBezTo>
                  <a:pt x="3194271" y="2944802"/>
                  <a:pt x="3132104" y="2952064"/>
                  <a:pt x="3071009" y="2944432"/>
                </a:cubicBezTo>
                <a:cubicBezTo>
                  <a:pt x="3045559" y="2941340"/>
                  <a:pt x="3017770" y="2938533"/>
                  <a:pt x="3005039" y="2960743"/>
                </a:cubicBezTo>
                <a:cubicBezTo>
                  <a:pt x="2989910" y="2987540"/>
                  <a:pt x="3024584" y="2992735"/>
                  <a:pt x="3045255" y="2994795"/>
                </a:cubicBezTo>
                <a:cubicBezTo>
                  <a:pt x="3103524" y="3000354"/>
                  <a:pt x="3149512" y="3024578"/>
                  <a:pt x="3198769" y="3041966"/>
                </a:cubicBezTo>
                <a:cubicBezTo>
                  <a:pt x="3306591" y="3080177"/>
                  <a:pt x="3424230" y="3108608"/>
                  <a:pt x="3518098" y="3181525"/>
                </a:cubicBezTo>
                <a:cubicBezTo>
                  <a:pt x="3405474" y="3173693"/>
                  <a:pt x="3319103" y="3133957"/>
                  <a:pt x="3214876" y="3136382"/>
                </a:cubicBezTo>
                <a:cubicBezTo>
                  <a:pt x="3309623" y="3201944"/>
                  <a:pt x="3428070" y="3237794"/>
                  <a:pt x="3540876" y="3280232"/>
                </a:cubicBezTo>
                <a:cubicBezTo>
                  <a:pt x="3572951" y="3292185"/>
                  <a:pt x="3605372" y="3298995"/>
                  <a:pt x="3614558" y="3332242"/>
                </a:cubicBezTo>
                <a:cubicBezTo>
                  <a:pt x="3632460" y="3396643"/>
                  <a:pt x="3676382" y="3446619"/>
                  <a:pt x="3765439" y="3465091"/>
                </a:cubicBezTo>
                <a:cubicBezTo>
                  <a:pt x="3766125" y="3465276"/>
                  <a:pt x="3762072" y="3475699"/>
                  <a:pt x="3759506" y="3482990"/>
                </a:cubicBezTo>
                <a:cubicBezTo>
                  <a:pt x="3706514" y="3491555"/>
                  <a:pt x="3662256" y="3457457"/>
                  <a:pt x="3594905" y="3478499"/>
                </a:cubicBezTo>
                <a:cubicBezTo>
                  <a:pt x="3663098" y="3523656"/>
                  <a:pt x="3720597" y="3564741"/>
                  <a:pt x="3814430" y="3578876"/>
                </a:cubicBezTo>
                <a:cubicBezTo>
                  <a:pt x="3889563" y="3590177"/>
                  <a:pt x="3981512" y="3590582"/>
                  <a:pt x="4039126" y="3649369"/>
                </a:cubicBezTo>
                <a:cubicBezTo>
                  <a:pt x="3977790" y="3669682"/>
                  <a:pt x="3930328" y="3659325"/>
                  <a:pt x="3883152" y="3653497"/>
                </a:cubicBezTo>
                <a:cubicBezTo>
                  <a:pt x="3810528" y="3644576"/>
                  <a:pt x="3739087" y="3633097"/>
                  <a:pt x="3666446" y="3623911"/>
                </a:cubicBezTo>
                <a:cubicBezTo>
                  <a:pt x="3638957" y="3620530"/>
                  <a:pt x="3608896" y="3619071"/>
                  <a:pt x="3593589" y="3653674"/>
                </a:cubicBezTo>
                <a:cubicBezTo>
                  <a:pt x="3684581" y="3649631"/>
                  <a:pt x="3741824" y="3686720"/>
                  <a:pt x="3801238" y="3720862"/>
                </a:cubicBezTo>
                <a:cubicBezTo>
                  <a:pt x="3834791" y="3740152"/>
                  <a:pt x="3862819" y="3767894"/>
                  <a:pt x="3919545" y="3749213"/>
                </a:cubicBezTo>
                <a:cubicBezTo>
                  <a:pt x="3949563" y="3739403"/>
                  <a:pt x="3970044" y="3754371"/>
                  <a:pt x="3968059" y="3776085"/>
                </a:cubicBezTo>
                <a:cubicBezTo>
                  <a:pt x="3961477" y="3852579"/>
                  <a:pt x="4033657" y="3870411"/>
                  <a:pt x="4107750" y="3875932"/>
                </a:cubicBezTo>
                <a:cubicBezTo>
                  <a:pt x="4247829" y="3886613"/>
                  <a:pt x="4367192" y="3936847"/>
                  <a:pt x="4504087" y="3955698"/>
                </a:cubicBezTo>
                <a:cubicBezTo>
                  <a:pt x="4637239" y="3973931"/>
                  <a:pt x="5630348" y="4013091"/>
                  <a:pt x="5880284" y="3998656"/>
                </a:cubicBezTo>
                <a:cubicBezTo>
                  <a:pt x="7409751" y="3910310"/>
                  <a:pt x="8457142" y="3018967"/>
                  <a:pt x="8461494" y="3007971"/>
                </a:cubicBezTo>
                <a:cubicBezTo>
                  <a:pt x="8481448" y="2956432"/>
                  <a:pt x="8537247" y="2928466"/>
                  <a:pt x="8587378" y="2896089"/>
                </a:cubicBezTo>
                <a:cubicBezTo>
                  <a:pt x="8631032" y="2867717"/>
                  <a:pt x="8677604" y="2837649"/>
                  <a:pt x="8693826" y="2796225"/>
                </a:cubicBezTo>
                <a:cubicBezTo>
                  <a:pt x="8715249" y="2741288"/>
                  <a:pt x="8647790" y="2792407"/>
                  <a:pt x="8633488" y="2774007"/>
                </a:cubicBezTo>
                <a:cubicBezTo>
                  <a:pt x="8658507" y="2743865"/>
                  <a:pt x="8698366" y="2714075"/>
                  <a:pt x="8707444" y="2682105"/>
                </a:cubicBezTo>
                <a:cubicBezTo>
                  <a:pt x="8739824" y="2566518"/>
                  <a:pt x="8819561" y="2475526"/>
                  <a:pt x="8942552" y="2397549"/>
                </a:cubicBezTo>
                <a:cubicBezTo>
                  <a:pt x="8977822" y="2375023"/>
                  <a:pt x="8999812" y="2339612"/>
                  <a:pt x="9049260" y="2328253"/>
                </a:cubicBezTo>
                <a:cubicBezTo>
                  <a:pt x="9159134" y="2303404"/>
                  <a:pt x="9118356" y="2218151"/>
                  <a:pt x="9174304" y="2171379"/>
                </a:cubicBezTo>
                <a:cubicBezTo>
                  <a:pt x="9179581" y="2166982"/>
                  <a:pt x="9181728" y="2117398"/>
                  <a:pt x="9182228" y="2067678"/>
                </a:cubicBezTo>
                <a:lnTo>
                  <a:pt x="9182278" y="2047313"/>
                </a:lnTo>
                <a:lnTo>
                  <a:pt x="9184334" y="2047686"/>
                </a:lnTo>
                <a:cubicBezTo>
                  <a:pt x="9192950" y="2042242"/>
                  <a:pt x="9192359" y="2022485"/>
                  <a:pt x="9185124" y="1997142"/>
                </a:cubicBezTo>
                <a:lnTo>
                  <a:pt x="9181592" y="1987782"/>
                </a:lnTo>
                <a:lnTo>
                  <a:pt x="9181190" y="1974586"/>
                </a:lnTo>
                <a:cubicBezTo>
                  <a:pt x="9180902" y="1968441"/>
                  <a:pt x="9180584" y="1964399"/>
                  <a:pt x="9180252" y="1963164"/>
                </a:cubicBezTo>
                <a:cubicBezTo>
                  <a:pt x="9179760" y="1961378"/>
                  <a:pt x="9179284" y="1962333"/>
                  <a:pt x="9178804" y="1965349"/>
                </a:cubicBezTo>
                <a:lnTo>
                  <a:pt x="9177606" y="1977215"/>
                </a:lnTo>
                <a:lnTo>
                  <a:pt x="9169614" y="1956030"/>
                </a:lnTo>
                <a:cubicBezTo>
                  <a:pt x="9143144" y="1898537"/>
                  <a:pt x="9095234" y="1836160"/>
                  <a:pt x="9046406" y="1838718"/>
                </a:cubicBezTo>
                <a:cubicBezTo>
                  <a:pt x="9077129" y="1760642"/>
                  <a:pt x="9077129" y="1760642"/>
                  <a:pt x="8960873" y="1764524"/>
                </a:cubicBezTo>
                <a:cubicBezTo>
                  <a:pt x="9002330" y="1712259"/>
                  <a:pt x="9001568" y="1700272"/>
                  <a:pt x="8946755" y="1690806"/>
                </a:cubicBezTo>
                <a:cubicBezTo>
                  <a:pt x="8893980" y="1681628"/>
                  <a:pt x="8836186" y="1683529"/>
                  <a:pt x="8786897" y="1665607"/>
                </a:cubicBezTo>
                <a:cubicBezTo>
                  <a:pt x="8827191" y="1600331"/>
                  <a:pt x="8835148" y="1529576"/>
                  <a:pt x="8924505" y="1489227"/>
                </a:cubicBezTo>
                <a:cubicBezTo>
                  <a:pt x="8938584" y="1482958"/>
                  <a:pt x="8947122" y="1463671"/>
                  <a:pt x="8937122" y="1454681"/>
                </a:cubicBezTo>
                <a:cubicBezTo>
                  <a:pt x="8901654" y="1421129"/>
                  <a:pt x="8944526" y="1343460"/>
                  <a:pt x="8841119" y="1348202"/>
                </a:cubicBezTo>
                <a:cubicBezTo>
                  <a:pt x="8828354" y="1348673"/>
                  <a:pt x="8816185" y="1342631"/>
                  <a:pt x="8825548" y="1331028"/>
                </a:cubicBezTo>
                <a:cubicBezTo>
                  <a:pt x="8857711" y="1291432"/>
                  <a:pt x="8816096" y="1298887"/>
                  <a:pt x="8790413" y="1297436"/>
                </a:cubicBezTo>
                <a:cubicBezTo>
                  <a:pt x="8759333" y="1295832"/>
                  <a:pt x="8725565" y="1315490"/>
                  <a:pt x="8695944" y="1299752"/>
                </a:cubicBezTo>
                <a:cubicBezTo>
                  <a:pt x="8701338" y="1278697"/>
                  <a:pt x="8726082" y="1275968"/>
                  <a:pt x="8743050" y="1267471"/>
                </a:cubicBezTo>
                <a:cubicBezTo>
                  <a:pt x="8792636" y="1242406"/>
                  <a:pt x="8832648" y="1215014"/>
                  <a:pt x="8831902" y="1166250"/>
                </a:cubicBezTo>
                <a:cubicBezTo>
                  <a:pt x="8831416" y="1126849"/>
                  <a:pt x="8834560" y="1091573"/>
                  <a:pt x="8763628" y="1088084"/>
                </a:cubicBezTo>
                <a:cubicBezTo>
                  <a:pt x="8752484" y="1087556"/>
                  <a:pt x="8746480" y="1083182"/>
                  <a:pt x="8744052" y="1076766"/>
                </a:cubicBezTo>
                <a:cubicBezTo>
                  <a:pt x="8751664" y="1069402"/>
                  <a:pt x="8758926" y="1061811"/>
                  <a:pt x="8767977" y="1055883"/>
                </a:cubicBezTo>
                <a:cubicBezTo>
                  <a:pt x="8798386" y="1036363"/>
                  <a:pt x="8807604" y="1011893"/>
                  <a:pt x="8815418" y="986519"/>
                </a:cubicBezTo>
                <a:cubicBezTo>
                  <a:pt x="8820450" y="970342"/>
                  <a:pt x="8826500" y="954308"/>
                  <a:pt x="8839356" y="939330"/>
                </a:cubicBezTo>
                <a:cubicBezTo>
                  <a:pt x="8847184" y="930060"/>
                  <a:pt x="8857152" y="922680"/>
                  <a:pt x="8869964" y="917639"/>
                </a:cubicBezTo>
                <a:cubicBezTo>
                  <a:pt x="8881119" y="913066"/>
                  <a:pt x="8884190" y="908399"/>
                  <a:pt x="8876013" y="901606"/>
                </a:cubicBezTo>
                <a:cubicBezTo>
                  <a:pt x="8852888" y="882126"/>
                  <a:pt x="8842659" y="858937"/>
                  <a:pt x="8855230" y="828963"/>
                </a:cubicBezTo>
                <a:cubicBezTo>
                  <a:pt x="8859032" y="819911"/>
                  <a:pt x="8855550" y="812818"/>
                  <a:pt x="8844988" y="810876"/>
                </a:cubicBezTo>
                <a:cubicBezTo>
                  <a:pt x="8801020" y="802512"/>
                  <a:pt x="8788328" y="772374"/>
                  <a:pt x="8768255" y="747963"/>
                </a:cubicBezTo>
                <a:cubicBezTo>
                  <a:pt x="8739786" y="713294"/>
                  <a:pt x="8713605" y="677543"/>
                  <a:pt x="8692953" y="638707"/>
                </a:cubicBezTo>
                <a:cubicBezTo>
                  <a:pt x="8680700" y="615495"/>
                  <a:pt x="8668800" y="592509"/>
                  <a:pt x="8674423" y="564449"/>
                </a:cubicBezTo>
                <a:cubicBezTo>
                  <a:pt x="8675670" y="557588"/>
                  <a:pt x="8672308" y="552358"/>
                  <a:pt x="8667642" y="547822"/>
                </a:cubicBezTo>
                <a:cubicBezTo>
                  <a:pt x="8647856" y="527939"/>
                  <a:pt x="8648704" y="504214"/>
                  <a:pt x="8661198" y="478275"/>
                </a:cubicBezTo>
                <a:cubicBezTo>
                  <a:pt x="8668953" y="462573"/>
                  <a:pt x="8667832" y="460828"/>
                  <a:pt x="8645813" y="464032"/>
                </a:cubicBezTo>
                <a:cubicBezTo>
                  <a:pt x="8601088" y="470255"/>
                  <a:pt x="8556732" y="476969"/>
                  <a:pt x="8512338" y="477784"/>
                </a:cubicBezTo>
                <a:cubicBezTo>
                  <a:pt x="8462562" y="478712"/>
                  <a:pt x="8445778" y="468934"/>
                  <a:pt x="8481050" y="430572"/>
                </a:cubicBezTo>
                <a:cubicBezTo>
                  <a:pt x="8488612" y="422408"/>
                  <a:pt x="8495122" y="413567"/>
                  <a:pt x="8498220" y="404064"/>
                </a:cubicBezTo>
                <a:cubicBezTo>
                  <a:pt x="8500436" y="396549"/>
                  <a:pt x="8497776" y="391771"/>
                  <a:pt x="8489536" y="389280"/>
                </a:cubicBezTo>
                <a:close/>
                <a:moveTo>
                  <a:pt x="0" y="0"/>
                </a:moveTo>
                <a:lnTo>
                  <a:pt x="12192000" y="0"/>
                </a:lnTo>
                <a:lnTo>
                  <a:pt x="12192000" y="6858000"/>
                </a:lnTo>
                <a:lnTo>
                  <a:pt x="0" y="6858000"/>
                </a:lnTo>
                <a:close/>
              </a:path>
            </a:pathLst>
          </a:custGeom>
          <a:solidFill>
            <a:schemeClr val="lt2">
              <a:alpha val="50196"/>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416" name="Google Shape;416;p39"/>
          <p:cNvSpPr txBox="1"/>
          <p:nvPr>
            <p:ph type="title"/>
          </p:nvPr>
        </p:nvSpPr>
        <p:spPr>
          <a:xfrm>
            <a:off x="1141857" y="3722264"/>
            <a:ext cx="6858000" cy="864497"/>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chemeClr val="dk1"/>
              </a:buClr>
              <a:buSzPts val="2800"/>
              <a:buFont typeface="Play"/>
              <a:buNone/>
            </a:pPr>
            <a:r>
              <a:rPr b="1" lang="uk" sz="2800">
                <a:solidFill>
                  <a:schemeClr val="dk1"/>
                </a:solidFill>
                <a:latin typeface="Play"/>
                <a:ea typeface="Play"/>
                <a:cs typeface="Play"/>
                <a:sym typeface="Play"/>
              </a:rPr>
              <a:t>Приклад few-shot промпту</a:t>
            </a:r>
            <a:br>
              <a:rPr b="1" lang="uk" sz="2800">
                <a:solidFill>
                  <a:schemeClr val="dk1"/>
                </a:solidFill>
                <a:latin typeface="Play"/>
                <a:ea typeface="Play"/>
                <a:cs typeface="Play"/>
                <a:sym typeface="Play"/>
              </a:rPr>
            </a:br>
            <a:endParaRPr sz="2800">
              <a:solidFill>
                <a:schemeClr val="dk1"/>
              </a:solidFill>
              <a:latin typeface="Play"/>
              <a:ea typeface="Play"/>
              <a:cs typeface="Play"/>
              <a:sym typeface="Play"/>
            </a:endParaRPr>
          </a:p>
        </p:txBody>
      </p:sp>
      <p:sp>
        <p:nvSpPr>
          <p:cNvPr id="417" name="Google Shape;417;p39"/>
          <p:cNvSpPr txBox="1"/>
          <p:nvPr>
            <p:ph idx="1" type="body"/>
          </p:nvPr>
        </p:nvSpPr>
        <p:spPr>
          <a:xfrm>
            <a:off x="1141857" y="3063841"/>
            <a:ext cx="6858000" cy="485089"/>
          </a:xfrm>
          <a:prstGeom prst="rect">
            <a:avLst/>
          </a:prstGeom>
          <a:noFill/>
          <a:ln>
            <a:noFill/>
          </a:ln>
        </p:spPr>
        <p:txBody>
          <a:bodyPr anchorCtr="0" anchor="t" bIns="34275" lIns="68575" spcFirstLastPara="1" rIns="68575" wrap="square" tIns="34275">
            <a:normAutofit/>
          </a:bodyPr>
          <a:lstStyle/>
          <a:p>
            <a:pPr indent="0" lvl="0" marL="0" rtl="0" algn="ctr">
              <a:lnSpc>
                <a:spcPct val="90000"/>
              </a:lnSpc>
              <a:spcBef>
                <a:spcPts val="0"/>
              </a:spcBef>
              <a:spcAft>
                <a:spcPts val="0"/>
              </a:spcAft>
              <a:buClr>
                <a:schemeClr val="dk1"/>
              </a:buClr>
              <a:buSzPts val="1800"/>
              <a:buNone/>
            </a:pPr>
            <a:r>
              <a:rPr b="1" lang="uk" sz="1800">
                <a:solidFill>
                  <a:schemeClr val="dk1"/>
                </a:solidFill>
                <a:latin typeface="Arial"/>
                <a:ea typeface="Arial"/>
                <a:cs typeface="Arial"/>
                <a:sym typeface="Arial"/>
              </a:rPr>
              <a:t>Очікувана відповідь:</a:t>
            </a:r>
            <a:r>
              <a:rPr lang="uk" sz="1800">
                <a:solidFill>
                  <a:schemeClr val="dk1"/>
                </a:solidFill>
                <a:latin typeface="Arial"/>
                <a:ea typeface="Arial"/>
                <a:cs typeface="Arial"/>
                <a:sym typeface="Arial"/>
              </a:rPr>
              <a:t> sun</a:t>
            </a:r>
            <a:endParaRPr/>
          </a:p>
        </p:txBody>
      </p:sp>
      <p:pic>
        <p:nvPicPr>
          <p:cNvPr id="418" name="Google Shape;418;p39"/>
          <p:cNvPicPr preferRelativeResize="0"/>
          <p:nvPr/>
        </p:nvPicPr>
        <p:blipFill rotWithShape="1">
          <a:blip r:embed="rId3">
            <a:alphaModFix/>
          </a:blip>
          <a:srcRect b="0" l="0" r="0" t="0"/>
          <a:stretch/>
        </p:blipFill>
        <p:spPr>
          <a:xfrm>
            <a:off x="3261447" y="1347206"/>
            <a:ext cx="2413000" cy="115989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2" name="Shape 422"/>
        <p:cNvGrpSpPr/>
        <p:nvPr/>
      </p:nvGrpSpPr>
      <p:grpSpPr>
        <a:xfrm>
          <a:off x="0" y="0"/>
          <a:ext cx="0" cy="0"/>
          <a:chOff x="0" y="0"/>
          <a:chExt cx="0" cy="0"/>
        </a:xfrm>
      </p:grpSpPr>
      <p:sp>
        <p:nvSpPr>
          <p:cNvPr id="423" name="Google Shape;423;p40"/>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24" name="Google Shape;424;p40"/>
          <p:cNvSpPr/>
          <p:nvPr/>
        </p:nvSpPr>
        <p:spPr>
          <a:xfrm rot="10800000">
            <a:off x="-2468" y="2472489"/>
            <a:ext cx="9151585" cy="2671009"/>
          </a:xfrm>
          <a:custGeom>
            <a:rect b="b" l="l" r="r" t="t"/>
            <a:pathLst>
              <a:path extrusionOk="0" h="3188466" w="12202113">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4901"/>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25" name="Google Shape;425;p40"/>
          <p:cNvSpPr txBox="1"/>
          <p:nvPr>
            <p:ph type="title"/>
          </p:nvPr>
        </p:nvSpPr>
        <p:spPr>
          <a:xfrm>
            <a:off x="628650" y="2929375"/>
            <a:ext cx="3161297" cy="1799035"/>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Play"/>
              <a:buNone/>
            </a:pPr>
            <a:r>
              <a:rPr b="1" lang="uk"/>
              <a:t> Chain-of-Thought (CoT)</a:t>
            </a:r>
            <a:br>
              <a:rPr b="1" lang="uk"/>
            </a:br>
            <a:endParaRPr/>
          </a:p>
        </p:txBody>
      </p:sp>
      <p:pic>
        <p:nvPicPr>
          <p:cNvPr id="426" name="Google Shape;426;p40"/>
          <p:cNvPicPr preferRelativeResize="0"/>
          <p:nvPr/>
        </p:nvPicPr>
        <p:blipFill rotWithShape="1">
          <a:blip r:embed="rId3">
            <a:alphaModFix/>
          </a:blip>
          <a:srcRect b="0" l="0" r="0" t="0"/>
          <a:stretch/>
        </p:blipFill>
        <p:spPr>
          <a:xfrm>
            <a:off x="869216" y="696736"/>
            <a:ext cx="7406444" cy="1288667"/>
          </a:xfrm>
          <a:prstGeom prst="rect">
            <a:avLst/>
          </a:prstGeom>
          <a:noFill/>
          <a:ln>
            <a:noFill/>
          </a:ln>
        </p:spPr>
      </p:pic>
      <p:grpSp>
        <p:nvGrpSpPr>
          <p:cNvPr id="427" name="Google Shape;427;p40"/>
          <p:cNvGrpSpPr/>
          <p:nvPr/>
        </p:nvGrpSpPr>
        <p:grpSpPr>
          <a:xfrm>
            <a:off x="4223084" y="2913339"/>
            <a:ext cx="4292266" cy="1799034"/>
            <a:chOff x="0" y="0"/>
            <a:chExt cx="5723021" cy="2398712"/>
          </a:xfrm>
        </p:grpSpPr>
        <p:cxnSp>
          <p:nvCxnSpPr>
            <p:cNvPr id="428" name="Google Shape;428;p40"/>
            <p:cNvCxnSpPr/>
            <p:nvPr/>
          </p:nvCxnSpPr>
          <p:spPr>
            <a:xfrm>
              <a:off x="0" y="0"/>
              <a:ext cx="5723021" cy="0"/>
            </a:xfrm>
            <a:prstGeom prst="straightConnector1">
              <a:avLst/>
            </a:prstGeom>
            <a:solidFill>
              <a:srgbClr val="E97131"/>
            </a:solidFill>
            <a:ln cap="flat" cmpd="sng" w="19050">
              <a:solidFill>
                <a:srgbClr val="E97131"/>
              </a:solidFill>
              <a:prstDash val="solid"/>
              <a:miter lim="800000"/>
              <a:headEnd len="sm" w="sm" type="none"/>
              <a:tailEnd len="sm" w="sm" type="none"/>
            </a:ln>
          </p:spPr>
        </p:cxnSp>
        <p:sp>
          <p:nvSpPr>
            <p:cNvPr id="429" name="Google Shape;429;p40"/>
            <p:cNvSpPr/>
            <p:nvPr/>
          </p:nvSpPr>
          <p:spPr>
            <a:xfrm>
              <a:off x="0" y="0"/>
              <a:ext cx="5723021" cy="1199356"/>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0" name="Google Shape;430;p40"/>
            <p:cNvSpPr txBox="1"/>
            <p:nvPr/>
          </p:nvSpPr>
          <p:spPr>
            <a:xfrm>
              <a:off x="0" y="0"/>
              <a:ext cx="5723021" cy="1199356"/>
            </a:xfrm>
            <a:prstGeom prst="rect">
              <a:avLst/>
            </a:prstGeom>
            <a:noFill/>
            <a:ln>
              <a:noFill/>
            </a:ln>
          </p:spPr>
          <p:txBody>
            <a:bodyPr anchorCtr="0" anchor="t" bIns="68575" lIns="68575" spcFirstLastPara="1" rIns="68575" wrap="square" tIns="68575">
              <a:noAutofit/>
            </a:bodyPr>
            <a:lstStyle/>
            <a:p>
              <a:pPr indent="0" lvl="0" marL="0" marR="0" rtl="0" algn="l">
                <a:lnSpc>
                  <a:spcPct val="90000"/>
                </a:lnSpc>
                <a:spcBef>
                  <a:spcPts val="0"/>
                </a:spcBef>
                <a:spcAft>
                  <a:spcPts val="0"/>
                </a:spcAft>
                <a:buClr>
                  <a:schemeClr val="dk1"/>
                </a:buClr>
                <a:buSzPts val="1800"/>
                <a:buFont typeface="Arial"/>
                <a:buNone/>
              </a:pPr>
              <a:r>
                <a:rPr b="0" i="0" lang="uk" sz="1800" u="none" cap="none" strike="noStrike">
                  <a:solidFill>
                    <a:schemeClr val="dk1"/>
                  </a:solidFill>
                  <a:latin typeface="Arial"/>
                  <a:ea typeface="Arial"/>
                  <a:cs typeface="Arial"/>
                  <a:sym typeface="Arial"/>
                </a:rPr>
                <a:t>Промпт, що змушує модель пояснювати кроки.</a:t>
              </a:r>
              <a:endParaRPr b="0" i="0" sz="1800" u="none" cap="none" strike="noStrike">
                <a:solidFill>
                  <a:schemeClr val="dk1"/>
                </a:solidFill>
                <a:latin typeface="Arial"/>
                <a:ea typeface="Arial"/>
                <a:cs typeface="Arial"/>
                <a:sym typeface="Arial"/>
              </a:endParaRPr>
            </a:p>
          </p:txBody>
        </p:sp>
        <p:cxnSp>
          <p:nvCxnSpPr>
            <p:cNvPr id="431" name="Google Shape;431;p40"/>
            <p:cNvCxnSpPr/>
            <p:nvPr/>
          </p:nvCxnSpPr>
          <p:spPr>
            <a:xfrm>
              <a:off x="0" y="1199356"/>
              <a:ext cx="5723021" cy="0"/>
            </a:xfrm>
            <a:prstGeom prst="straightConnector1">
              <a:avLst/>
            </a:prstGeom>
            <a:solidFill>
              <a:srgbClr val="E97131"/>
            </a:solidFill>
            <a:ln cap="flat" cmpd="sng" w="19050">
              <a:solidFill>
                <a:srgbClr val="E97131"/>
              </a:solidFill>
              <a:prstDash val="solid"/>
              <a:miter lim="800000"/>
              <a:headEnd len="sm" w="sm" type="none"/>
              <a:tailEnd len="sm" w="sm" type="none"/>
            </a:ln>
          </p:spPr>
        </p:cxnSp>
        <p:sp>
          <p:nvSpPr>
            <p:cNvPr id="432" name="Google Shape;432;p40"/>
            <p:cNvSpPr/>
            <p:nvPr/>
          </p:nvSpPr>
          <p:spPr>
            <a:xfrm>
              <a:off x="0" y="1199356"/>
              <a:ext cx="5723021" cy="1199356"/>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3" name="Google Shape;433;p40"/>
            <p:cNvSpPr txBox="1"/>
            <p:nvPr/>
          </p:nvSpPr>
          <p:spPr>
            <a:xfrm>
              <a:off x="0" y="1199356"/>
              <a:ext cx="5723021" cy="1199356"/>
            </a:xfrm>
            <a:prstGeom prst="rect">
              <a:avLst/>
            </a:prstGeom>
            <a:noFill/>
            <a:ln>
              <a:noFill/>
            </a:ln>
          </p:spPr>
          <p:txBody>
            <a:bodyPr anchorCtr="0" anchor="t" bIns="68575" lIns="68575" spcFirstLastPara="1" rIns="68575" wrap="square" tIns="68575">
              <a:noAutofit/>
            </a:bodyPr>
            <a:lstStyle/>
            <a:p>
              <a:pPr indent="0" lvl="0" marL="0" marR="0" rtl="0" algn="l">
                <a:lnSpc>
                  <a:spcPct val="90000"/>
                </a:lnSpc>
                <a:spcBef>
                  <a:spcPts val="0"/>
                </a:spcBef>
                <a:spcAft>
                  <a:spcPts val="0"/>
                </a:spcAft>
                <a:buClr>
                  <a:schemeClr val="dk1"/>
                </a:buClr>
                <a:buSzPts val="1800"/>
                <a:buFont typeface="Arial"/>
                <a:buNone/>
              </a:pPr>
              <a:r>
                <a:rPr b="0" i="0" lang="uk" sz="1800" u="none" cap="none" strike="noStrike">
                  <a:solidFill>
                    <a:schemeClr val="dk1"/>
                  </a:solidFill>
                  <a:latin typeface="Arial"/>
                  <a:ea typeface="Arial"/>
                  <a:cs typeface="Arial"/>
                  <a:sym typeface="Arial"/>
                </a:rPr>
                <a:t>Покращує точність у задачах логіки та математики.</a:t>
              </a:r>
              <a:br>
                <a:rPr b="0" i="0" lang="uk"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grpSp>
      <p:sp>
        <p:nvSpPr>
          <p:cNvPr id="434" name="Google Shape;434;p40"/>
          <p:cNvSpPr txBox="1"/>
          <p:nvPr/>
        </p:nvSpPr>
        <p:spPr>
          <a:xfrm>
            <a:off x="507095" y="358209"/>
            <a:ext cx="4574511"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uk" sz="1400" u="none" cap="none" strike="noStrike">
                <a:solidFill>
                  <a:schemeClr val="dk1"/>
                </a:solidFill>
                <a:latin typeface="Arial"/>
                <a:ea typeface="Arial"/>
                <a:cs typeface="Arial"/>
                <a:sym typeface="Arial"/>
              </a:rPr>
              <a:t>Приклад:</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8" name="Shape 438"/>
        <p:cNvGrpSpPr/>
        <p:nvPr/>
      </p:nvGrpSpPr>
      <p:grpSpPr>
        <a:xfrm>
          <a:off x="0" y="0"/>
          <a:ext cx="0" cy="0"/>
          <a:chOff x="0" y="0"/>
          <a:chExt cx="0" cy="0"/>
        </a:xfrm>
      </p:grpSpPr>
      <p:sp>
        <p:nvSpPr>
          <p:cNvPr id="439" name="Google Shape;439;p41"/>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40" name="Google Shape;440;p41"/>
          <p:cNvSpPr/>
          <p:nvPr/>
        </p:nvSpPr>
        <p:spPr>
          <a:xfrm flipH="1" rot="5400000">
            <a:off x="-1057563" y="1057561"/>
            <a:ext cx="5143500" cy="3028377"/>
          </a:xfrm>
          <a:prstGeom prst="rect">
            <a:avLst/>
          </a:prstGeom>
          <a:gradFill>
            <a:gsLst>
              <a:gs pos="0">
                <a:srgbClr val="000000"/>
              </a:gs>
              <a:gs pos="8000">
                <a:srgbClr val="000000"/>
              </a:gs>
              <a:gs pos="100000">
                <a:srgbClr val="0F4861"/>
              </a:gs>
            </a:gsLst>
            <a:lin ang="3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41" name="Google Shape;441;p41"/>
          <p:cNvSpPr/>
          <p:nvPr/>
        </p:nvSpPr>
        <p:spPr>
          <a:xfrm flipH="1" rot="5400000">
            <a:off x="-1057564" y="1065164"/>
            <a:ext cx="5143499" cy="3028379"/>
          </a:xfrm>
          <a:prstGeom prst="rect">
            <a:avLst/>
          </a:prstGeom>
          <a:gradFill>
            <a:gsLst>
              <a:gs pos="0">
                <a:srgbClr val="000000">
                  <a:alpha val="0"/>
                </a:srgbClr>
              </a:gs>
              <a:gs pos="99000">
                <a:srgbClr val="156082">
                  <a:alpha val="45882"/>
                </a:srgbClr>
              </a:gs>
              <a:gs pos="100000">
                <a:srgbClr val="156082">
                  <a:alpha val="45882"/>
                </a:srgbClr>
              </a:gs>
            </a:gsLst>
            <a:lin ang="18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42" name="Google Shape;442;p41"/>
          <p:cNvSpPr/>
          <p:nvPr/>
        </p:nvSpPr>
        <p:spPr>
          <a:xfrm flipH="1" rot="5400000">
            <a:off x="575942" y="2691064"/>
            <a:ext cx="1876484" cy="3028381"/>
          </a:xfrm>
          <a:prstGeom prst="rect">
            <a:avLst/>
          </a:prstGeom>
          <a:gradFill>
            <a:gsLst>
              <a:gs pos="0">
                <a:srgbClr val="156082">
                  <a:alpha val="29019"/>
                </a:srgbClr>
              </a:gs>
              <a:gs pos="2000">
                <a:srgbClr val="156082">
                  <a:alpha val="29019"/>
                </a:srgbClr>
              </a:gs>
              <a:gs pos="100000">
                <a:srgbClr val="000000">
                  <a:alpha val="30196"/>
                </a:srgbClr>
              </a:gs>
            </a:gsLst>
            <a:lin ang="78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43" name="Google Shape;443;p41"/>
          <p:cNvSpPr/>
          <p:nvPr/>
        </p:nvSpPr>
        <p:spPr>
          <a:xfrm rot="-964587">
            <a:off x="-376303" y="727289"/>
            <a:ext cx="2925268" cy="3134218"/>
          </a:xfrm>
          <a:custGeom>
            <a:rect b="b" l="l" r="r" t="t"/>
            <a:pathLst>
              <a:path extrusionOk="0" h="4178958" w="3900357">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156082">
                  <a:alpha val="43137"/>
                </a:srgbClr>
              </a:gs>
            </a:gsLst>
            <a:lin ang="18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44" name="Google Shape;444;p41"/>
          <p:cNvSpPr/>
          <p:nvPr/>
        </p:nvSpPr>
        <p:spPr>
          <a:xfrm flipH="1" rot="5400000">
            <a:off x="-1057571" y="1057559"/>
            <a:ext cx="5143502" cy="3028376"/>
          </a:xfrm>
          <a:prstGeom prst="rect">
            <a:avLst/>
          </a:prstGeom>
          <a:gradFill>
            <a:gsLst>
              <a:gs pos="0">
                <a:srgbClr val="000000">
                  <a:alpha val="0"/>
                </a:srgbClr>
              </a:gs>
              <a:gs pos="99000">
                <a:srgbClr val="43AFE2">
                  <a:alpha val="10980"/>
                </a:srgbClr>
              </a:gs>
              <a:gs pos="100000">
                <a:srgbClr val="43AFE2">
                  <a:alpha val="10980"/>
                </a:srgbClr>
              </a:gs>
            </a:gsLst>
            <a:lin ang="72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45" name="Google Shape;445;p41"/>
          <p:cNvSpPr txBox="1"/>
          <p:nvPr>
            <p:ph type="title"/>
          </p:nvPr>
        </p:nvSpPr>
        <p:spPr>
          <a:xfrm>
            <a:off x="439858" y="1262817"/>
            <a:ext cx="2336449" cy="1797269"/>
          </a:xfrm>
          <a:prstGeom prst="rect">
            <a:avLst/>
          </a:prstGeom>
          <a:noFill/>
          <a:ln>
            <a:noFill/>
          </a:ln>
        </p:spPr>
        <p:txBody>
          <a:bodyPr anchorCtr="0" anchor="b" bIns="34275" lIns="68575" spcFirstLastPara="1" rIns="68575" wrap="square" tIns="34275">
            <a:normAutofit/>
          </a:bodyPr>
          <a:lstStyle/>
          <a:p>
            <a:pPr indent="0" lvl="0" marL="0" rtl="0" algn="r">
              <a:lnSpc>
                <a:spcPct val="90000"/>
              </a:lnSpc>
              <a:spcBef>
                <a:spcPts val="0"/>
              </a:spcBef>
              <a:spcAft>
                <a:spcPts val="0"/>
              </a:spcAft>
              <a:buClr>
                <a:srgbClr val="FFFFFF"/>
              </a:buClr>
              <a:buSzPts val="2300"/>
              <a:buFont typeface="Play"/>
              <a:buNone/>
            </a:pPr>
            <a:r>
              <a:rPr b="1" lang="uk" sz="2300">
                <a:solidFill>
                  <a:srgbClr val="FFFFFF"/>
                </a:solidFill>
              </a:rPr>
              <a:t>RLHF – навчання зі зворотним зв'язком</a:t>
            </a:r>
            <a:br>
              <a:rPr b="1" lang="uk" sz="2300">
                <a:solidFill>
                  <a:srgbClr val="FFFFFF"/>
                </a:solidFill>
              </a:rPr>
            </a:br>
            <a:endParaRPr sz="2300">
              <a:solidFill>
                <a:srgbClr val="FFFFFF"/>
              </a:solidFill>
            </a:endParaRPr>
          </a:p>
        </p:txBody>
      </p:sp>
      <p:grpSp>
        <p:nvGrpSpPr>
          <p:cNvPr id="446" name="Google Shape;446;p41"/>
          <p:cNvGrpSpPr/>
          <p:nvPr/>
        </p:nvGrpSpPr>
        <p:grpSpPr>
          <a:xfrm>
            <a:off x="3678789" y="563329"/>
            <a:ext cx="5000125" cy="4089441"/>
            <a:chOff x="0" y="665"/>
            <a:chExt cx="6666833" cy="5452588"/>
          </a:xfrm>
        </p:grpSpPr>
        <p:cxnSp>
          <p:nvCxnSpPr>
            <p:cNvPr id="447" name="Google Shape;447;p41"/>
            <p:cNvCxnSpPr/>
            <p:nvPr/>
          </p:nvCxnSpPr>
          <p:spPr>
            <a:xfrm>
              <a:off x="0" y="665"/>
              <a:ext cx="6666833" cy="0"/>
            </a:xfrm>
            <a:prstGeom prst="straightConnector1">
              <a:avLst/>
            </a:prstGeom>
            <a:gradFill>
              <a:gsLst>
                <a:gs pos="0">
                  <a:srgbClr val="AB4E9D"/>
                </a:gs>
                <a:gs pos="50000">
                  <a:srgbClr val="A62094"/>
                </a:gs>
                <a:gs pos="100000">
                  <a:srgbClr val="961886"/>
                </a:gs>
              </a:gsLst>
              <a:lin ang="5400000" scaled="0"/>
            </a:gradFill>
            <a:ln cap="flat" cmpd="sng" w="12700">
              <a:solidFill>
                <a:srgbClr val="A02891"/>
              </a:solidFill>
              <a:prstDash val="solid"/>
              <a:miter lim="800000"/>
              <a:headEnd len="sm" w="sm" type="none"/>
              <a:tailEnd len="sm" w="sm" type="none"/>
            </a:ln>
          </p:spPr>
        </p:cxnSp>
        <p:sp>
          <p:nvSpPr>
            <p:cNvPr id="448" name="Google Shape;448;p41"/>
            <p:cNvSpPr/>
            <p:nvPr/>
          </p:nvSpPr>
          <p:spPr>
            <a:xfrm>
              <a:off x="0" y="665"/>
              <a:ext cx="6666833" cy="109051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9" name="Google Shape;449;p41"/>
            <p:cNvSpPr txBox="1"/>
            <p:nvPr/>
          </p:nvSpPr>
          <p:spPr>
            <a:xfrm>
              <a:off x="0" y="665"/>
              <a:ext cx="6666833" cy="1090517"/>
            </a:xfrm>
            <a:prstGeom prst="rect">
              <a:avLst/>
            </a:prstGeom>
            <a:noFill/>
            <a:ln>
              <a:noFill/>
            </a:ln>
          </p:spPr>
          <p:txBody>
            <a:bodyPr anchorCtr="0" anchor="t" bIns="85725" lIns="85725" spcFirstLastPara="1" rIns="85725" wrap="square" tIns="85725">
              <a:noAutofit/>
            </a:bodyPr>
            <a:lstStyle/>
            <a:p>
              <a:pPr indent="0" lvl="0" marL="0" marR="0" rtl="0" algn="l">
                <a:lnSpc>
                  <a:spcPct val="90000"/>
                </a:lnSpc>
                <a:spcBef>
                  <a:spcPts val="0"/>
                </a:spcBef>
                <a:spcAft>
                  <a:spcPts val="0"/>
                </a:spcAft>
                <a:buClr>
                  <a:schemeClr val="dk1"/>
                </a:buClr>
                <a:buSzPts val="2300"/>
                <a:buFont typeface="Arial"/>
                <a:buNone/>
              </a:pPr>
              <a:r>
                <a:rPr b="1" i="0" lang="uk" sz="2100" u="none" cap="none" strike="noStrike">
                  <a:solidFill>
                    <a:schemeClr val="dk1"/>
                  </a:solidFill>
                  <a:latin typeface="Arial"/>
                  <a:ea typeface="Arial"/>
                  <a:cs typeface="Arial"/>
                  <a:sym typeface="Arial"/>
                </a:rPr>
                <a:t>Reinforcement Learning from Human Feedback</a:t>
              </a:r>
              <a:r>
                <a:rPr b="0" i="0" lang="uk" sz="2100" u="none" cap="none" strike="noStrike">
                  <a:solidFill>
                    <a:schemeClr val="dk1"/>
                  </a:solidFill>
                  <a:latin typeface="Arial"/>
                  <a:ea typeface="Arial"/>
                  <a:cs typeface="Arial"/>
                  <a:sym typeface="Arial"/>
                </a:rPr>
                <a:t>.</a:t>
              </a:r>
              <a:endParaRPr sz="900"/>
            </a:p>
          </p:txBody>
        </p:sp>
        <p:cxnSp>
          <p:nvCxnSpPr>
            <p:cNvPr id="450" name="Google Shape;450;p41"/>
            <p:cNvCxnSpPr/>
            <p:nvPr/>
          </p:nvCxnSpPr>
          <p:spPr>
            <a:xfrm>
              <a:off x="0" y="1091183"/>
              <a:ext cx="6666833" cy="0"/>
            </a:xfrm>
            <a:prstGeom prst="straightConnector1">
              <a:avLst/>
            </a:prstGeom>
            <a:gradFill>
              <a:gsLst>
                <a:gs pos="0">
                  <a:srgbClr val="624FAB"/>
                </a:gs>
                <a:gs pos="50000">
                  <a:srgbClr val="4723A5"/>
                </a:gs>
                <a:gs pos="100000">
                  <a:srgbClr val="3B1996"/>
                </a:gs>
              </a:gsLst>
              <a:lin ang="5400000" scaled="0"/>
            </a:gradFill>
            <a:ln cap="flat" cmpd="sng" w="12700">
              <a:solidFill>
                <a:srgbClr val="4A2AA0"/>
              </a:solidFill>
              <a:prstDash val="solid"/>
              <a:miter lim="800000"/>
              <a:headEnd len="sm" w="sm" type="none"/>
              <a:tailEnd len="sm" w="sm" type="none"/>
            </a:ln>
          </p:spPr>
        </p:cxnSp>
        <p:sp>
          <p:nvSpPr>
            <p:cNvPr id="451" name="Google Shape;451;p41"/>
            <p:cNvSpPr/>
            <p:nvPr/>
          </p:nvSpPr>
          <p:spPr>
            <a:xfrm>
              <a:off x="0" y="1091183"/>
              <a:ext cx="6666833" cy="109051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2" name="Google Shape;452;p41"/>
            <p:cNvSpPr txBox="1"/>
            <p:nvPr/>
          </p:nvSpPr>
          <p:spPr>
            <a:xfrm>
              <a:off x="0" y="1091183"/>
              <a:ext cx="6666833" cy="1090517"/>
            </a:xfrm>
            <a:prstGeom prst="rect">
              <a:avLst/>
            </a:prstGeom>
            <a:noFill/>
            <a:ln>
              <a:noFill/>
            </a:ln>
          </p:spPr>
          <p:txBody>
            <a:bodyPr anchorCtr="0" anchor="t" bIns="85725" lIns="85725" spcFirstLastPara="1" rIns="85725" wrap="square" tIns="85725">
              <a:noAutofit/>
            </a:bodyPr>
            <a:lstStyle/>
            <a:p>
              <a:pPr indent="0" lvl="0" marL="0" marR="0" rtl="0" algn="l">
                <a:lnSpc>
                  <a:spcPct val="90000"/>
                </a:lnSpc>
                <a:spcBef>
                  <a:spcPts val="0"/>
                </a:spcBef>
                <a:spcAft>
                  <a:spcPts val="0"/>
                </a:spcAft>
                <a:buClr>
                  <a:schemeClr val="dk1"/>
                </a:buClr>
                <a:buSzPts val="2300"/>
                <a:buFont typeface="Arial"/>
                <a:buNone/>
              </a:pPr>
              <a:r>
                <a:rPr b="0" i="0" lang="uk" sz="2100" u="none" cap="none" strike="noStrike">
                  <a:solidFill>
                    <a:schemeClr val="dk1"/>
                  </a:solidFill>
                  <a:latin typeface="Arial"/>
                  <a:ea typeface="Arial"/>
                  <a:cs typeface="Arial"/>
                  <a:sym typeface="Arial"/>
                </a:rPr>
                <a:t>Люди оцінюють відповіді моделі (ранжують).</a:t>
              </a:r>
              <a:endParaRPr b="0" i="0" sz="2100" u="none" cap="none" strike="noStrike">
                <a:solidFill>
                  <a:schemeClr val="dk1"/>
                </a:solidFill>
                <a:latin typeface="Arial"/>
                <a:ea typeface="Arial"/>
                <a:cs typeface="Arial"/>
                <a:sym typeface="Arial"/>
              </a:endParaRPr>
            </a:p>
          </p:txBody>
        </p:sp>
        <p:cxnSp>
          <p:nvCxnSpPr>
            <p:cNvPr id="453" name="Google Shape;453;p41"/>
            <p:cNvCxnSpPr/>
            <p:nvPr/>
          </p:nvCxnSpPr>
          <p:spPr>
            <a:xfrm>
              <a:off x="0" y="2181701"/>
              <a:ext cx="6666833" cy="0"/>
            </a:xfrm>
            <a:prstGeom prst="straightConnector1">
              <a:avLst/>
            </a:prstGeom>
            <a:gradFill>
              <a:gsLst>
                <a:gs pos="0">
                  <a:srgbClr val="4F7FAD"/>
                </a:gs>
                <a:gs pos="50000">
                  <a:srgbClr val="246EA7"/>
                </a:gs>
                <a:gs pos="100000">
                  <a:srgbClr val="1A6298"/>
                </a:gs>
              </a:gsLst>
              <a:lin ang="5400000" scaled="0"/>
            </a:gradFill>
            <a:ln cap="flat" cmpd="sng" w="12700">
              <a:solidFill>
                <a:srgbClr val="2B6FA2"/>
              </a:solidFill>
              <a:prstDash val="solid"/>
              <a:miter lim="800000"/>
              <a:headEnd len="sm" w="sm" type="none"/>
              <a:tailEnd len="sm" w="sm" type="none"/>
            </a:ln>
          </p:spPr>
        </p:cxnSp>
        <p:sp>
          <p:nvSpPr>
            <p:cNvPr id="454" name="Google Shape;454;p41"/>
            <p:cNvSpPr/>
            <p:nvPr/>
          </p:nvSpPr>
          <p:spPr>
            <a:xfrm>
              <a:off x="0" y="2181701"/>
              <a:ext cx="6666833" cy="109051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5" name="Google Shape;455;p41"/>
            <p:cNvSpPr txBox="1"/>
            <p:nvPr/>
          </p:nvSpPr>
          <p:spPr>
            <a:xfrm>
              <a:off x="0" y="2181701"/>
              <a:ext cx="6666833" cy="1090517"/>
            </a:xfrm>
            <a:prstGeom prst="rect">
              <a:avLst/>
            </a:prstGeom>
            <a:noFill/>
            <a:ln>
              <a:noFill/>
            </a:ln>
          </p:spPr>
          <p:txBody>
            <a:bodyPr anchorCtr="0" anchor="t" bIns="85725" lIns="85725" spcFirstLastPara="1" rIns="85725" wrap="square" tIns="85725">
              <a:noAutofit/>
            </a:bodyPr>
            <a:lstStyle/>
            <a:p>
              <a:pPr indent="0" lvl="0" marL="0" marR="0" rtl="0" algn="l">
                <a:lnSpc>
                  <a:spcPct val="90000"/>
                </a:lnSpc>
                <a:spcBef>
                  <a:spcPts val="0"/>
                </a:spcBef>
                <a:spcAft>
                  <a:spcPts val="0"/>
                </a:spcAft>
                <a:buClr>
                  <a:schemeClr val="dk1"/>
                </a:buClr>
                <a:buSzPts val="2300"/>
                <a:buFont typeface="Arial"/>
                <a:buNone/>
              </a:pPr>
              <a:r>
                <a:rPr b="0" i="0" lang="uk" sz="2100" u="none" cap="none" strike="noStrike">
                  <a:solidFill>
                    <a:schemeClr val="dk1"/>
                  </a:solidFill>
                  <a:latin typeface="Arial"/>
                  <a:ea typeface="Arial"/>
                  <a:cs typeface="Arial"/>
                  <a:sym typeface="Arial"/>
                </a:rPr>
                <a:t>На цих оцінках навчається модель винагороди (reward model).</a:t>
              </a:r>
              <a:endParaRPr sz="900"/>
            </a:p>
          </p:txBody>
        </p:sp>
        <p:cxnSp>
          <p:nvCxnSpPr>
            <p:cNvPr id="456" name="Google Shape;456;p41"/>
            <p:cNvCxnSpPr/>
            <p:nvPr/>
          </p:nvCxnSpPr>
          <p:spPr>
            <a:xfrm>
              <a:off x="0" y="3272218"/>
              <a:ext cx="6666833" cy="0"/>
            </a:xfrm>
            <a:prstGeom prst="straightConnector1">
              <a:avLst/>
            </a:prstGeom>
            <a:gradFill>
              <a:gsLst>
                <a:gs pos="0">
                  <a:srgbClr val="4FAF81"/>
                </a:gs>
                <a:gs pos="50000">
                  <a:srgbClr val="23AA70"/>
                </a:gs>
                <a:gs pos="100000">
                  <a:srgbClr val="199B64"/>
                </a:gs>
              </a:gsLst>
              <a:lin ang="5400000" scaled="0"/>
            </a:gradFill>
            <a:ln cap="flat" cmpd="sng" w="12700">
              <a:solidFill>
                <a:srgbClr val="2BA471"/>
              </a:solidFill>
              <a:prstDash val="solid"/>
              <a:miter lim="800000"/>
              <a:headEnd len="sm" w="sm" type="none"/>
              <a:tailEnd len="sm" w="sm" type="none"/>
            </a:ln>
          </p:spPr>
        </p:cxnSp>
        <p:sp>
          <p:nvSpPr>
            <p:cNvPr id="457" name="Google Shape;457;p41"/>
            <p:cNvSpPr/>
            <p:nvPr/>
          </p:nvSpPr>
          <p:spPr>
            <a:xfrm>
              <a:off x="0" y="3272218"/>
              <a:ext cx="6666833" cy="109051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8" name="Google Shape;458;p41"/>
            <p:cNvSpPr txBox="1"/>
            <p:nvPr/>
          </p:nvSpPr>
          <p:spPr>
            <a:xfrm>
              <a:off x="0" y="3272218"/>
              <a:ext cx="6666833" cy="1090517"/>
            </a:xfrm>
            <a:prstGeom prst="rect">
              <a:avLst/>
            </a:prstGeom>
            <a:noFill/>
            <a:ln>
              <a:noFill/>
            </a:ln>
          </p:spPr>
          <p:txBody>
            <a:bodyPr anchorCtr="0" anchor="t" bIns="85725" lIns="85725" spcFirstLastPara="1" rIns="85725" wrap="square" tIns="85725">
              <a:noAutofit/>
            </a:bodyPr>
            <a:lstStyle/>
            <a:p>
              <a:pPr indent="0" lvl="0" marL="0" marR="0" rtl="0" algn="l">
                <a:lnSpc>
                  <a:spcPct val="90000"/>
                </a:lnSpc>
                <a:spcBef>
                  <a:spcPts val="0"/>
                </a:spcBef>
                <a:spcAft>
                  <a:spcPts val="0"/>
                </a:spcAft>
                <a:buClr>
                  <a:schemeClr val="dk1"/>
                </a:buClr>
                <a:buSzPts val="2300"/>
                <a:buFont typeface="Arial"/>
                <a:buNone/>
              </a:pPr>
              <a:r>
                <a:rPr b="0" i="0" lang="uk" sz="2100" u="none" cap="none" strike="noStrike">
                  <a:solidFill>
                    <a:schemeClr val="dk1"/>
                  </a:solidFill>
                  <a:latin typeface="Arial"/>
                  <a:ea typeface="Arial"/>
                  <a:cs typeface="Arial"/>
                  <a:sym typeface="Arial"/>
                </a:rPr>
                <a:t>Потім модель оптимізується через PPO.</a:t>
              </a:r>
              <a:endParaRPr sz="900"/>
            </a:p>
          </p:txBody>
        </p:sp>
        <p:cxnSp>
          <p:nvCxnSpPr>
            <p:cNvPr id="459" name="Google Shape;459;p41"/>
            <p:cNvCxnSpPr/>
            <p:nvPr/>
          </p:nvCxnSpPr>
          <p:spPr>
            <a:xfrm>
              <a:off x="0" y="4362736"/>
              <a:ext cx="6666833" cy="0"/>
            </a:xfrm>
            <a:prstGeom prst="straightConnector1">
              <a:avLst/>
            </a:prstGeom>
            <a:gradFill>
              <a:gsLst>
                <a:gs pos="0">
                  <a:srgbClr val="63B150"/>
                </a:gs>
                <a:gs pos="50000">
                  <a:srgbClr val="48AC24"/>
                </a:gs>
                <a:gs pos="100000">
                  <a:srgbClr val="3D9D1A"/>
                </a:gs>
              </a:gsLst>
              <a:lin ang="5400000" scaled="0"/>
            </a:gradFill>
            <a:ln cap="flat" cmpd="sng" w="12700">
              <a:solidFill>
                <a:srgbClr val="4CA62C"/>
              </a:solidFill>
              <a:prstDash val="solid"/>
              <a:miter lim="800000"/>
              <a:headEnd len="sm" w="sm" type="none"/>
              <a:tailEnd len="sm" w="sm" type="none"/>
            </a:ln>
          </p:spPr>
        </p:cxnSp>
        <p:sp>
          <p:nvSpPr>
            <p:cNvPr id="460" name="Google Shape;460;p41"/>
            <p:cNvSpPr/>
            <p:nvPr/>
          </p:nvSpPr>
          <p:spPr>
            <a:xfrm>
              <a:off x="0" y="4362736"/>
              <a:ext cx="6666833" cy="109051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1" name="Google Shape;461;p41"/>
            <p:cNvSpPr txBox="1"/>
            <p:nvPr/>
          </p:nvSpPr>
          <p:spPr>
            <a:xfrm>
              <a:off x="0" y="4362736"/>
              <a:ext cx="6666833" cy="1090517"/>
            </a:xfrm>
            <a:prstGeom prst="rect">
              <a:avLst/>
            </a:prstGeom>
            <a:noFill/>
            <a:ln>
              <a:noFill/>
            </a:ln>
          </p:spPr>
          <p:txBody>
            <a:bodyPr anchorCtr="0" anchor="t" bIns="85725" lIns="85725" spcFirstLastPara="1" rIns="85725" wrap="square" tIns="85725">
              <a:noAutofit/>
            </a:bodyPr>
            <a:lstStyle/>
            <a:p>
              <a:pPr indent="0" lvl="0" marL="0" marR="0" rtl="0" algn="l">
                <a:lnSpc>
                  <a:spcPct val="90000"/>
                </a:lnSpc>
                <a:spcBef>
                  <a:spcPts val="0"/>
                </a:spcBef>
                <a:spcAft>
                  <a:spcPts val="0"/>
                </a:spcAft>
                <a:buClr>
                  <a:schemeClr val="dk1"/>
                </a:buClr>
                <a:buSzPts val="2300"/>
                <a:buFont typeface="Arial"/>
                <a:buNone/>
              </a:pPr>
              <a:r>
                <a:rPr b="0" i="0" lang="uk" sz="2100" u="none" cap="none" strike="noStrike">
                  <a:solidFill>
                    <a:schemeClr val="dk1"/>
                  </a:solidFill>
                  <a:latin typeface="Arial"/>
                  <a:ea typeface="Arial"/>
                  <a:cs typeface="Arial"/>
                  <a:sym typeface="Arial"/>
                </a:rPr>
                <a:t>Використовується для налаштування ChatGPT.</a:t>
              </a:r>
              <a:endParaRPr sz="900"/>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5" name="Shape 465"/>
        <p:cNvGrpSpPr/>
        <p:nvPr/>
      </p:nvGrpSpPr>
      <p:grpSpPr>
        <a:xfrm>
          <a:off x="0" y="0"/>
          <a:ext cx="0" cy="0"/>
          <a:chOff x="0" y="0"/>
          <a:chExt cx="0" cy="0"/>
        </a:xfrm>
      </p:grpSpPr>
      <p:sp>
        <p:nvSpPr>
          <p:cNvPr id="466" name="Google Shape;466;p42"/>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67" name="Google Shape;467;p42"/>
          <p:cNvSpPr txBox="1"/>
          <p:nvPr>
            <p:ph type="title"/>
          </p:nvPr>
        </p:nvSpPr>
        <p:spPr>
          <a:xfrm>
            <a:off x="322326" y="308610"/>
            <a:ext cx="8401050" cy="82981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Play"/>
              <a:buNone/>
            </a:pPr>
            <a:r>
              <a:rPr b="1" lang="uk" sz="2700"/>
              <a:t>Що таке контекстне вікно?</a:t>
            </a:r>
            <a:br>
              <a:rPr b="1" lang="uk" sz="2700"/>
            </a:br>
            <a:endParaRPr sz="2700"/>
          </a:p>
        </p:txBody>
      </p:sp>
      <p:sp>
        <p:nvSpPr>
          <p:cNvPr id="468" name="Google Shape;468;p42"/>
          <p:cNvSpPr/>
          <p:nvPr/>
        </p:nvSpPr>
        <p:spPr>
          <a:xfrm>
            <a:off x="0" y="448843"/>
            <a:ext cx="96012" cy="528066"/>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pic>
        <p:nvPicPr>
          <p:cNvPr id="469" name="Google Shape;469;p42"/>
          <p:cNvPicPr preferRelativeResize="0"/>
          <p:nvPr/>
        </p:nvPicPr>
        <p:blipFill rotWithShape="1">
          <a:blip r:embed="rId3">
            <a:alphaModFix/>
          </a:blip>
          <a:srcRect b="0" l="0" r="0" t="0"/>
          <a:stretch/>
        </p:blipFill>
        <p:spPr>
          <a:xfrm>
            <a:off x="577215" y="1289304"/>
            <a:ext cx="4517136" cy="3387852"/>
          </a:xfrm>
          <a:prstGeom prst="rect">
            <a:avLst/>
          </a:prstGeom>
          <a:noFill/>
          <a:ln>
            <a:noFill/>
          </a:ln>
          <a:effectLst>
            <a:outerShdw blurRad="292100" rotWithShape="0" algn="tl" dir="2700000" dist="139700">
              <a:srgbClr val="333333">
                <a:alpha val="65098"/>
              </a:srgbClr>
            </a:outerShdw>
          </a:effectLst>
        </p:spPr>
      </p:pic>
      <p:sp>
        <p:nvSpPr>
          <p:cNvPr id="470" name="Google Shape;470;p42"/>
          <p:cNvSpPr/>
          <p:nvPr/>
        </p:nvSpPr>
        <p:spPr>
          <a:xfrm>
            <a:off x="5657851" y="1291442"/>
            <a:ext cx="3163824" cy="3390420"/>
          </a:xfrm>
          <a:prstGeom prst="rect">
            <a:avLst/>
          </a:prstGeom>
          <a:solidFill>
            <a:schemeClr val="lt1"/>
          </a:solidFill>
          <a:ln cap="flat" cmpd="sng" w="9525">
            <a:solidFill>
              <a:srgbClr val="DEDEDE"/>
            </a:solidFill>
            <a:prstDash val="solid"/>
            <a:miter lim="800000"/>
            <a:headEnd len="sm" w="sm" type="none"/>
            <a:tailEnd len="sm" w="sm" type="none"/>
          </a:ln>
          <a:effectLst>
            <a:outerShdw blurRad="50800" rotWithShape="0" algn="tl" dir="2700000" dist="38100">
              <a:srgbClr val="D8D8D8">
                <a:alpha val="50196"/>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grpSp>
        <p:nvGrpSpPr>
          <p:cNvPr id="471" name="Google Shape;471;p42"/>
          <p:cNvGrpSpPr/>
          <p:nvPr/>
        </p:nvGrpSpPr>
        <p:grpSpPr>
          <a:xfrm>
            <a:off x="5954064" y="1515618"/>
            <a:ext cx="2591323" cy="2969513"/>
            <a:chOff x="0" y="0"/>
            <a:chExt cx="3455097" cy="3959350"/>
          </a:xfrm>
        </p:grpSpPr>
        <p:cxnSp>
          <p:nvCxnSpPr>
            <p:cNvPr id="472" name="Google Shape;472;p42"/>
            <p:cNvCxnSpPr/>
            <p:nvPr/>
          </p:nvCxnSpPr>
          <p:spPr>
            <a:xfrm>
              <a:off x="0" y="0"/>
              <a:ext cx="3455097" cy="0"/>
            </a:xfrm>
            <a:prstGeom prst="straightConnector1">
              <a:avLst/>
            </a:prstGeom>
            <a:gradFill>
              <a:gsLst>
                <a:gs pos="0">
                  <a:srgbClr val="AB4E9D"/>
                </a:gs>
                <a:gs pos="50000">
                  <a:srgbClr val="A62094"/>
                </a:gs>
                <a:gs pos="100000">
                  <a:srgbClr val="961886"/>
                </a:gs>
              </a:gsLst>
              <a:lin ang="5400000" scaled="0"/>
            </a:gradFill>
            <a:ln cap="flat" cmpd="sng" w="12700">
              <a:solidFill>
                <a:srgbClr val="A02891"/>
              </a:solidFill>
              <a:prstDash val="solid"/>
              <a:miter lim="800000"/>
              <a:headEnd len="sm" w="sm" type="none"/>
              <a:tailEnd len="sm" w="sm" type="none"/>
            </a:ln>
            <a:effectLst>
              <a:outerShdw blurRad="57150" rotWithShape="0" algn="ctr" dir="5400000" dist="19050">
                <a:srgbClr val="000000">
                  <a:alpha val="63137"/>
                </a:srgbClr>
              </a:outerShdw>
            </a:effectLst>
          </p:spPr>
        </p:cxnSp>
        <p:sp>
          <p:nvSpPr>
            <p:cNvPr id="473" name="Google Shape;473;p42"/>
            <p:cNvSpPr/>
            <p:nvPr/>
          </p:nvSpPr>
          <p:spPr>
            <a:xfrm>
              <a:off x="0" y="0"/>
              <a:ext cx="3455097" cy="98983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74" name="Google Shape;474;p42"/>
            <p:cNvSpPr txBox="1"/>
            <p:nvPr/>
          </p:nvSpPr>
          <p:spPr>
            <a:xfrm>
              <a:off x="0" y="0"/>
              <a:ext cx="3455097" cy="989837"/>
            </a:xfrm>
            <a:prstGeom prst="rect">
              <a:avLst/>
            </a:prstGeom>
            <a:noFill/>
            <a:ln>
              <a:noFill/>
            </a:ln>
          </p:spPr>
          <p:txBody>
            <a:bodyPr anchorCtr="0" anchor="t" bIns="54275" lIns="54275" spcFirstLastPara="1" rIns="54275" wrap="square" tIns="54275">
              <a:normAutofit/>
            </a:bodyPr>
            <a:lstStyle/>
            <a:p>
              <a:pPr indent="0" lvl="0" marL="0" marR="0" rtl="0" algn="l">
                <a:lnSpc>
                  <a:spcPct val="90000"/>
                </a:lnSpc>
                <a:spcBef>
                  <a:spcPts val="0"/>
                </a:spcBef>
                <a:spcAft>
                  <a:spcPts val="0"/>
                </a:spcAft>
                <a:buClr>
                  <a:schemeClr val="dk1"/>
                </a:buClr>
                <a:buSzPts val="1400"/>
                <a:buFont typeface="Arial"/>
                <a:buNone/>
              </a:pPr>
              <a:r>
                <a:rPr b="0" i="0" lang="uk" sz="1400" u="none" cap="none" strike="noStrike">
                  <a:solidFill>
                    <a:schemeClr val="dk1"/>
                  </a:solidFill>
                  <a:latin typeface="Arial"/>
                  <a:ea typeface="Arial"/>
                  <a:cs typeface="Arial"/>
                  <a:sym typeface="Arial"/>
                </a:rPr>
                <a:t>Максимальна кількість токенів, яку модель може обробити за раз.</a:t>
              </a:r>
              <a:endParaRPr b="0" i="0" sz="1400" u="none" cap="none" strike="noStrike">
                <a:solidFill>
                  <a:schemeClr val="dk1"/>
                </a:solidFill>
                <a:latin typeface="Arial"/>
                <a:ea typeface="Arial"/>
                <a:cs typeface="Arial"/>
                <a:sym typeface="Arial"/>
              </a:endParaRPr>
            </a:p>
          </p:txBody>
        </p:sp>
        <p:cxnSp>
          <p:nvCxnSpPr>
            <p:cNvPr id="475" name="Google Shape;475;p42"/>
            <p:cNvCxnSpPr/>
            <p:nvPr/>
          </p:nvCxnSpPr>
          <p:spPr>
            <a:xfrm>
              <a:off x="0" y="989837"/>
              <a:ext cx="3455097" cy="0"/>
            </a:xfrm>
            <a:prstGeom prst="straightConnector1">
              <a:avLst/>
            </a:prstGeom>
            <a:gradFill>
              <a:gsLst>
                <a:gs pos="0">
                  <a:srgbClr val="4F50AC"/>
                </a:gs>
                <a:gs pos="50000">
                  <a:srgbClr val="2326A6"/>
                </a:gs>
                <a:gs pos="100000">
                  <a:srgbClr val="191B97"/>
                </a:gs>
              </a:gsLst>
              <a:lin ang="5400000" scaled="0"/>
            </a:gradFill>
            <a:ln cap="flat" cmpd="sng" w="12700">
              <a:solidFill>
                <a:srgbClr val="2A2CA1"/>
              </a:solidFill>
              <a:prstDash val="solid"/>
              <a:miter lim="800000"/>
              <a:headEnd len="sm" w="sm" type="none"/>
              <a:tailEnd len="sm" w="sm" type="none"/>
            </a:ln>
            <a:effectLst>
              <a:outerShdw blurRad="57150" rotWithShape="0" algn="ctr" dir="5400000" dist="19050">
                <a:srgbClr val="000000">
                  <a:alpha val="63137"/>
                </a:srgbClr>
              </a:outerShdw>
            </a:effectLst>
          </p:spPr>
        </p:cxnSp>
        <p:sp>
          <p:nvSpPr>
            <p:cNvPr id="476" name="Google Shape;476;p42"/>
            <p:cNvSpPr/>
            <p:nvPr/>
          </p:nvSpPr>
          <p:spPr>
            <a:xfrm>
              <a:off x="0" y="989837"/>
              <a:ext cx="3455097" cy="98983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77" name="Google Shape;477;p42"/>
            <p:cNvSpPr txBox="1"/>
            <p:nvPr/>
          </p:nvSpPr>
          <p:spPr>
            <a:xfrm>
              <a:off x="0" y="989837"/>
              <a:ext cx="3455097" cy="989837"/>
            </a:xfrm>
            <a:prstGeom prst="rect">
              <a:avLst/>
            </a:prstGeom>
            <a:noFill/>
            <a:ln>
              <a:noFill/>
            </a:ln>
          </p:spPr>
          <p:txBody>
            <a:bodyPr anchorCtr="0" anchor="t" bIns="54275" lIns="54275" spcFirstLastPara="1" rIns="54275" wrap="square" tIns="54275">
              <a:noAutofit/>
            </a:bodyPr>
            <a:lstStyle/>
            <a:p>
              <a:pPr indent="0" lvl="0" marL="0" marR="0" rtl="0" algn="l">
                <a:lnSpc>
                  <a:spcPct val="90000"/>
                </a:lnSpc>
                <a:spcBef>
                  <a:spcPts val="0"/>
                </a:spcBef>
                <a:spcAft>
                  <a:spcPts val="0"/>
                </a:spcAft>
                <a:buClr>
                  <a:schemeClr val="dk1"/>
                </a:buClr>
                <a:buSzPts val="1400"/>
                <a:buFont typeface="Arial"/>
                <a:buNone/>
              </a:pPr>
              <a:r>
                <a:rPr b="0" i="0" lang="uk" sz="1400" u="none" cap="none" strike="noStrike">
                  <a:solidFill>
                    <a:schemeClr val="dk1"/>
                  </a:solidFill>
                  <a:latin typeface="Arial"/>
                  <a:ea typeface="Arial"/>
                  <a:cs typeface="Arial"/>
                  <a:sym typeface="Arial"/>
                </a:rPr>
                <a:t>GPT-4: 8K, 32K, 128K токенів.</a:t>
              </a:r>
              <a:endParaRPr b="0" i="0" sz="1400" u="none" cap="none" strike="noStrike">
                <a:solidFill>
                  <a:schemeClr val="dk1"/>
                </a:solidFill>
                <a:latin typeface="Arial"/>
                <a:ea typeface="Arial"/>
                <a:cs typeface="Arial"/>
                <a:sym typeface="Arial"/>
              </a:endParaRPr>
            </a:p>
          </p:txBody>
        </p:sp>
        <p:cxnSp>
          <p:nvCxnSpPr>
            <p:cNvPr id="478" name="Google Shape;478;p42"/>
            <p:cNvCxnSpPr/>
            <p:nvPr/>
          </p:nvCxnSpPr>
          <p:spPr>
            <a:xfrm>
              <a:off x="0" y="1979675"/>
              <a:ext cx="3455097" cy="0"/>
            </a:xfrm>
            <a:prstGeom prst="straightConnector1">
              <a:avLst/>
            </a:prstGeom>
            <a:gradFill>
              <a:gsLst>
                <a:gs pos="0">
                  <a:srgbClr val="4FAF9E"/>
                </a:gs>
                <a:gs pos="50000">
                  <a:srgbClr val="23AA95"/>
                </a:gs>
                <a:gs pos="100000">
                  <a:srgbClr val="199B87"/>
                </a:gs>
              </a:gsLst>
              <a:lin ang="5400000" scaled="0"/>
            </a:gradFill>
            <a:ln cap="flat" cmpd="sng" w="12700">
              <a:solidFill>
                <a:srgbClr val="2BA492"/>
              </a:solidFill>
              <a:prstDash val="solid"/>
              <a:miter lim="800000"/>
              <a:headEnd len="sm" w="sm" type="none"/>
              <a:tailEnd len="sm" w="sm" type="none"/>
            </a:ln>
            <a:effectLst>
              <a:outerShdw blurRad="57150" rotWithShape="0" algn="ctr" dir="5400000" dist="19050">
                <a:srgbClr val="000000">
                  <a:alpha val="63137"/>
                </a:srgbClr>
              </a:outerShdw>
            </a:effectLst>
          </p:spPr>
        </p:cxnSp>
        <p:sp>
          <p:nvSpPr>
            <p:cNvPr id="479" name="Google Shape;479;p42"/>
            <p:cNvSpPr/>
            <p:nvPr/>
          </p:nvSpPr>
          <p:spPr>
            <a:xfrm>
              <a:off x="0" y="1979675"/>
              <a:ext cx="3455097" cy="98983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0" name="Google Shape;480;p42"/>
            <p:cNvSpPr txBox="1"/>
            <p:nvPr/>
          </p:nvSpPr>
          <p:spPr>
            <a:xfrm>
              <a:off x="0" y="1979675"/>
              <a:ext cx="3455097" cy="989837"/>
            </a:xfrm>
            <a:prstGeom prst="rect">
              <a:avLst/>
            </a:prstGeom>
            <a:noFill/>
            <a:ln>
              <a:noFill/>
            </a:ln>
          </p:spPr>
          <p:txBody>
            <a:bodyPr anchorCtr="0" anchor="t" bIns="54275" lIns="54275" spcFirstLastPara="1" rIns="54275" wrap="square" tIns="54275">
              <a:noAutofit/>
            </a:bodyPr>
            <a:lstStyle/>
            <a:p>
              <a:pPr indent="0" lvl="0" marL="0" marR="0" rtl="0" algn="l">
                <a:lnSpc>
                  <a:spcPct val="90000"/>
                </a:lnSpc>
                <a:spcBef>
                  <a:spcPts val="0"/>
                </a:spcBef>
                <a:spcAft>
                  <a:spcPts val="0"/>
                </a:spcAft>
                <a:buClr>
                  <a:schemeClr val="dk1"/>
                </a:buClr>
                <a:buSzPts val="1400"/>
                <a:buFont typeface="Arial"/>
                <a:buNone/>
              </a:pPr>
              <a:r>
                <a:rPr b="0" i="0" lang="uk" sz="1400" u="none" cap="none" strike="noStrike">
                  <a:solidFill>
                    <a:schemeClr val="dk1"/>
                  </a:solidFill>
                  <a:latin typeface="Arial"/>
                  <a:ea typeface="Arial"/>
                  <a:cs typeface="Arial"/>
                  <a:sym typeface="Arial"/>
                </a:rPr>
                <a:t>Claude 3: 200K (~150 000 слів).</a:t>
              </a:r>
              <a:endParaRPr b="0" i="0" sz="1400" u="none" cap="none" strike="noStrike">
                <a:solidFill>
                  <a:schemeClr val="dk1"/>
                </a:solidFill>
                <a:latin typeface="Arial"/>
                <a:ea typeface="Arial"/>
                <a:cs typeface="Arial"/>
                <a:sym typeface="Arial"/>
              </a:endParaRPr>
            </a:p>
          </p:txBody>
        </p:sp>
        <p:cxnSp>
          <p:nvCxnSpPr>
            <p:cNvPr id="481" name="Google Shape;481;p42"/>
            <p:cNvCxnSpPr/>
            <p:nvPr/>
          </p:nvCxnSpPr>
          <p:spPr>
            <a:xfrm>
              <a:off x="0" y="2969513"/>
              <a:ext cx="3455097" cy="0"/>
            </a:xfrm>
            <a:prstGeom prst="straightConnector1">
              <a:avLst/>
            </a:prstGeom>
            <a:gradFill>
              <a:gsLst>
                <a:gs pos="0">
                  <a:srgbClr val="63B150"/>
                </a:gs>
                <a:gs pos="50000">
                  <a:srgbClr val="48AC24"/>
                </a:gs>
                <a:gs pos="100000">
                  <a:srgbClr val="3D9D1A"/>
                </a:gs>
              </a:gsLst>
              <a:lin ang="5400000" scaled="0"/>
            </a:gradFill>
            <a:ln cap="flat" cmpd="sng" w="12700">
              <a:solidFill>
                <a:srgbClr val="4CA62C"/>
              </a:solidFill>
              <a:prstDash val="solid"/>
              <a:miter lim="800000"/>
              <a:headEnd len="sm" w="sm" type="none"/>
              <a:tailEnd len="sm" w="sm" type="none"/>
            </a:ln>
            <a:effectLst>
              <a:outerShdw blurRad="57150" rotWithShape="0" algn="ctr" dir="5400000" dist="19050">
                <a:srgbClr val="000000">
                  <a:alpha val="63137"/>
                </a:srgbClr>
              </a:outerShdw>
            </a:effectLst>
          </p:spPr>
        </p:cxnSp>
        <p:sp>
          <p:nvSpPr>
            <p:cNvPr id="482" name="Google Shape;482;p42"/>
            <p:cNvSpPr/>
            <p:nvPr/>
          </p:nvSpPr>
          <p:spPr>
            <a:xfrm>
              <a:off x="0" y="2969513"/>
              <a:ext cx="3455097" cy="98983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3" name="Google Shape;483;p42"/>
            <p:cNvSpPr txBox="1"/>
            <p:nvPr/>
          </p:nvSpPr>
          <p:spPr>
            <a:xfrm>
              <a:off x="0" y="2969513"/>
              <a:ext cx="3455097" cy="989837"/>
            </a:xfrm>
            <a:prstGeom prst="rect">
              <a:avLst/>
            </a:prstGeom>
            <a:noFill/>
            <a:ln>
              <a:noFill/>
            </a:ln>
          </p:spPr>
          <p:txBody>
            <a:bodyPr anchorCtr="0" anchor="t" bIns="54275" lIns="54275" spcFirstLastPara="1" rIns="54275" wrap="square" tIns="54275">
              <a:noAutofit/>
            </a:bodyPr>
            <a:lstStyle/>
            <a:p>
              <a:pPr indent="0" lvl="0" marL="0" marR="0" rtl="0" algn="l">
                <a:lnSpc>
                  <a:spcPct val="90000"/>
                </a:lnSpc>
                <a:spcBef>
                  <a:spcPts val="0"/>
                </a:spcBef>
                <a:spcAft>
                  <a:spcPts val="0"/>
                </a:spcAft>
                <a:buClr>
                  <a:schemeClr val="dk1"/>
                </a:buClr>
                <a:buSzPts val="1400"/>
                <a:buFont typeface="Arial"/>
                <a:buNone/>
              </a:pPr>
              <a:r>
                <a:rPr b="0" i="0" lang="uk" sz="1400" u="none" cap="none" strike="noStrike">
                  <a:solidFill>
                    <a:schemeClr val="dk1"/>
                  </a:solidFill>
                  <a:latin typeface="Arial"/>
                  <a:ea typeface="Arial"/>
                  <a:cs typeface="Arial"/>
                  <a:sym typeface="Arial"/>
                </a:rPr>
                <a:t>Gemini 1.5: до 2M токенів.</a:t>
              </a:r>
              <a:endParaRPr b="0" i="0" sz="1400" u="none" cap="none" strike="noStrike">
                <a:solidFill>
                  <a:schemeClr val="dk1"/>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7" name="Shape 487"/>
        <p:cNvGrpSpPr/>
        <p:nvPr/>
      </p:nvGrpSpPr>
      <p:grpSpPr>
        <a:xfrm>
          <a:off x="0" y="0"/>
          <a:ext cx="0" cy="0"/>
          <a:chOff x="0" y="0"/>
          <a:chExt cx="0" cy="0"/>
        </a:xfrm>
      </p:grpSpPr>
      <p:sp>
        <p:nvSpPr>
          <p:cNvPr id="488" name="Google Shape;488;p43"/>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89" name="Google Shape;489;p43"/>
          <p:cNvSpPr txBox="1"/>
          <p:nvPr>
            <p:ph type="title"/>
          </p:nvPr>
        </p:nvSpPr>
        <p:spPr>
          <a:xfrm>
            <a:off x="852298" y="376516"/>
            <a:ext cx="3719702" cy="1232227"/>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800"/>
              <a:buFont typeface="Play"/>
              <a:buNone/>
            </a:pPr>
            <a:r>
              <a:rPr b="1" lang="uk" sz="2800"/>
              <a:t>Токенізація: як LLM бачать текст</a:t>
            </a:r>
            <a:br>
              <a:rPr b="1" lang="uk" sz="2800"/>
            </a:br>
            <a:endParaRPr sz="2800"/>
          </a:p>
        </p:txBody>
      </p:sp>
      <p:pic>
        <p:nvPicPr>
          <p:cNvPr descr="Efficient Tokenization with Byte Pair Encoding (BPE) for Neural Networks |  by Luis Valencia | Python in Plain English" id="490" name="Google Shape;490;p43"/>
          <p:cNvPicPr preferRelativeResize="0"/>
          <p:nvPr/>
        </p:nvPicPr>
        <p:blipFill rotWithShape="1">
          <a:blip r:embed="rId3">
            <a:alphaModFix/>
          </a:blip>
          <a:srcRect b="0" l="0" r="0" t="0"/>
          <a:stretch/>
        </p:blipFill>
        <p:spPr>
          <a:xfrm>
            <a:off x="4907616" y="1467588"/>
            <a:ext cx="3900767" cy="2681777"/>
          </a:xfrm>
          <a:prstGeom prst="rect">
            <a:avLst/>
          </a:prstGeom>
          <a:noFill/>
          <a:ln>
            <a:noFill/>
          </a:ln>
          <a:effectLst>
            <a:outerShdw blurRad="292100" rotWithShape="0" algn="tl" dir="2700000" dist="139700">
              <a:srgbClr val="333333">
                <a:alpha val="65098"/>
              </a:srgbClr>
            </a:outerShdw>
          </a:effectLst>
        </p:spPr>
      </p:pic>
      <p:sp>
        <p:nvSpPr>
          <p:cNvPr id="491" name="Google Shape;491;p43"/>
          <p:cNvSpPr/>
          <p:nvPr/>
        </p:nvSpPr>
        <p:spPr>
          <a:xfrm flipH="1" rot="10800000">
            <a:off x="0" y="4800599"/>
            <a:ext cx="9144000" cy="342580"/>
          </a:xfrm>
          <a:prstGeom prst="rect">
            <a:avLst/>
          </a:prstGeom>
          <a:gradFill>
            <a:gsLst>
              <a:gs pos="0">
                <a:schemeClr val="accent1"/>
              </a:gs>
              <a:gs pos="78000">
                <a:srgbClr val="000000"/>
              </a:gs>
              <a:gs pos="100000">
                <a:srgbClr val="000000"/>
              </a:gs>
            </a:gsLst>
            <a:lin ang="24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92" name="Google Shape;492;p43"/>
          <p:cNvSpPr/>
          <p:nvPr/>
        </p:nvSpPr>
        <p:spPr>
          <a:xfrm flipH="1">
            <a:off x="3028950" y="4800599"/>
            <a:ext cx="6115048" cy="342579"/>
          </a:xfrm>
          <a:prstGeom prst="rect">
            <a:avLst/>
          </a:prstGeom>
          <a:gradFill>
            <a:gsLst>
              <a:gs pos="0">
                <a:srgbClr val="000000">
                  <a:alpha val="63137"/>
                </a:srgbClr>
              </a:gs>
              <a:gs pos="100000">
                <a:srgbClr val="0F4861"/>
              </a:gs>
            </a:gsLst>
            <a:lin ang="13800001"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493" name="Google Shape;493;p43"/>
          <p:cNvGrpSpPr/>
          <p:nvPr/>
        </p:nvGrpSpPr>
        <p:grpSpPr>
          <a:xfrm>
            <a:off x="550749" y="1608749"/>
            <a:ext cx="4021246" cy="2853308"/>
            <a:chOff x="0" y="1720"/>
            <a:chExt cx="4959603" cy="3519127"/>
          </a:xfrm>
        </p:grpSpPr>
        <p:cxnSp>
          <p:nvCxnSpPr>
            <p:cNvPr id="494" name="Google Shape;494;p43"/>
            <p:cNvCxnSpPr/>
            <p:nvPr/>
          </p:nvCxnSpPr>
          <p:spPr>
            <a:xfrm>
              <a:off x="0" y="1720"/>
              <a:ext cx="4959603" cy="0"/>
            </a:xfrm>
            <a:prstGeom prst="straightConnector1">
              <a:avLst/>
            </a:prstGeom>
            <a:gradFill>
              <a:gsLst>
                <a:gs pos="0">
                  <a:srgbClr val="EC8154"/>
                </a:gs>
                <a:gs pos="50000">
                  <a:srgbClr val="F16E27"/>
                </a:gs>
                <a:gs pos="100000">
                  <a:srgbClr val="DF5D18"/>
                </a:gs>
              </a:gsLst>
              <a:lin ang="5400000" scaled="0"/>
            </a:gradFill>
            <a:ln cap="flat" cmpd="sng" w="13725">
              <a:solidFill>
                <a:srgbClr val="E97131"/>
              </a:solidFill>
              <a:prstDash val="solid"/>
              <a:miter lim="800000"/>
              <a:headEnd len="sm" w="sm" type="none"/>
              <a:tailEnd len="sm" w="sm" type="none"/>
            </a:ln>
            <a:effectLst>
              <a:outerShdw blurRad="61782" rotWithShape="0" algn="ctr" dir="5400000" dist="20594">
                <a:srgbClr val="000000">
                  <a:alpha val="63137"/>
                </a:srgbClr>
              </a:outerShdw>
            </a:effectLst>
          </p:spPr>
        </p:cxnSp>
        <p:sp>
          <p:nvSpPr>
            <p:cNvPr id="495" name="Google Shape;495;p43"/>
            <p:cNvSpPr/>
            <p:nvPr/>
          </p:nvSpPr>
          <p:spPr>
            <a:xfrm>
              <a:off x="0" y="1720"/>
              <a:ext cx="4959603" cy="1173042"/>
            </a:xfrm>
            <a:prstGeom prst="rect">
              <a:avLst/>
            </a:prstGeom>
            <a:noFill/>
            <a:ln>
              <a:noFill/>
            </a:ln>
          </p:spPr>
          <p:txBody>
            <a:bodyPr anchorCtr="0" anchor="ctr" bIns="74125" lIns="74125" spcFirstLastPara="1" rIns="74125" wrap="square" tIns="74125">
              <a:noAutofit/>
            </a:bodyPr>
            <a:lstStyle/>
            <a:p>
              <a:pPr indent="0" lvl="0" marL="0" rtl="0" algn="l">
                <a:spcBef>
                  <a:spcPts val="0"/>
                </a:spcBef>
                <a:spcAft>
                  <a:spcPts val="0"/>
                </a:spcAft>
                <a:buNone/>
              </a:pPr>
              <a:r>
                <a:t/>
              </a:r>
              <a:endParaRPr/>
            </a:p>
          </p:txBody>
        </p:sp>
        <p:sp>
          <p:nvSpPr>
            <p:cNvPr id="496" name="Google Shape;496;p43"/>
            <p:cNvSpPr txBox="1"/>
            <p:nvPr/>
          </p:nvSpPr>
          <p:spPr>
            <a:xfrm>
              <a:off x="0" y="1720"/>
              <a:ext cx="4959603" cy="1173042"/>
            </a:xfrm>
            <a:prstGeom prst="rect">
              <a:avLst/>
            </a:prstGeom>
            <a:noFill/>
            <a:ln>
              <a:noFill/>
            </a:ln>
          </p:spPr>
          <p:txBody>
            <a:bodyPr anchorCtr="0" anchor="t" bIns="86475" lIns="86475" spcFirstLastPara="1" rIns="86475" wrap="square" tIns="86475">
              <a:normAutofit/>
            </a:bodyPr>
            <a:lstStyle/>
            <a:p>
              <a:pPr indent="0" lvl="0" marL="0" marR="0" rtl="0" algn="l">
                <a:lnSpc>
                  <a:spcPct val="70000"/>
                </a:lnSpc>
                <a:spcBef>
                  <a:spcPts val="0"/>
                </a:spcBef>
                <a:spcAft>
                  <a:spcPts val="0"/>
                </a:spcAft>
                <a:buClr>
                  <a:schemeClr val="dk1"/>
                </a:buClr>
                <a:buSzPts val="2270"/>
                <a:buFont typeface="Arial"/>
                <a:buNone/>
              </a:pPr>
              <a:r>
                <a:rPr b="0" i="0" lang="uk" sz="1970" u="none" cap="none" strike="noStrike">
                  <a:solidFill>
                    <a:schemeClr val="dk1"/>
                  </a:solidFill>
                  <a:latin typeface="Arial"/>
                  <a:ea typeface="Arial"/>
                  <a:cs typeface="Arial"/>
                  <a:sym typeface="Arial"/>
                </a:rPr>
                <a:t>Текст розбивається на токени (слова, частини слів).</a:t>
              </a:r>
              <a:endParaRPr b="0" i="0" sz="1970" u="none" cap="none" strike="noStrike">
                <a:solidFill>
                  <a:schemeClr val="dk1"/>
                </a:solidFill>
                <a:latin typeface="Arial"/>
                <a:ea typeface="Arial"/>
                <a:cs typeface="Arial"/>
                <a:sym typeface="Arial"/>
              </a:endParaRPr>
            </a:p>
          </p:txBody>
        </p:sp>
        <p:cxnSp>
          <p:nvCxnSpPr>
            <p:cNvPr id="497" name="Google Shape;497;p43"/>
            <p:cNvCxnSpPr/>
            <p:nvPr/>
          </p:nvCxnSpPr>
          <p:spPr>
            <a:xfrm>
              <a:off x="0" y="1174763"/>
              <a:ext cx="4959603" cy="0"/>
            </a:xfrm>
            <a:prstGeom prst="straightConnector1">
              <a:avLst/>
            </a:prstGeom>
            <a:gradFill>
              <a:gsLst>
                <a:gs pos="0">
                  <a:srgbClr val="EC8154"/>
                </a:gs>
                <a:gs pos="50000">
                  <a:srgbClr val="F16E27"/>
                </a:gs>
                <a:gs pos="100000">
                  <a:srgbClr val="DF5D18"/>
                </a:gs>
              </a:gsLst>
              <a:lin ang="5400000" scaled="0"/>
            </a:gradFill>
            <a:ln cap="flat" cmpd="sng" w="13725">
              <a:solidFill>
                <a:srgbClr val="E97131"/>
              </a:solidFill>
              <a:prstDash val="solid"/>
              <a:miter lim="800000"/>
              <a:headEnd len="sm" w="sm" type="none"/>
              <a:tailEnd len="sm" w="sm" type="none"/>
            </a:ln>
            <a:effectLst>
              <a:outerShdw blurRad="61782" rotWithShape="0" algn="ctr" dir="5400000" dist="20594">
                <a:srgbClr val="000000">
                  <a:alpha val="63137"/>
                </a:srgbClr>
              </a:outerShdw>
            </a:effectLst>
          </p:spPr>
        </p:cxnSp>
        <p:sp>
          <p:nvSpPr>
            <p:cNvPr id="498" name="Google Shape;498;p43"/>
            <p:cNvSpPr/>
            <p:nvPr/>
          </p:nvSpPr>
          <p:spPr>
            <a:xfrm>
              <a:off x="0" y="1174763"/>
              <a:ext cx="4959603" cy="1173042"/>
            </a:xfrm>
            <a:prstGeom prst="rect">
              <a:avLst/>
            </a:prstGeom>
            <a:noFill/>
            <a:ln>
              <a:noFill/>
            </a:ln>
          </p:spPr>
          <p:txBody>
            <a:bodyPr anchorCtr="0" anchor="ctr" bIns="74125" lIns="74125" spcFirstLastPara="1" rIns="74125" wrap="square" tIns="74125">
              <a:noAutofit/>
            </a:bodyPr>
            <a:lstStyle/>
            <a:p>
              <a:pPr indent="0" lvl="0" marL="0" rtl="0" algn="l">
                <a:spcBef>
                  <a:spcPts val="0"/>
                </a:spcBef>
                <a:spcAft>
                  <a:spcPts val="0"/>
                </a:spcAft>
                <a:buNone/>
              </a:pPr>
              <a:r>
                <a:t/>
              </a:r>
              <a:endParaRPr/>
            </a:p>
          </p:txBody>
        </p:sp>
        <p:sp>
          <p:nvSpPr>
            <p:cNvPr id="499" name="Google Shape;499;p43"/>
            <p:cNvSpPr txBox="1"/>
            <p:nvPr/>
          </p:nvSpPr>
          <p:spPr>
            <a:xfrm>
              <a:off x="0" y="1174763"/>
              <a:ext cx="4959603" cy="1173042"/>
            </a:xfrm>
            <a:prstGeom prst="rect">
              <a:avLst/>
            </a:prstGeom>
            <a:noFill/>
            <a:ln>
              <a:noFill/>
            </a:ln>
          </p:spPr>
          <p:txBody>
            <a:bodyPr anchorCtr="0" anchor="t" bIns="86475" lIns="86475" spcFirstLastPara="1" rIns="86475" wrap="square" tIns="86475">
              <a:noAutofit/>
            </a:bodyPr>
            <a:lstStyle/>
            <a:p>
              <a:pPr indent="0" lvl="0" marL="0" marR="0" rtl="0" algn="l">
                <a:lnSpc>
                  <a:spcPct val="90000"/>
                </a:lnSpc>
                <a:spcBef>
                  <a:spcPts val="0"/>
                </a:spcBef>
                <a:spcAft>
                  <a:spcPts val="0"/>
                </a:spcAft>
                <a:buClr>
                  <a:schemeClr val="dk1"/>
                </a:buClr>
                <a:buSzPts val="2270"/>
                <a:buFont typeface="Arial"/>
                <a:buNone/>
              </a:pPr>
              <a:r>
                <a:rPr b="0" i="0" lang="uk" sz="1970" u="none" cap="none" strike="noStrike">
                  <a:solidFill>
                    <a:schemeClr val="dk1"/>
                  </a:solidFill>
                  <a:latin typeface="Arial"/>
                  <a:ea typeface="Arial"/>
                  <a:cs typeface="Arial"/>
                  <a:sym typeface="Arial"/>
                </a:rPr>
                <a:t>BPE (Byte-Pair Encoding) – популярний алгоритм.</a:t>
              </a:r>
              <a:endParaRPr b="0" i="0" sz="1970" u="none" cap="none" strike="noStrike">
                <a:solidFill>
                  <a:schemeClr val="dk1"/>
                </a:solidFill>
                <a:latin typeface="Arial"/>
                <a:ea typeface="Arial"/>
                <a:cs typeface="Arial"/>
                <a:sym typeface="Arial"/>
              </a:endParaRPr>
            </a:p>
          </p:txBody>
        </p:sp>
        <p:cxnSp>
          <p:nvCxnSpPr>
            <p:cNvPr id="500" name="Google Shape;500;p43"/>
            <p:cNvCxnSpPr/>
            <p:nvPr/>
          </p:nvCxnSpPr>
          <p:spPr>
            <a:xfrm>
              <a:off x="0" y="2347805"/>
              <a:ext cx="4959603" cy="0"/>
            </a:xfrm>
            <a:prstGeom prst="straightConnector1">
              <a:avLst/>
            </a:prstGeom>
            <a:gradFill>
              <a:gsLst>
                <a:gs pos="0">
                  <a:srgbClr val="EC8154"/>
                </a:gs>
                <a:gs pos="50000">
                  <a:srgbClr val="F16E27"/>
                </a:gs>
                <a:gs pos="100000">
                  <a:srgbClr val="DF5D18"/>
                </a:gs>
              </a:gsLst>
              <a:lin ang="5400000" scaled="0"/>
            </a:gradFill>
            <a:ln cap="flat" cmpd="sng" w="13725">
              <a:solidFill>
                <a:srgbClr val="E97131"/>
              </a:solidFill>
              <a:prstDash val="solid"/>
              <a:miter lim="800000"/>
              <a:headEnd len="sm" w="sm" type="none"/>
              <a:tailEnd len="sm" w="sm" type="none"/>
            </a:ln>
            <a:effectLst>
              <a:outerShdw blurRad="61782" rotWithShape="0" algn="ctr" dir="5400000" dist="20594">
                <a:srgbClr val="000000">
                  <a:alpha val="63137"/>
                </a:srgbClr>
              </a:outerShdw>
            </a:effectLst>
          </p:spPr>
        </p:cxnSp>
        <p:sp>
          <p:nvSpPr>
            <p:cNvPr id="501" name="Google Shape;501;p43"/>
            <p:cNvSpPr/>
            <p:nvPr/>
          </p:nvSpPr>
          <p:spPr>
            <a:xfrm>
              <a:off x="0" y="2347805"/>
              <a:ext cx="4959603" cy="1173042"/>
            </a:xfrm>
            <a:prstGeom prst="rect">
              <a:avLst/>
            </a:prstGeom>
            <a:noFill/>
            <a:ln>
              <a:noFill/>
            </a:ln>
          </p:spPr>
          <p:txBody>
            <a:bodyPr anchorCtr="0" anchor="ctr" bIns="74125" lIns="74125" spcFirstLastPara="1" rIns="74125" wrap="square" tIns="74125">
              <a:noAutofit/>
            </a:bodyPr>
            <a:lstStyle/>
            <a:p>
              <a:pPr indent="0" lvl="0" marL="0" rtl="0" algn="l">
                <a:spcBef>
                  <a:spcPts val="0"/>
                </a:spcBef>
                <a:spcAft>
                  <a:spcPts val="0"/>
                </a:spcAft>
                <a:buNone/>
              </a:pPr>
              <a:r>
                <a:t/>
              </a:r>
              <a:endParaRPr/>
            </a:p>
          </p:txBody>
        </p:sp>
        <p:sp>
          <p:nvSpPr>
            <p:cNvPr id="502" name="Google Shape;502;p43"/>
            <p:cNvSpPr txBox="1"/>
            <p:nvPr/>
          </p:nvSpPr>
          <p:spPr>
            <a:xfrm>
              <a:off x="0" y="2347805"/>
              <a:ext cx="4959603" cy="1173042"/>
            </a:xfrm>
            <a:prstGeom prst="rect">
              <a:avLst/>
            </a:prstGeom>
            <a:noFill/>
            <a:ln>
              <a:noFill/>
            </a:ln>
          </p:spPr>
          <p:txBody>
            <a:bodyPr anchorCtr="0" anchor="t" bIns="86475" lIns="86475" spcFirstLastPara="1" rIns="86475" wrap="square" tIns="86475">
              <a:noAutofit/>
            </a:bodyPr>
            <a:lstStyle/>
            <a:p>
              <a:pPr indent="0" lvl="0" marL="0" marR="0" rtl="0" algn="l">
                <a:lnSpc>
                  <a:spcPct val="90000"/>
                </a:lnSpc>
                <a:spcBef>
                  <a:spcPts val="0"/>
                </a:spcBef>
                <a:spcAft>
                  <a:spcPts val="0"/>
                </a:spcAft>
                <a:buClr>
                  <a:schemeClr val="dk1"/>
                </a:buClr>
                <a:buSzPts val="2270"/>
                <a:buFont typeface="Arial"/>
                <a:buNone/>
              </a:pPr>
              <a:r>
                <a:rPr b="0" i="0" lang="uk" sz="1970" u="none" cap="none" strike="noStrike">
                  <a:solidFill>
                    <a:schemeClr val="dk1"/>
                  </a:solidFill>
                  <a:latin typeface="Arial"/>
                  <a:ea typeface="Arial"/>
                  <a:cs typeface="Arial"/>
                  <a:sym typeface="Arial"/>
                </a:rPr>
                <a:t>Словник GPT-4: ~100K токенів.</a:t>
              </a:r>
              <a:endParaRPr b="0" i="0" sz="1970" u="none" cap="none" strike="noStrike">
                <a:solidFill>
                  <a:schemeClr val="dk1"/>
                </a:solidFill>
                <a:latin typeface="Arial"/>
                <a:ea typeface="Arial"/>
                <a:cs typeface="Arial"/>
                <a:sym typeface="Aria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6" name="Shape 506"/>
        <p:cNvGrpSpPr/>
        <p:nvPr/>
      </p:nvGrpSpPr>
      <p:grpSpPr>
        <a:xfrm>
          <a:off x="0" y="0"/>
          <a:ext cx="0" cy="0"/>
          <a:chOff x="0" y="0"/>
          <a:chExt cx="0" cy="0"/>
        </a:xfrm>
      </p:grpSpPr>
      <p:sp>
        <p:nvSpPr>
          <p:cNvPr id="507" name="Google Shape;507;p44"/>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08" name="Google Shape;508;p44"/>
          <p:cNvSpPr txBox="1"/>
          <p:nvPr>
            <p:ph type="title"/>
          </p:nvPr>
        </p:nvSpPr>
        <p:spPr>
          <a:xfrm>
            <a:off x="5054346" y="478567"/>
            <a:ext cx="3614166" cy="1107601"/>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300"/>
              <a:buFont typeface="Play"/>
              <a:buNone/>
            </a:pPr>
            <a:r>
              <a:rPr b="1" lang="uk" sz="2300"/>
              <a:t>Ембендінги – числове представлення</a:t>
            </a:r>
            <a:br>
              <a:rPr b="1" lang="uk" sz="2300"/>
            </a:br>
            <a:endParaRPr sz="2300"/>
          </a:p>
        </p:txBody>
      </p:sp>
      <p:pic>
        <p:nvPicPr>
          <p:cNvPr descr="Embeddings represent one of the most powerful ideas in the world of machine  learning. They have enabled the Large language models (LLMs) to become so  potent! So, let's understand what embeddings are" id="509" name="Google Shape;509;p44"/>
          <p:cNvPicPr preferRelativeResize="0"/>
          <p:nvPr/>
        </p:nvPicPr>
        <p:blipFill rotWithShape="1">
          <a:blip r:embed="rId3">
            <a:alphaModFix/>
          </a:blip>
          <a:srcRect b="0" l="0" r="0" t="0"/>
          <a:stretch/>
        </p:blipFill>
        <p:spPr>
          <a:xfrm>
            <a:off x="473202" y="744702"/>
            <a:ext cx="4094226" cy="3654096"/>
          </a:xfrm>
          <a:prstGeom prst="rect">
            <a:avLst/>
          </a:prstGeom>
          <a:noFill/>
          <a:ln>
            <a:noFill/>
          </a:ln>
        </p:spPr>
      </p:pic>
      <p:sp>
        <p:nvSpPr>
          <p:cNvPr id="510" name="Google Shape;510;p44"/>
          <p:cNvSpPr/>
          <p:nvPr/>
        </p:nvSpPr>
        <p:spPr>
          <a:xfrm>
            <a:off x="5054346" y="1779651"/>
            <a:ext cx="2441321" cy="13716"/>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511" name="Google Shape;511;p44"/>
          <p:cNvGrpSpPr/>
          <p:nvPr/>
        </p:nvGrpSpPr>
        <p:grpSpPr>
          <a:xfrm>
            <a:off x="5054346" y="1999964"/>
            <a:ext cx="3614166" cy="2660491"/>
            <a:chOff x="0" y="1733"/>
            <a:chExt cx="4818888" cy="3547321"/>
          </a:xfrm>
        </p:grpSpPr>
        <p:cxnSp>
          <p:nvCxnSpPr>
            <p:cNvPr id="512" name="Google Shape;512;p44"/>
            <p:cNvCxnSpPr/>
            <p:nvPr/>
          </p:nvCxnSpPr>
          <p:spPr>
            <a:xfrm>
              <a:off x="0" y="1733"/>
              <a:ext cx="4818888" cy="0"/>
            </a:xfrm>
            <a:prstGeom prst="straightConnector1">
              <a:avLst/>
            </a:prstGeom>
            <a:solidFill>
              <a:srgbClr val="A02891"/>
            </a:solidFill>
            <a:ln cap="flat" cmpd="sng" w="19050">
              <a:solidFill>
                <a:srgbClr val="A02891"/>
              </a:solidFill>
              <a:prstDash val="solid"/>
              <a:miter lim="800000"/>
              <a:headEnd len="sm" w="sm" type="none"/>
              <a:tailEnd len="sm" w="sm" type="none"/>
            </a:ln>
          </p:spPr>
        </p:cxnSp>
        <p:sp>
          <p:nvSpPr>
            <p:cNvPr id="513" name="Google Shape;513;p44"/>
            <p:cNvSpPr/>
            <p:nvPr/>
          </p:nvSpPr>
          <p:spPr>
            <a:xfrm>
              <a:off x="0" y="1733"/>
              <a:ext cx="4818888" cy="118244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4" name="Google Shape;514;p44"/>
            <p:cNvSpPr txBox="1"/>
            <p:nvPr/>
          </p:nvSpPr>
          <p:spPr>
            <a:xfrm>
              <a:off x="0" y="1733"/>
              <a:ext cx="4818888" cy="1182440"/>
            </a:xfrm>
            <a:prstGeom prst="rect">
              <a:avLst/>
            </a:prstGeom>
            <a:noFill/>
            <a:ln>
              <a:noFill/>
            </a:ln>
          </p:spPr>
          <p:txBody>
            <a:bodyPr anchorCtr="0" anchor="t" bIns="65725" lIns="65725" spcFirstLastPara="1" rIns="65725" wrap="square" tIns="65725">
              <a:noAutofit/>
            </a:bodyPr>
            <a:lstStyle/>
            <a:p>
              <a:pPr indent="0" lvl="0" marL="0" marR="0" rtl="0" algn="l">
                <a:lnSpc>
                  <a:spcPct val="90000"/>
                </a:lnSpc>
                <a:spcBef>
                  <a:spcPts val="0"/>
                </a:spcBef>
                <a:spcAft>
                  <a:spcPts val="0"/>
                </a:spcAft>
                <a:buClr>
                  <a:schemeClr val="dk1"/>
                </a:buClr>
                <a:buSzPts val="1700"/>
                <a:buFont typeface="Arial"/>
                <a:buNone/>
              </a:pPr>
              <a:r>
                <a:rPr b="0" i="0" lang="uk" sz="1500" u="none" cap="none" strike="noStrike">
                  <a:solidFill>
                    <a:schemeClr val="dk1"/>
                  </a:solidFill>
                  <a:latin typeface="Arial"/>
                  <a:ea typeface="Arial"/>
                  <a:cs typeface="Arial"/>
                  <a:sym typeface="Arial"/>
                </a:rPr>
                <a:t>Кожен токен перетворюється на вектор (embeddings).</a:t>
              </a:r>
              <a:endParaRPr b="0" i="0" sz="1500" u="none" cap="none" strike="noStrike">
                <a:solidFill>
                  <a:schemeClr val="dk1"/>
                </a:solidFill>
                <a:latin typeface="Arial"/>
                <a:ea typeface="Arial"/>
                <a:cs typeface="Arial"/>
                <a:sym typeface="Arial"/>
              </a:endParaRPr>
            </a:p>
          </p:txBody>
        </p:sp>
        <p:cxnSp>
          <p:nvCxnSpPr>
            <p:cNvPr id="515" name="Google Shape;515;p44"/>
            <p:cNvCxnSpPr/>
            <p:nvPr/>
          </p:nvCxnSpPr>
          <p:spPr>
            <a:xfrm>
              <a:off x="0" y="1184174"/>
              <a:ext cx="4818888" cy="0"/>
            </a:xfrm>
            <a:prstGeom prst="straightConnector1">
              <a:avLst/>
            </a:prstGeom>
            <a:solidFill>
              <a:srgbClr val="A02891"/>
            </a:solidFill>
            <a:ln cap="flat" cmpd="sng" w="19050">
              <a:solidFill>
                <a:srgbClr val="A02891"/>
              </a:solidFill>
              <a:prstDash val="solid"/>
              <a:miter lim="800000"/>
              <a:headEnd len="sm" w="sm" type="none"/>
              <a:tailEnd len="sm" w="sm" type="none"/>
            </a:ln>
          </p:spPr>
        </p:cxnSp>
        <p:sp>
          <p:nvSpPr>
            <p:cNvPr id="516" name="Google Shape;516;p44"/>
            <p:cNvSpPr/>
            <p:nvPr/>
          </p:nvSpPr>
          <p:spPr>
            <a:xfrm>
              <a:off x="0" y="1184174"/>
              <a:ext cx="4818888" cy="118244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7" name="Google Shape;517;p44"/>
            <p:cNvSpPr txBox="1"/>
            <p:nvPr/>
          </p:nvSpPr>
          <p:spPr>
            <a:xfrm>
              <a:off x="0" y="1184174"/>
              <a:ext cx="4818888" cy="1182440"/>
            </a:xfrm>
            <a:prstGeom prst="rect">
              <a:avLst/>
            </a:prstGeom>
            <a:noFill/>
            <a:ln>
              <a:noFill/>
            </a:ln>
          </p:spPr>
          <p:txBody>
            <a:bodyPr anchorCtr="0" anchor="t" bIns="65725" lIns="65725" spcFirstLastPara="1" rIns="65725" wrap="square" tIns="65725">
              <a:noAutofit/>
            </a:bodyPr>
            <a:lstStyle/>
            <a:p>
              <a:pPr indent="0" lvl="0" marL="0" marR="0" rtl="0" algn="l">
                <a:lnSpc>
                  <a:spcPct val="90000"/>
                </a:lnSpc>
                <a:spcBef>
                  <a:spcPts val="0"/>
                </a:spcBef>
                <a:spcAft>
                  <a:spcPts val="0"/>
                </a:spcAft>
                <a:buClr>
                  <a:schemeClr val="dk1"/>
                </a:buClr>
                <a:buSzPts val="1700"/>
                <a:buFont typeface="Arial"/>
                <a:buNone/>
              </a:pPr>
              <a:r>
                <a:rPr b="0" i="0" lang="uk" sz="1500" u="none" cap="none" strike="noStrike">
                  <a:solidFill>
                    <a:schemeClr val="dk1"/>
                  </a:solidFill>
                  <a:latin typeface="Arial"/>
                  <a:ea typeface="Arial"/>
                  <a:cs typeface="Arial"/>
                  <a:sym typeface="Arial"/>
                </a:rPr>
                <a:t>Схожі слова мають близькі вектори (король – чоловік + жінка = королева).</a:t>
              </a:r>
              <a:endParaRPr b="0" i="0" sz="1500" u="none" cap="none" strike="noStrike">
                <a:solidFill>
                  <a:schemeClr val="dk1"/>
                </a:solidFill>
                <a:latin typeface="Arial"/>
                <a:ea typeface="Arial"/>
                <a:cs typeface="Arial"/>
                <a:sym typeface="Arial"/>
              </a:endParaRPr>
            </a:p>
          </p:txBody>
        </p:sp>
        <p:cxnSp>
          <p:nvCxnSpPr>
            <p:cNvPr id="518" name="Google Shape;518;p44"/>
            <p:cNvCxnSpPr/>
            <p:nvPr/>
          </p:nvCxnSpPr>
          <p:spPr>
            <a:xfrm>
              <a:off x="0" y="2366614"/>
              <a:ext cx="4818888" cy="0"/>
            </a:xfrm>
            <a:prstGeom prst="straightConnector1">
              <a:avLst/>
            </a:prstGeom>
            <a:solidFill>
              <a:srgbClr val="A02891"/>
            </a:solidFill>
            <a:ln cap="flat" cmpd="sng" w="19050">
              <a:solidFill>
                <a:srgbClr val="A02891"/>
              </a:solidFill>
              <a:prstDash val="solid"/>
              <a:miter lim="800000"/>
              <a:headEnd len="sm" w="sm" type="none"/>
              <a:tailEnd len="sm" w="sm" type="none"/>
            </a:ln>
          </p:spPr>
        </p:cxnSp>
        <p:sp>
          <p:nvSpPr>
            <p:cNvPr id="519" name="Google Shape;519;p44"/>
            <p:cNvSpPr/>
            <p:nvPr/>
          </p:nvSpPr>
          <p:spPr>
            <a:xfrm>
              <a:off x="0" y="2366614"/>
              <a:ext cx="4818888" cy="118244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0" name="Google Shape;520;p44"/>
            <p:cNvSpPr txBox="1"/>
            <p:nvPr/>
          </p:nvSpPr>
          <p:spPr>
            <a:xfrm>
              <a:off x="0" y="2366614"/>
              <a:ext cx="4818888" cy="1182440"/>
            </a:xfrm>
            <a:prstGeom prst="rect">
              <a:avLst/>
            </a:prstGeom>
            <a:noFill/>
            <a:ln>
              <a:noFill/>
            </a:ln>
          </p:spPr>
          <p:txBody>
            <a:bodyPr anchorCtr="0" anchor="t" bIns="65725" lIns="65725" spcFirstLastPara="1" rIns="65725" wrap="square" tIns="65725">
              <a:noAutofit/>
            </a:bodyPr>
            <a:lstStyle/>
            <a:p>
              <a:pPr indent="0" lvl="0" marL="0" marR="0" rtl="0" algn="l">
                <a:lnSpc>
                  <a:spcPct val="90000"/>
                </a:lnSpc>
                <a:spcBef>
                  <a:spcPts val="0"/>
                </a:spcBef>
                <a:spcAft>
                  <a:spcPts val="0"/>
                </a:spcAft>
                <a:buClr>
                  <a:schemeClr val="dk1"/>
                </a:buClr>
                <a:buSzPts val="1700"/>
                <a:buFont typeface="Arial"/>
                <a:buNone/>
              </a:pPr>
              <a:r>
                <a:rPr b="0" i="0" lang="uk" sz="1500" u="none" cap="none" strike="noStrike">
                  <a:solidFill>
                    <a:schemeClr val="dk1"/>
                  </a:solidFill>
                  <a:latin typeface="Arial"/>
                  <a:ea typeface="Arial"/>
                  <a:cs typeface="Arial"/>
                  <a:sym typeface="Arial"/>
                </a:rPr>
                <a:t>Використовуються для пошуку, класифікації, кластеризації.</a:t>
              </a:r>
              <a:endParaRPr b="0" i="0" sz="1500" u="none" cap="none" strike="noStrike">
                <a:solidFill>
                  <a:schemeClr val="dk1"/>
                </a:solidFill>
                <a:latin typeface="Arial"/>
                <a:ea typeface="Arial"/>
                <a:cs typeface="Arial"/>
                <a:sym typeface="Aria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4" name="Shape 524"/>
        <p:cNvGrpSpPr/>
        <p:nvPr/>
      </p:nvGrpSpPr>
      <p:grpSpPr>
        <a:xfrm>
          <a:off x="0" y="0"/>
          <a:ext cx="0" cy="0"/>
          <a:chOff x="0" y="0"/>
          <a:chExt cx="0" cy="0"/>
        </a:xfrm>
      </p:grpSpPr>
      <p:sp>
        <p:nvSpPr>
          <p:cNvPr id="525" name="Google Shape;525;p45"/>
          <p:cNvSpPr/>
          <p:nvPr/>
        </p:nvSpPr>
        <p:spPr>
          <a:xfrm>
            <a:off x="0" y="0"/>
            <a:ext cx="9143999" cy="5143024"/>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26" name="Google Shape;526;p45"/>
          <p:cNvSpPr txBox="1"/>
          <p:nvPr>
            <p:ph type="title"/>
          </p:nvPr>
        </p:nvSpPr>
        <p:spPr>
          <a:xfrm>
            <a:off x="596646" y="290198"/>
            <a:ext cx="7606349" cy="975416"/>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300"/>
              <a:buFont typeface="Play"/>
              <a:buNone/>
            </a:pPr>
            <a:r>
              <a:rPr b="1" lang="uk" sz="2300"/>
              <a:t>LLM та пошук: RAG (Retrieval-Augmented Generation)</a:t>
            </a:r>
            <a:br>
              <a:rPr b="1" lang="uk" sz="2300"/>
            </a:br>
            <a:endParaRPr sz="2300"/>
          </a:p>
        </p:txBody>
      </p:sp>
      <p:sp>
        <p:nvSpPr>
          <p:cNvPr id="527" name="Google Shape;527;p45"/>
          <p:cNvSpPr/>
          <p:nvPr/>
        </p:nvSpPr>
        <p:spPr>
          <a:xfrm rot="10800000">
            <a:off x="-1" y="1499134"/>
            <a:ext cx="8590946" cy="586274"/>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28" name="Google Shape;528;p45"/>
          <p:cNvSpPr/>
          <p:nvPr/>
        </p:nvSpPr>
        <p:spPr>
          <a:xfrm>
            <a:off x="0" y="1652309"/>
            <a:ext cx="8537522" cy="3200993"/>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29" name="Google Shape;529;p45"/>
          <p:cNvSpPr/>
          <p:nvPr/>
        </p:nvSpPr>
        <p:spPr>
          <a:xfrm rot="5400000">
            <a:off x="8421030" y="1734770"/>
            <a:ext cx="586275" cy="114287"/>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530" name="Google Shape;530;p45"/>
          <p:cNvGrpSpPr/>
          <p:nvPr/>
        </p:nvGrpSpPr>
        <p:grpSpPr>
          <a:xfrm>
            <a:off x="4955547" y="1922917"/>
            <a:ext cx="3398174" cy="2726921"/>
            <a:chOff x="0" y="1777"/>
            <a:chExt cx="4530898" cy="3635895"/>
          </a:xfrm>
        </p:grpSpPr>
        <p:cxnSp>
          <p:nvCxnSpPr>
            <p:cNvPr id="531" name="Google Shape;531;p45"/>
            <p:cNvCxnSpPr/>
            <p:nvPr/>
          </p:nvCxnSpPr>
          <p:spPr>
            <a:xfrm>
              <a:off x="0" y="1777"/>
              <a:ext cx="4530898" cy="0"/>
            </a:xfrm>
            <a:prstGeom prst="straightConnector1">
              <a:avLst/>
            </a:prstGeom>
            <a:gradFill>
              <a:gsLst>
                <a:gs pos="0">
                  <a:srgbClr val="EC8154"/>
                </a:gs>
                <a:gs pos="50000">
                  <a:srgbClr val="F16E27"/>
                </a:gs>
                <a:gs pos="100000">
                  <a:srgbClr val="DF5D18"/>
                </a:gs>
              </a:gsLst>
              <a:lin ang="5400000" scaled="0"/>
            </a:gradFill>
            <a:ln cap="flat" cmpd="sng" w="12700">
              <a:solidFill>
                <a:srgbClr val="E97131"/>
              </a:solidFill>
              <a:prstDash val="solid"/>
              <a:miter lim="800000"/>
              <a:headEnd len="sm" w="sm" type="none"/>
              <a:tailEnd len="sm" w="sm" type="none"/>
            </a:ln>
            <a:effectLst>
              <a:outerShdw blurRad="57150" rotWithShape="0" algn="ctr" dir="5400000" dist="19050">
                <a:srgbClr val="000000">
                  <a:alpha val="63137"/>
                </a:srgbClr>
              </a:outerShdw>
            </a:effectLst>
          </p:spPr>
        </p:cxnSp>
        <p:sp>
          <p:nvSpPr>
            <p:cNvPr id="532" name="Google Shape;532;p45"/>
            <p:cNvSpPr/>
            <p:nvPr/>
          </p:nvSpPr>
          <p:spPr>
            <a:xfrm>
              <a:off x="0" y="1777"/>
              <a:ext cx="4530898" cy="1211965"/>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3" name="Google Shape;533;p45"/>
            <p:cNvSpPr txBox="1"/>
            <p:nvPr/>
          </p:nvSpPr>
          <p:spPr>
            <a:xfrm>
              <a:off x="0" y="1777"/>
              <a:ext cx="4530898" cy="1211965"/>
            </a:xfrm>
            <a:prstGeom prst="rect">
              <a:avLst/>
            </a:prstGeom>
            <a:noFill/>
            <a:ln>
              <a:noFill/>
            </a:ln>
          </p:spPr>
          <p:txBody>
            <a:bodyPr anchorCtr="0" anchor="t" bIns="68575" lIns="68575" spcFirstLastPara="1" rIns="68575" wrap="square" tIns="68575">
              <a:noAutofit/>
            </a:bodyPr>
            <a:lstStyle/>
            <a:p>
              <a:pPr indent="0" lvl="0" marL="0" marR="0" rtl="0" algn="l">
                <a:lnSpc>
                  <a:spcPct val="90000"/>
                </a:lnSpc>
                <a:spcBef>
                  <a:spcPts val="0"/>
                </a:spcBef>
                <a:spcAft>
                  <a:spcPts val="0"/>
                </a:spcAft>
                <a:buClr>
                  <a:schemeClr val="dk1"/>
                </a:buClr>
                <a:buSzPts val="1800"/>
                <a:buFont typeface="Arial"/>
                <a:buNone/>
              </a:pPr>
              <a:r>
                <a:rPr b="0" i="0" lang="uk" sz="1600" u="none" cap="none" strike="noStrike">
                  <a:solidFill>
                    <a:schemeClr val="dk1"/>
                  </a:solidFill>
                  <a:latin typeface="Arial"/>
                  <a:ea typeface="Arial"/>
                  <a:cs typeface="Arial"/>
                  <a:sym typeface="Arial"/>
                </a:rPr>
                <a:t>LLM не знає ваших приватних даних.</a:t>
              </a:r>
              <a:endParaRPr b="0" i="0" sz="1600" u="none" cap="none" strike="noStrike">
                <a:solidFill>
                  <a:schemeClr val="dk1"/>
                </a:solidFill>
                <a:latin typeface="Arial"/>
                <a:ea typeface="Arial"/>
                <a:cs typeface="Arial"/>
                <a:sym typeface="Arial"/>
              </a:endParaRPr>
            </a:p>
          </p:txBody>
        </p:sp>
        <p:cxnSp>
          <p:nvCxnSpPr>
            <p:cNvPr id="534" name="Google Shape;534;p45"/>
            <p:cNvCxnSpPr/>
            <p:nvPr/>
          </p:nvCxnSpPr>
          <p:spPr>
            <a:xfrm>
              <a:off x="0" y="1213742"/>
              <a:ext cx="4530898" cy="0"/>
            </a:xfrm>
            <a:prstGeom prst="straightConnector1">
              <a:avLst/>
            </a:prstGeom>
            <a:gradFill>
              <a:gsLst>
                <a:gs pos="0">
                  <a:srgbClr val="497D4C"/>
                </a:gs>
                <a:gs pos="50000">
                  <a:srgbClr val="116F1D"/>
                </a:gs>
                <a:gs pos="100000">
                  <a:srgbClr val="0B6417"/>
                </a:gs>
              </a:gsLst>
              <a:lin ang="5400000" scaled="0"/>
            </a:gradFill>
            <a:ln cap="flat" cmpd="sng" w="12700">
              <a:solidFill>
                <a:srgbClr val="176B22"/>
              </a:solidFill>
              <a:prstDash val="solid"/>
              <a:miter lim="800000"/>
              <a:headEnd len="sm" w="sm" type="none"/>
              <a:tailEnd len="sm" w="sm" type="none"/>
            </a:ln>
            <a:effectLst>
              <a:outerShdw blurRad="57150" rotWithShape="0" algn="ctr" dir="5400000" dist="19050">
                <a:srgbClr val="000000">
                  <a:alpha val="63137"/>
                </a:srgbClr>
              </a:outerShdw>
            </a:effectLst>
          </p:spPr>
        </p:cxnSp>
        <p:sp>
          <p:nvSpPr>
            <p:cNvPr id="535" name="Google Shape;535;p45"/>
            <p:cNvSpPr/>
            <p:nvPr/>
          </p:nvSpPr>
          <p:spPr>
            <a:xfrm>
              <a:off x="0" y="1213742"/>
              <a:ext cx="4530898" cy="1211965"/>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6" name="Google Shape;536;p45"/>
            <p:cNvSpPr txBox="1"/>
            <p:nvPr/>
          </p:nvSpPr>
          <p:spPr>
            <a:xfrm>
              <a:off x="0" y="1213742"/>
              <a:ext cx="4530898" cy="1211965"/>
            </a:xfrm>
            <a:prstGeom prst="rect">
              <a:avLst/>
            </a:prstGeom>
            <a:noFill/>
            <a:ln>
              <a:noFill/>
            </a:ln>
          </p:spPr>
          <p:txBody>
            <a:bodyPr anchorCtr="0" anchor="t" bIns="68575" lIns="68575" spcFirstLastPara="1" rIns="68575" wrap="square" tIns="68575">
              <a:noAutofit/>
            </a:bodyPr>
            <a:lstStyle/>
            <a:p>
              <a:pPr indent="0" lvl="0" marL="0" marR="0" rtl="0" algn="l">
                <a:lnSpc>
                  <a:spcPct val="90000"/>
                </a:lnSpc>
                <a:spcBef>
                  <a:spcPts val="0"/>
                </a:spcBef>
                <a:spcAft>
                  <a:spcPts val="0"/>
                </a:spcAft>
                <a:buClr>
                  <a:schemeClr val="dk1"/>
                </a:buClr>
                <a:buSzPts val="1800"/>
                <a:buFont typeface="Arial"/>
                <a:buNone/>
              </a:pPr>
              <a:r>
                <a:rPr b="0" i="0" lang="uk" sz="1600" u="none" cap="none" strike="noStrike">
                  <a:solidFill>
                    <a:schemeClr val="dk1"/>
                  </a:solidFill>
                  <a:latin typeface="Arial"/>
                  <a:ea typeface="Arial"/>
                  <a:cs typeface="Arial"/>
                  <a:sym typeface="Arial"/>
                </a:rPr>
                <a:t>RAG: спочатку пошук у базі знань, потім генерація з контекстом.</a:t>
              </a:r>
              <a:endParaRPr b="0" i="0" sz="1600" u="none" cap="none" strike="noStrike">
                <a:solidFill>
                  <a:schemeClr val="dk1"/>
                </a:solidFill>
                <a:latin typeface="Arial"/>
                <a:ea typeface="Arial"/>
                <a:cs typeface="Arial"/>
                <a:sym typeface="Arial"/>
              </a:endParaRPr>
            </a:p>
          </p:txBody>
        </p:sp>
        <p:cxnSp>
          <p:nvCxnSpPr>
            <p:cNvPr id="537" name="Google Shape;537;p45"/>
            <p:cNvCxnSpPr/>
            <p:nvPr/>
          </p:nvCxnSpPr>
          <p:spPr>
            <a:xfrm>
              <a:off x="0" y="2425707"/>
              <a:ext cx="4530898" cy="0"/>
            </a:xfrm>
            <a:prstGeom prst="straightConnector1">
              <a:avLst/>
            </a:prstGeom>
            <a:gradFill>
              <a:gsLst>
                <a:gs pos="0">
                  <a:srgbClr val="47A9DE"/>
                </a:gs>
                <a:gs pos="50000">
                  <a:srgbClr val="00A2DF"/>
                </a:gs>
                <a:gs pos="100000">
                  <a:srgbClr val="0093CC"/>
                </a:gs>
              </a:gsLst>
              <a:lin ang="5400000" scaled="0"/>
            </a:gradFill>
            <a:ln cap="flat" cmpd="sng" w="12700">
              <a:solidFill>
                <a:srgbClr val="0C9ED5"/>
              </a:solidFill>
              <a:prstDash val="solid"/>
              <a:miter lim="800000"/>
              <a:headEnd len="sm" w="sm" type="none"/>
              <a:tailEnd len="sm" w="sm" type="none"/>
            </a:ln>
            <a:effectLst>
              <a:outerShdw blurRad="57150" rotWithShape="0" algn="ctr" dir="5400000" dist="19050">
                <a:srgbClr val="000000">
                  <a:alpha val="63137"/>
                </a:srgbClr>
              </a:outerShdw>
            </a:effectLst>
          </p:spPr>
        </p:cxnSp>
        <p:sp>
          <p:nvSpPr>
            <p:cNvPr id="538" name="Google Shape;538;p45"/>
            <p:cNvSpPr/>
            <p:nvPr/>
          </p:nvSpPr>
          <p:spPr>
            <a:xfrm>
              <a:off x="0" y="2425707"/>
              <a:ext cx="4530898" cy="1211965"/>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9" name="Google Shape;539;p45"/>
            <p:cNvSpPr txBox="1"/>
            <p:nvPr/>
          </p:nvSpPr>
          <p:spPr>
            <a:xfrm>
              <a:off x="0" y="2425707"/>
              <a:ext cx="4530898" cy="1211965"/>
            </a:xfrm>
            <a:prstGeom prst="rect">
              <a:avLst/>
            </a:prstGeom>
            <a:noFill/>
            <a:ln>
              <a:noFill/>
            </a:ln>
          </p:spPr>
          <p:txBody>
            <a:bodyPr anchorCtr="0" anchor="t" bIns="68575" lIns="68575" spcFirstLastPara="1" rIns="68575" wrap="square" tIns="68575">
              <a:noAutofit/>
            </a:bodyPr>
            <a:lstStyle/>
            <a:p>
              <a:pPr indent="0" lvl="0" marL="0" marR="0" rtl="0" algn="l">
                <a:lnSpc>
                  <a:spcPct val="90000"/>
                </a:lnSpc>
                <a:spcBef>
                  <a:spcPts val="0"/>
                </a:spcBef>
                <a:spcAft>
                  <a:spcPts val="0"/>
                </a:spcAft>
                <a:buClr>
                  <a:schemeClr val="dk1"/>
                </a:buClr>
                <a:buSzPts val="1800"/>
                <a:buFont typeface="Arial"/>
                <a:buNone/>
              </a:pPr>
              <a:r>
                <a:rPr b="0" i="0" lang="uk" sz="1600" u="none" cap="none" strike="noStrike">
                  <a:solidFill>
                    <a:schemeClr val="dk1"/>
                  </a:solidFill>
                  <a:latin typeface="Arial"/>
                  <a:ea typeface="Arial"/>
                  <a:cs typeface="Arial"/>
                  <a:sym typeface="Arial"/>
                </a:rPr>
                <a:t>Використовується для чат-ботів з документацією.</a:t>
              </a:r>
              <a:endParaRPr b="0" i="0" sz="1600" u="none" cap="none" strike="noStrike">
                <a:solidFill>
                  <a:schemeClr val="dk1"/>
                </a:solidFill>
                <a:latin typeface="Arial"/>
                <a:ea typeface="Arial"/>
                <a:cs typeface="Arial"/>
                <a:sym typeface="Arial"/>
              </a:endParaRPr>
            </a:p>
          </p:txBody>
        </p:sp>
      </p:grpSp>
      <p:pic>
        <p:nvPicPr>
          <p:cNvPr descr="How Agentic RAG Works: Understanding Agentic RAG's Architecture | by Kadam  Sayali | GoPenAI" id="540" name="Google Shape;540;p45"/>
          <p:cNvPicPr preferRelativeResize="0"/>
          <p:nvPr/>
        </p:nvPicPr>
        <p:blipFill rotWithShape="1">
          <a:blip r:embed="rId3">
            <a:alphaModFix/>
          </a:blip>
          <a:srcRect b="0" l="0" r="0" t="0"/>
          <a:stretch/>
        </p:blipFill>
        <p:spPr>
          <a:xfrm>
            <a:off x="375908" y="1791914"/>
            <a:ext cx="4023912" cy="2696339"/>
          </a:xfrm>
          <a:prstGeom prst="rect">
            <a:avLst/>
          </a:prstGeom>
          <a:noFill/>
          <a:ln>
            <a:noFill/>
          </a:ln>
          <a:effectLst>
            <a:outerShdw blurRad="292100" rotWithShape="0" algn="tl" dir="2700000" dist="139700">
              <a:srgbClr val="333333">
                <a:alpha val="65098"/>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4" name="Shape 544"/>
        <p:cNvGrpSpPr/>
        <p:nvPr/>
      </p:nvGrpSpPr>
      <p:grpSpPr>
        <a:xfrm>
          <a:off x="0" y="0"/>
          <a:ext cx="0" cy="0"/>
          <a:chOff x="0" y="0"/>
          <a:chExt cx="0" cy="0"/>
        </a:xfrm>
      </p:grpSpPr>
      <p:sp>
        <p:nvSpPr>
          <p:cNvPr id="545" name="Google Shape;545;p46"/>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46" name="Google Shape;546;p46"/>
          <p:cNvSpPr/>
          <p:nvPr/>
        </p:nvSpPr>
        <p:spPr>
          <a:xfrm>
            <a:off x="418657" y="0"/>
            <a:ext cx="8375585" cy="1514105"/>
          </a:xfrm>
          <a:prstGeom prst="rect">
            <a:avLst/>
          </a:prstGeom>
          <a:solidFill>
            <a:schemeClr val="lt1"/>
          </a:solidFill>
          <a:ln cap="flat" cmpd="sng" w="12700">
            <a:solidFill>
              <a:srgbClr val="E1E1E1"/>
            </a:solidFill>
            <a:prstDash val="solid"/>
            <a:miter lim="800000"/>
            <a:headEnd len="sm" w="sm" type="none"/>
            <a:tailEnd len="sm" w="sm" type="none"/>
          </a:ln>
          <a:effectLst>
            <a:outerShdw blurRad="50800" rotWithShape="0" algn="tl" dir="2700000" dist="38100">
              <a:srgbClr val="D8D8D8">
                <a:alpha val="50196"/>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547" name="Google Shape;547;p46"/>
          <p:cNvSpPr/>
          <p:nvPr/>
        </p:nvSpPr>
        <p:spPr>
          <a:xfrm>
            <a:off x="425196" y="0"/>
            <a:ext cx="8366760" cy="150876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548" name="Google Shape;548;p46"/>
          <p:cNvSpPr txBox="1"/>
          <p:nvPr>
            <p:ph type="title"/>
          </p:nvPr>
        </p:nvSpPr>
        <p:spPr>
          <a:xfrm>
            <a:off x="836676" y="411480"/>
            <a:ext cx="7626096" cy="88468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800"/>
              <a:buFont typeface="Play"/>
              <a:buNone/>
            </a:pPr>
            <a:r>
              <a:rPr b="1" lang="uk" sz="2800"/>
              <a:t>Приклад використання Hugging Face (Python)</a:t>
            </a:r>
            <a:br>
              <a:rPr b="1" lang="uk" sz="2800"/>
            </a:br>
            <a:endParaRPr sz="2800"/>
          </a:p>
        </p:txBody>
      </p:sp>
      <p:sp>
        <p:nvSpPr>
          <p:cNvPr id="549" name="Google Shape;549;p46"/>
          <p:cNvSpPr/>
          <p:nvPr/>
        </p:nvSpPr>
        <p:spPr>
          <a:xfrm>
            <a:off x="374126" y="578099"/>
            <a:ext cx="96012" cy="528066"/>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pic>
        <p:nvPicPr>
          <p:cNvPr id="550" name="Google Shape;550;p46"/>
          <p:cNvPicPr preferRelativeResize="0"/>
          <p:nvPr/>
        </p:nvPicPr>
        <p:blipFill rotWithShape="1">
          <a:blip r:embed="rId3">
            <a:alphaModFix/>
          </a:blip>
          <a:srcRect b="0" l="0" r="0" t="0"/>
          <a:stretch/>
        </p:blipFill>
        <p:spPr>
          <a:xfrm>
            <a:off x="622319" y="2127601"/>
            <a:ext cx="8273486" cy="170082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4" name="Shape 554"/>
        <p:cNvGrpSpPr/>
        <p:nvPr/>
      </p:nvGrpSpPr>
      <p:grpSpPr>
        <a:xfrm>
          <a:off x="0" y="0"/>
          <a:ext cx="0" cy="0"/>
          <a:chOff x="0" y="0"/>
          <a:chExt cx="0" cy="0"/>
        </a:xfrm>
      </p:grpSpPr>
      <p:sp>
        <p:nvSpPr>
          <p:cNvPr id="555" name="Google Shape;555;p47"/>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56" name="Google Shape;556;p47"/>
          <p:cNvSpPr txBox="1"/>
          <p:nvPr>
            <p:ph type="title"/>
          </p:nvPr>
        </p:nvSpPr>
        <p:spPr>
          <a:xfrm>
            <a:off x="473202" y="377190"/>
            <a:ext cx="2564892" cy="109728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300"/>
              <a:buFont typeface="Play"/>
              <a:buNone/>
            </a:pPr>
            <a:r>
              <a:rPr b="1" lang="uk" sz="2300"/>
              <a:t>Використання API OpenAI (ChatGPT)</a:t>
            </a:r>
            <a:endParaRPr sz="2300"/>
          </a:p>
        </p:txBody>
      </p:sp>
      <p:sp>
        <p:nvSpPr>
          <p:cNvPr id="557" name="Google Shape;557;p47"/>
          <p:cNvSpPr/>
          <p:nvPr/>
        </p:nvSpPr>
        <p:spPr>
          <a:xfrm rot="5400000">
            <a:off x="2674619" y="918972"/>
            <a:ext cx="1165860" cy="13716"/>
          </a:xfrm>
          <a:custGeom>
            <a:rect b="b" l="l" r="r" t="t"/>
            <a:pathLst>
              <a:path extrusionOk="0" fill="none" h="18288" w="155448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extrusionOk="0" h="18288" w="155448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58" name="Google Shape;558;p47"/>
          <p:cNvSpPr txBox="1"/>
          <p:nvPr>
            <p:ph idx="1" type="body"/>
          </p:nvPr>
        </p:nvSpPr>
        <p:spPr>
          <a:xfrm>
            <a:off x="3490721" y="377190"/>
            <a:ext cx="5170932" cy="1097280"/>
          </a:xfrm>
          <a:prstGeom prst="rect">
            <a:avLst/>
          </a:prstGeom>
          <a:noFill/>
          <a:ln>
            <a:noFill/>
          </a:ln>
        </p:spPr>
        <p:txBody>
          <a:bodyPr anchorCtr="0" anchor="ctr" bIns="34275" lIns="68575" spcFirstLastPara="1" rIns="68575" wrap="square" tIns="34275">
            <a:normAutofit/>
          </a:bodyPr>
          <a:lstStyle/>
          <a:p>
            <a:pPr indent="-76200" lvl="0" marL="177800" rtl="0" algn="l">
              <a:lnSpc>
                <a:spcPct val="90000"/>
              </a:lnSpc>
              <a:spcBef>
                <a:spcPts val="0"/>
              </a:spcBef>
              <a:spcAft>
                <a:spcPts val="0"/>
              </a:spcAft>
              <a:buClr>
                <a:schemeClr val="dk1"/>
              </a:buClr>
              <a:buSzPts val="1700"/>
              <a:buNone/>
            </a:pPr>
            <a:r>
              <a:t/>
            </a:r>
            <a:endParaRPr sz="1700"/>
          </a:p>
        </p:txBody>
      </p:sp>
      <p:pic>
        <p:nvPicPr>
          <p:cNvPr id="559" name="Google Shape;559;p47"/>
          <p:cNvPicPr preferRelativeResize="0"/>
          <p:nvPr/>
        </p:nvPicPr>
        <p:blipFill rotWithShape="1">
          <a:blip r:embed="rId3">
            <a:alphaModFix/>
          </a:blip>
          <a:srcRect b="0" l="0" r="0" t="0"/>
          <a:stretch/>
        </p:blipFill>
        <p:spPr>
          <a:xfrm>
            <a:off x="473202" y="1933749"/>
            <a:ext cx="8188452" cy="253842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3" name="Shape 563"/>
        <p:cNvGrpSpPr/>
        <p:nvPr/>
      </p:nvGrpSpPr>
      <p:grpSpPr>
        <a:xfrm>
          <a:off x="0" y="0"/>
          <a:ext cx="0" cy="0"/>
          <a:chOff x="0" y="0"/>
          <a:chExt cx="0" cy="0"/>
        </a:xfrm>
      </p:grpSpPr>
      <p:sp>
        <p:nvSpPr>
          <p:cNvPr id="564" name="Google Shape;564;p48"/>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65" name="Google Shape;565;p48"/>
          <p:cNvSpPr/>
          <p:nvPr/>
        </p:nvSpPr>
        <p:spPr>
          <a:xfrm>
            <a:off x="415812" y="3164179"/>
            <a:ext cx="8375585" cy="1566988"/>
          </a:xfrm>
          <a:prstGeom prst="rect">
            <a:avLst/>
          </a:prstGeom>
          <a:solidFill>
            <a:schemeClr val="lt1"/>
          </a:solidFill>
          <a:ln cap="flat" cmpd="sng" w="12700">
            <a:solidFill>
              <a:srgbClr val="DEDEDE"/>
            </a:solidFill>
            <a:prstDash val="solid"/>
            <a:miter lim="800000"/>
            <a:headEnd len="sm" w="sm" type="none"/>
            <a:tailEnd len="sm" w="sm" type="none"/>
          </a:ln>
          <a:effectLst>
            <a:outerShdw blurRad="50800" rotWithShape="0" algn="tl" dir="2700000" dist="38100">
              <a:srgbClr val="C5C5C5">
                <a:alpha val="50196"/>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566" name="Google Shape;566;p48"/>
          <p:cNvSpPr txBox="1"/>
          <p:nvPr>
            <p:ph type="title"/>
          </p:nvPr>
        </p:nvSpPr>
        <p:spPr>
          <a:xfrm>
            <a:off x="788670" y="3333249"/>
            <a:ext cx="2668850" cy="123444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400"/>
              <a:buFont typeface="Play"/>
              <a:buNone/>
            </a:pPr>
            <a:r>
              <a:rPr b="1" lang="uk" sz="2400"/>
              <a:t>Запуск LLaMA локально (Ollama)</a:t>
            </a:r>
            <a:br>
              <a:rPr b="1" lang="uk" sz="2400"/>
            </a:br>
            <a:endParaRPr sz="2400"/>
          </a:p>
        </p:txBody>
      </p:sp>
      <p:sp>
        <p:nvSpPr>
          <p:cNvPr id="567" name="Google Shape;567;p48"/>
          <p:cNvSpPr/>
          <p:nvPr/>
        </p:nvSpPr>
        <p:spPr>
          <a:xfrm>
            <a:off x="367806" y="3683639"/>
            <a:ext cx="96012" cy="528066"/>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sp>
        <p:nvSpPr>
          <p:cNvPr id="568" name="Google Shape;568;p48"/>
          <p:cNvSpPr/>
          <p:nvPr/>
        </p:nvSpPr>
        <p:spPr>
          <a:xfrm rot="5400000">
            <a:off x="3182656" y="3940814"/>
            <a:ext cx="1097280" cy="13716"/>
          </a:xfrm>
          <a:prstGeom prst="rect">
            <a:avLst/>
          </a:prstGeom>
          <a:solidFill>
            <a:srgbClr val="D5D5D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sp>
        <p:nvSpPr>
          <p:cNvPr id="569" name="Google Shape;569;p48"/>
          <p:cNvSpPr txBox="1"/>
          <p:nvPr>
            <p:ph idx="1" type="body"/>
          </p:nvPr>
        </p:nvSpPr>
        <p:spPr>
          <a:xfrm>
            <a:off x="4011930" y="3330452"/>
            <a:ext cx="4505706" cy="1234440"/>
          </a:xfrm>
          <a:prstGeom prst="rect">
            <a:avLst/>
          </a:prstGeom>
          <a:noFill/>
          <a:ln>
            <a:noFill/>
          </a:ln>
        </p:spPr>
        <p:txBody>
          <a:bodyPr anchorCtr="0" anchor="ctr" bIns="34275" lIns="68575" spcFirstLastPara="1" rIns="68575" wrap="square" tIns="34275">
            <a:normAutofit/>
          </a:bodyPr>
          <a:lstStyle/>
          <a:p>
            <a:pPr indent="-88900" lvl="0" marL="177800" rtl="0" algn="l">
              <a:lnSpc>
                <a:spcPct val="90000"/>
              </a:lnSpc>
              <a:spcBef>
                <a:spcPts val="0"/>
              </a:spcBef>
              <a:spcAft>
                <a:spcPts val="0"/>
              </a:spcAft>
              <a:buClr>
                <a:schemeClr val="dk1"/>
              </a:buClr>
              <a:buSzPts val="1400"/>
              <a:buNone/>
            </a:pPr>
            <a:r>
              <a:t/>
            </a:r>
            <a:endParaRPr sz="1400"/>
          </a:p>
        </p:txBody>
      </p:sp>
      <p:pic>
        <p:nvPicPr>
          <p:cNvPr id="570" name="Google Shape;570;p48"/>
          <p:cNvPicPr preferRelativeResize="0"/>
          <p:nvPr/>
        </p:nvPicPr>
        <p:blipFill rotWithShape="1">
          <a:blip r:embed="rId3">
            <a:alphaModFix/>
          </a:blip>
          <a:srcRect b="0" l="0" r="0" t="0"/>
          <a:stretch/>
        </p:blipFill>
        <p:spPr>
          <a:xfrm>
            <a:off x="1371833" y="979715"/>
            <a:ext cx="6578248" cy="1699842"/>
          </a:xfrm>
          <a:prstGeom prst="rect">
            <a:avLst/>
          </a:prstGeom>
          <a:noFill/>
          <a:ln>
            <a:noFill/>
          </a:ln>
          <a:effectLst>
            <a:outerShdw blurRad="292100" rotWithShape="0" algn="tl" dir="2700000" dist="139700">
              <a:srgbClr val="333333">
                <a:alpha val="65098"/>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4" name="Shape 574"/>
        <p:cNvGrpSpPr/>
        <p:nvPr/>
      </p:nvGrpSpPr>
      <p:grpSpPr>
        <a:xfrm>
          <a:off x="0" y="0"/>
          <a:ext cx="0" cy="0"/>
          <a:chOff x="0" y="0"/>
          <a:chExt cx="0" cy="0"/>
        </a:xfrm>
      </p:grpSpPr>
      <p:sp>
        <p:nvSpPr>
          <p:cNvPr id="575" name="Google Shape;575;p49"/>
          <p:cNvSpPr/>
          <p:nvPr/>
        </p:nvSpPr>
        <p:spPr>
          <a:xfrm>
            <a:off x="0" y="0"/>
            <a:ext cx="9143771"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76" name="Google Shape;576;p49"/>
          <p:cNvSpPr txBox="1"/>
          <p:nvPr>
            <p:ph type="title"/>
          </p:nvPr>
        </p:nvSpPr>
        <p:spPr>
          <a:xfrm>
            <a:off x="4973249" y="816300"/>
            <a:ext cx="3928500" cy="1135500"/>
          </a:xfrm>
          <a:prstGeom prst="rect">
            <a:avLst/>
          </a:prstGeom>
          <a:noFill/>
          <a:ln>
            <a:noFill/>
          </a:ln>
        </p:spPr>
        <p:txBody>
          <a:bodyPr anchorCtr="0" anchor="t" bIns="34275" lIns="68575" spcFirstLastPara="1" rIns="68575" wrap="square" tIns="34275">
            <a:normAutofit fontScale="90000"/>
          </a:bodyPr>
          <a:lstStyle/>
          <a:p>
            <a:pPr indent="0" lvl="0" marL="0" rtl="0" algn="r">
              <a:lnSpc>
                <a:spcPct val="90000"/>
              </a:lnSpc>
              <a:spcBef>
                <a:spcPts val="0"/>
              </a:spcBef>
              <a:spcAft>
                <a:spcPts val="0"/>
              </a:spcAft>
              <a:buClr>
                <a:schemeClr val="dk2"/>
              </a:buClr>
              <a:buSzPct val="100000"/>
              <a:buFont typeface="Play"/>
              <a:buNone/>
            </a:pPr>
            <a:r>
              <a:rPr b="1" lang="uk" sz="2600">
                <a:solidFill>
                  <a:schemeClr val="dk2"/>
                </a:solidFill>
              </a:rPr>
              <a:t>Fine-tuning з Hugging Face (приклад)</a:t>
            </a:r>
            <a:br>
              <a:rPr b="1" lang="uk" sz="2600">
                <a:solidFill>
                  <a:schemeClr val="dk2"/>
                </a:solidFill>
              </a:rPr>
            </a:br>
            <a:endParaRPr sz="2600">
              <a:solidFill>
                <a:schemeClr val="dk2"/>
              </a:solidFill>
            </a:endParaRPr>
          </a:p>
        </p:txBody>
      </p:sp>
      <p:grpSp>
        <p:nvGrpSpPr>
          <p:cNvPr id="577" name="Google Shape;577;p49"/>
          <p:cNvGrpSpPr/>
          <p:nvPr/>
        </p:nvGrpSpPr>
        <p:grpSpPr>
          <a:xfrm>
            <a:off x="6336074" y="0"/>
            <a:ext cx="2807697" cy="2941377"/>
            <a:chOff x="8310716" y="0"/>
            <a:chExt cx="3878237" cy="4062888"/>
          </a:xfrm>
        </p:grpSpPr>
        <p:sp>
          <p:nvSpPr>
            <p:cNvPr id="578" name="Google Shape;578;p49"/>
            <p:cNvSpPr/>
            <p:nvPr/>
          </p:nvSpPr>
          <p:spPr>
            <a:xfrm>
              <a:off x="8310716" y="1"/>
              <a:ext cx="3878236" cy="4062887"/>
            </a:xfrm>
            <a:custGeom>
              <a:rect b="b" l="l" r="r" t="t"/>
              <a:pathLst>
                <a:path extrusionOk="0" h="4062887" w="3878236">
                  <a:moveTo>
                    <a:pt x="458236" y="0"/>
                  </a:moveTo>
                  <a:lnTo>
                    <a:pt x="626135" y="0"/>
                  </a:lnTo>
                  <a:lnTo>
                    <a:pt x="541802" y="96785"/>
                  </a:lnTo>
                  <a:cubicBezTo>
                    <a:pt x="489388" y="162616"/>
                    <a:pt x="439790" y="230737"/>
                    <a:pt x="393588" y="301059"/>
                  </a:cubicBezTo>
                  <a:cubicBezTo>
                    <a:pt x="348163" y="371748"/>
                    <a:pt x="305261" y="444179"/>
                    <a:pt x="267407" y="519085"/>
                  </a:cubicBezTo>
                  <a:cubicBezTo>
                    <a:pt x="257604" y="537697"/>
                    <a:pt x="248480" y="556584"/>
                    <a:pt x="239453" y="575472"/>
                  </a:cubicBezTo>
                  <a:lnTo>
                    <a:pt x="225864" y="603893"/>
                  </a:lnTo>
                  <a:lnTo>
                    <a:pt x="212955" y="632590"/>
                  </a:lnTo>
                  <a:cubicBezTo>
                    <a:pt x="204511" y="651753"/>
                    <a:pt x="195969" y="670915"/>
                    <a:pt x="188301" y="690444"/>
                  </a:cubicBezTo>
                  <a:cubicBezTo>
                    <a:pt x="180633" y="709972"/>
                    <a:pt x="172189" y="729227"/>
                    <a:pt x="165201" y="748939"/>
                  </a:cubicBezTo>
                  <a:cubicBezTo>
                    <a:pt x="135305" y="827237"/>
                    <a:pt x="109971" y="907186"/>
                    <a:pt x="90074" y="988511"/>
                  </a:cubicBezTo>
                  <a:cubicBezTo>
                    <a:pt x="49696" y="1150792"/>
                    <a:pt x="29022" y="1317842"/>
                    <a:pt x="29119" y="1484891"/>
                  </a:cubicBezTo>
                  <a:cubicBezTo>
                    <a:pt x="29604" y="1568141"/>
                    <a:pt x="37855" y="1651207"/>
                    <a:pt x="54743" y="1732714"/>
                  </a:cubicBezTo>
                  <a:cubicBezTo>
                    <a:pt x="72506" y="1814039"/>
                    <a:pt x="98227" y="1893621"/>
                    <a:pt x="132976" y="1969719"/>
                  </a:cubicBezTo>
                  <a:cubicBezTo>
                    <a:pt x="141226" y="1988882"/>
                    <a:pt x="150835" y="2007585"/>
                    <a:pt x="159959" y="2026381"/>
                  </a:cubicBezTo>
                  <a:cubicBezTo>
                    <a:pt x="169860" y="2044901"/>
                    <a:pt x="179274" y="2063604"/>
                    <a:pt x="189951" y="2081758"/>
                  </a:cubicBezTo>
                  <a:cubicBezTo>
                    <a:pt x="210334" y="2118432"/>
                    <a:pt x="233046" y="2154006"/>
                    <a:pt x="256439" y="2189121"/>
                  </a:cubicBezTo>
                  <a:cubicBezTo>
                    <a:pt x="279734" y="2224328"/>
                    <a:pt x="304679" y="2258617"/>
                    <a:pt x="329818" y="2292816"/>
                  </a:cubicBezTo>
                  <a:cubicBezTo>
                    <a:pt x="355345" y="2326740"/>
                    <a:pt x="381844" y="2360204"/>
                    <a:pt x="408438" y="2393577"/>
                  </a:cubicBezTo>
                  <a:cubicBezTo>
                    <a:pt x="461725" y="2460416"/>
                    <a:pt x="517440" y="2525879"/>
                    <a:pt x="572086" y="2592900"/>
                  </a:cubicBezTo>
                  <a:cubicBezTo>
                    <a:pt x="599554" y="2626273"/>
                    <a:pt x="626926" y="2659921"/>
                    <a:pt x="653909" y="2693936"/>
                  </a:cubicBezTo>
                  <a:cubicBezTo>
                    <a:pt x="680796" y="2727676"/>
                    <a:pt x="707487" y="2763525"/>
                    <a:pt x="733500" y="2796256"/>
                  </a:cubicBezTo>
                  <a:cubicBezTo>
                    <a:pt x="759319" y="2829813"/>
                    <a:pt x="786399" y="2862362"/>
                    <a:pt x="813091" y="2895093"/>
                  </a:cubicBezTo>
                  <a:cubicBezTo>
                    <a:pt x="840560" y="2927274"/>
                    <a:pt x="867834" y="2959455"/>
                    <a:pt x="896273" y="2990536"/>
                  </a:cubicBezTo>
                  <a:cubicBezTo>
                    <a:pt x="952764" y="3053066"/>
                    <a:pt x="1011486" y="3113302"/>
                    <a:pt x="1072636" y="3170513"/>
                  </a:cubicBezTo>
                  <a:cubicBezTo>
                    <a:pt x="1195128" y="3284660"/>
                    <a:pt x="1327328" y="3386522"/>
                    <a:pt x="1468747" y="3470964"/>
                  </a:cubicBezTo>
                  <a:cubicBezTo>
                    <a:pt x="1539603" y="3512956"/>
                    <a:pt x="1612303" y="3551463"/>
                    <a:pt x="1687720" y="3583919"/>
                  </a:cubicBezTo>
                  <a:cubicBezTo>
                    <a:pt x="1762652" y="3617292"/>
                    <a:pt x="1840010" y="3645440"/>
                    <a:pt x="1918825" y="3669278"/>
                  </a:cubicBezTo>
                  <a:cubicBezTo>
                    <a:pt x="1997640" y="3693207"/>
                    <a:pt x="2078007" y="3712553"/>
                    <a:pt x="2159540" y="3728230"/>
                  </a:cubicBezTo>
                  <a:cubicBezTo>
                    <a:pt x="2241170" y="3743633"/>
                    <a:pt x="2324158" y="3754177"/>
                    <a:pt x="2407729" y="3761238"/>
                  </a:cubicBezTo>
                  <a:cubicBezTo>
                    <a:pt x="2491299" y="3768389"/>
                    <a:pt x="2575743" y="3771506"/>
                    <a:pt x="2660479" y="3771598"/>
                  </a:cubicBezTo>
                  <a:cubicBezTo>
                    <a:pt x="2681638" y="3771598"/>
                    <a:pt x="2703089" y="3771964"/>
                    <a:pt x="2723278" y="3771139"/>
                  </a:cubicBezTo>
                  <a:lnTo>
                    <a:pt x="2754047" y="3770406"/>
                  </a:lnTo>
                  <a:lnTo>
                    <a:pt x="2784719" y="3768938"/>
                  </a:lnTo>
                  <a:cubicBezTo>
                    <a:pt x="2825582" y="3767197"/>
                    <a:pt x="2866251" y="3763346"/>
                    <a:pt x="2906629" y="3758853"/>
                  </a:cubicBezTo>
                  <a:cubicBezTo>
                    <a:pt x="3068334" y="3740150"/>
                    <a:pt x="3225672" y="3699166"/>
                    <a:pt x="3376896" y="3638838"/>
                  </a:cubicBezTo>
                  <a:cubicBezTo>
                    <a:pt x="3452702" y="3608949"/>
                    <a:pt x="3526664" y="3573467"/>
                    <a:pt x="3599460" y="3534685"/>
                  </a:cubicBezTo>
                  <a:cubicBezTo>
                    <a:pt x="3672354" y="3496085"/>
                    <a:pt x="3743888" y="3453269"/>
                    <a:pt x="3814356" y="3407976"/>
                  </a:cubicBezTo>
                  <a:lnTo>
                    <a:pt x="3878236" y="3364122"/>
                  </a:lnTo>
                  <a:lnTo>
                    <a:pt x="3878236" y="3711785"/>
                  </a:lnTo>
                  <a:lnTo>
                    <a:pt x="3754080" y="3788192"/>
                  </a:lnTo>
                  <a:cubicBezTo>
                    <a:pt x="3672450" y="3832843"/>
                    <a:pt x="3588007" y="3874284"/>
                    <a:pt x="3499971" y="3910041"/>
                  </a:cubicBezTo>
                  <a:cubicBezTo>
                    <a:pt x="3324482" y="3982472"/>
                    <a:pt x="3134920" y="4030882"/>
                    <a:pt x="2943222" y="4051144"/>
                  </a:cubicBezTo>
                  <a:cubicBezTo>
                    <a:pt x="2895272" y="4055911"/>
                    <a:pt x="2847227" y="4059763"/>
                    <a:pt x="2799278" y="4061321"/>
                  </a:cubicBezTo>
                  <a:lnTo>
                    <a:pt x="2763268" y="4062604"/>
                  </a:lnTo>
                  <a:lnTo>
                    <a:pt x="2727355" y="4062788"/>
                  </a:lnTo>
                  <a:cubicBezTo>
                    <a:pt x="2703089" y="4063155"/>
                    <a:pt x="2680085" y="4062421"/>
                    <a:pt x="2656790" y="4061963"/>
                  </a:cubicBezTo>
                  <a:cubicBezTo>
                    <a:pt x="2610297" y="4061413"/>
                    <a:pt x="2563514" y="4058754"/>
                    <a:pt x="2516924" y="4056461"/>
                  </a:cubicBezTo>
                  <a:cubicBezTo>
                    <a:pt x="2470237" y="4052795"/>
                    <a:pt x="2423549" y="4049402"/>
                    <a:pt x="2376959" y="4043809"/>
                  </a:cubicBezTo>
                  <a:cubicBezTo>
                    <a:pt x="2283683" y="4033265"/>
                    <a:pt x="2190503" y="4018871"/>
                    <a:pt x="2098196" y="3998700"/>
                  </a:cubicBezTo>
                  <a:cubicBezTo>
                    <a:pt x="2005891" y="3978530"/>
                    <a:pt x="1914652" y="3952583"/>
                    <a:pt x="1825645" y="3920860"/>
                  </a:cubicBezTo>
                  <a:cubicBezTo>
                    <a:pt x="1736639" y="3889045"/>
                    <a:pt x="1649963" y="3851089"/>
                    <a:pt x="1566586" y="3807996"/>
                  </a:cubicBezTo>
                  <a:cubicBezTo>
                    <a:pt x="1483501" y="3764263"/>
                    <a:pt x="1403716" y="3715395"/>
                    <a:pt x="1328784" y="3661117"/>
                  </a:cubicBezTo>
                  <a:cubicBezTo>
                    <a:pt x="1178337" y="3553113"/>
                    <a:pt x="1046527" y="3426497"/>
                    <a:pt x="930925" y="3291079"/>
                  </a:cubicBezTo>
                  <a:cubicBezTo>
                    <a:pt x="873367" y="3223048"/>
                    <a:pt x="819789" y="3152818"/>
                    <a:pt x="769122" y="3081303"/>
                  </a:cubicBezTo>
                  <a:cubicBezTo>
                    <a:pt x="718358" y="3009790"/>
                    <a:pt x="670992" y="2936717"/>
                    <a:pt x="626149" y="2862544"/>
                  </a:cubicBezTo>
                  <a:cubicBezTo>
                    <a:pt x="603243" y="2825046"/>
                    <a:pt x="582277" y="2789930"/>
                    <a:pt x="559467" y="2753990"/>
                  </a:cubicBezTo>
                  <a:cubicBezTo>
                    <a:pt x="536852" y="2718325"/>
                    <a:pt x="513849" y="2682660"/>
                    <a:pt x="490165" y="2647269"/>
                  </a:cubicBezTo>
                  <a:lnTo>
                    <a:pt x="345542" y="2434743"/>
                  </a:lnTo>
                  <a:cubicBezTo>
                    <a:pt x="321567" y="2398987"/>
                    <a:pt x="297884" y="2363046"/>
                    <a:pt x="274784" y="2326648"/>
                  </a:cubicBezTo>
                  <a:cubicBezTo>
                    <a:pt x="251682" y="2290248"/>
                    <a:pt x="228776" y="2253759"/>
                    <a:pt x="207422" y="2216167"/>
                  </a:cubicBezTo>
                  <a:cubicBezTo>
                    <a:pt x="164618" y="2141353"/>
                    <a:pt x="125308" y="2064338"/>
                    <a:pt x="93956" y="1984388"/>
                  </a:cubicBezTo>
                  <a:cubicBezTo>
                    <a:pt x="62023" y="1904715"/>
                    <a:pt x="38340" y="1822107"/>
                    <a:pt x="22422" y="1738399"/>
                  </a:cubicBezTo>
                  <a:cubicBezTo>
                    <a:pt x="7183" y="1654692"/>
                    <a:pt x="0" y="1569700"/>
                    <a:pt x="0" y="1484891"/>
                  </a:cubicBezTo>
                  <a:cubicBezTo>
                    <a:pt x="1262" y="1146758"/>
                    <a:pt x="70468" y="809542"/>
                    <a:pt x="200337" y="491671"/>
                  </a:cubicBezTo>
                  <a:cubicBezTo>
                    <a:pt x="232950" y="412273"/>
                    <a:pt x="268280" y="333607"/>
                    <a:pt x="308076" y="256776"/>
                  </a:cubicBezTo>
                  <a:cubicBezTo>
                    <a:pt x="347290" y="179668"/>
                    <a:pt x="390482" y="104213"/>
                    <a:pt x="437072" y="30498"/>
                  </a:cubicBezTo>
                  <a:close/>
                </a:path>
              </a:pathLst>
            </a:custGeom>
            <a:gradFill>
              <a:gsLst>
                <a:gs pos="0">
                  <a:srgbClr val="FFFFFF">
                    <a:alpha val="10196"/>
                  </a:srgbClr>
                </a:gs>
                <a:gs pos="2000">
                  <a:srgbClr val="FFFFFF">
                    <a:alpha val="10196"/>
                  </a:srgbClr>
                </a:gs>
                <a:gs pos="16000">
                  <a:srgbClr val="4EA72E">
                    <a:alpha val="10196"/>
                  </a:srgbClr>
                </a:gs>
                <a:gs pos="85000">
                  <a:srgbClr val="156082">
                    <a:alpha val="10196"/>
                  </a:srgbClr>
                </a:gs>
                <a:gs pos="100000">
                  <a:srgbClr val="FFFFFF">
                    <a:alpha val="10196"/>
                  </a:srgbClr>
                </a:gs>
              </a:gsLst>
              <a:lin ang="12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79" name="Google Shape;579;p49"/>
            <p:cNvSpPr/>
            <p:nvPr/>
          </p:nvSpPr>
          <p:spPr>
            <a:xfrm>
              <a:off x="8329928" y="0"/>
              <a:ext cx="3859024" cy="3823730"/>
            </a:xfrm>
            <a:custGeom>
              <a:rect b="b" l="l" r="r" t="t"/>
              <a:pathLst>
                <a:path extrusionOk="0" h="3823730" w="3859024">
                  <a:moveTo>
                    <a:pt x="517815" y="0"/>
                  </a:moveTo>
                  <a:lnTo>
                    <a:pt x="810951" y="0"/>
                  </a:lnTo>
                  <a:lnTo>
                    <a:pt x="657209" y="169897"/>
                  </a:lnTo>
                  <a:cubicBezTo>
                    <a:pt x="558303" y="289087"/>
                    <a:pt x="471043" y="416896"/>
                    <a:pt x="398052" y="551580"/>
                  </a:cubicBezTo>
                  <a:cubicBezTo>
                    <a:pt x="325062" y="686173"/>
                    <a:pt x="264301" y="827092"/>
                    <a:pt x="222175" y="973513"/>
                  </a:cubicBezTo>
                  <a:cubicBezTo>
                    <a:pt x="179954" y="1119567"/>
                    <a:pt x="158114" y="1271396"/>
                    <a:pt x="158212" y="1423317"/>
                  </a:cubicBezTo>
                  <a:cubicBezTo>
                    <a:pt x="159085" y="1497949"/>
                    <a:pt x="166850" y="1572030"/>
                    <a:pt x="185195" y="1643544"/>
                  </a:cubicBezTo>
                  <a:cubicBezTo>
                    <a:pt x="203249" y="1715150"/>
                    <a:pt x="231300" y="1783638"/>
                    <a:pt x="264883" y="1849559"/>
                  </a:cubicBezTo>
                  <a:cubicBezTo>
                    <a:pt x="281869" y="1882474"/>
                    <a:pt x="300700" y="1914747"/>
                    <a:pt x="320500" y="1946562"/>
                  </a:cubicBezTo>
                  <a:cubicBezTo>
                    <a:pt x="340592" y="1978284"/>
                    <a:pt x="362043" y="2009549"/>
                    <a:pt x="384367" y="2040447"/>
                  </a:cubicBezTo>
                  <a:cubicBezTo>
                    <a:pt x="429598" y="2102059"/>
                    <a:pt x="479876" y="2161837"/>
                    <a:pt x="531902" y="2221891"/>
                  </a:cubicBezTo>
                  <a:cubicBezTo>
                    <a:pt x="583927" y="2282036"/>
                    <a:pt x="638282" y="2342181"/>
                    <a:pt x="691569" y="2404710"/>
                  </a:cubicBezTo>
                  <a:cubicBezTo>
                    <a:pt x="718261" y="2435882"/>
                    <a:pt x="744662" y="2467788"/>
                    <a:pt x="770966" y="2500153"/>
                  </a:cubicBezTo>
                  <a:lnTo>
                    <a:pt x="809112" y="2547004"/>
                  </a:lnTo>
                  <a:cubicBezTo>
                    <a:pt x="821632" y="2561949"/>
                    <a:pt x="833571" y="2577261"/>
                    <a:pt x="846480" y="2591838"/>
                  </a:cubicBezTo>
                  <a:cubicBezTo>
                    <a:pt x="947232" y="2710478"/>
                    <a:pt x="1056523" y="2819674"/>
                    <a:pt x="1167563" y="2923186"/>
                  </a:cubicBezTo>
                  <a:cubicBezTo>
                    <a:pt x="1223374" y="2974713"/>
                    <a:pt x="1280155" y="3024498"/>
                    <a:pt x="1338296" y="3072266"/>
                  </a:cubicBezTo>
                  <a:cubicBezTo>
                    <a:pt x="1396436" y="3120033"/>
                    <a:pt x="1455644" y="3166242"/>
                    <a:pt x="1517085" y="3209700"/>
                  </a:cubicBezTo>
                  <a:cubicBezTo>
                    <a:pt x="1639480" y="3296801"/>
                    <a:pt x="1771485" y="3374641"/>
                    <a:pt x="1916496" y="3427085"/>
                  </a:cubicBezTo>
                  <a:cubicBezTo>
                    <a:pt x="1988808" y="3453307"/>
                    <a:pt x="2063740" y="3473385"/>
                    <a:pt x="2139934" y="3488513"/>
                  </a:cubicBezTo>
                  <a:cubicBezTo>
                    <a:pt x="2159055" y="3492089"/>
                    <a:pt x="2177982" y="3496216"/>
                    <a:pt x="2197200" y="3499332"/>
                  </a:cubicBezTo>
                  <a:lnTo>
                    <a:pt x="2254952" y="3508409"/>
                  </a:lnTo>
                  <a:cubicBezTo>
                    <a:pt x="2293680" y="3513268"/>
                    <a:pt x="2332409" y="3518403"/>
                    <a:pt x="2371524" y="3521428"/>
                  </a:cubicBezTo>
                  <a:cubicBezTo>
                    <a:pt x="2391034" y="3523170"/>
                    <a:pt x="2410544" y="3524821"/>
                    <a:pt x="2430150" y="3525646"/>
                  </a:cubicBezTo>
                  <a:cubicBezTo>
                    <a:pt x="2449757" y="3526562"/>
                    <a:pt x="2469266" y="3528029"/>
                    <a:pt x="2488970" y="3528580"/>
                  </a:cubicBezTo>
                  <a:lnTo>
                    <a:pt x="2547984" y="3529863"/>
                  </a:lnTo>
                  <a:cubicBezTo>
                    <a:pt x="2567590" y="3530321"/>
                    <a:pt x="2587391" y="3529680"/>
                    <a:pt x="2607095" y="3529589"/>
                  </a:cubicBezTo>
                  <a:lnTo>
                    <a:pt x="2636698" y="3529313"/>
                  </a:lnTo>
                  <a:cubicBezTo>
                    <a:pt x="2646308" y="3529038"/>
                    <a:pt x="2655723" y="3528489"/>
                    <a:pt x="2665235" y="3528121"/>
                  </a:cubicBezTo>
                  <a:cubicBezTo>
                    <a:pt x="2674747" y="3527663"/>
                    <a:pt x="2684260" y="3527388"/>
                    <a:pt x="2693674" y="3526746"/>
                  </a:cubicBezTo>
                  <a:lnTo>
                    <a:pt x="2722016" y="3524546"/>
                  </a:lnTo>
                  <a:cubicBezTo>
                    <a:pt x="2759774" y="3521703"/>
                    <a:pt x="2797240" y="3516936"/>
                    <a:pt x="2834415" y="3511435"/>
                  </a:cubicBezTo>
                  <a:cubicBezTo>
                    <a:pt x="2983212" y="3488147"/>
                    <a:pt x="3126281" y="3442580"/>
                    <a:pt x="3262556" y="3378675"/>
                  </a:cubicBezTo>
                  <a:cubicBezTo>
                    <a:pt x="3399318" y="3315505"/>
                    <a:pt x="3529478" y="3234639"/>
                    <a:pt x="3658086" y="3145979"/>
                  </a:cubicBezTo>
                  <a:cubicBezTo>
                    <a:pt x="3690214" y="3123884"/>
                    <a:pt x="3722147" y="3100779"/>
                    <a:pt x="3753983" y="3077583"/>
                  </a:cubicBezTo>
                  <a:cubicBezTo>
                    <a:pt x="3786014" y="3054387"/>
                    <a:pt x="3817948" y="3030824"/>
                    <a:pt x="3849881" y="3006894"/>
                  </a:cubicBezTo>
                  <a:lnTo>
                    <a:pt x="3859024" y="2999988"/>
                  </a:lnTo>
                  <a:lnTo>
                    <a:pt x="3859024" y="3461786"/>
                  </a:lnTo>
                  <a:lnTo>
                    <a:pt x="3652845" y="3578823"/>
                  </a:lnTo>
                  <a:cubicBezTo>
                    <a:pt x="3574224" y="3619073"/>
                    <a:pt x="3492886" y="3656479"/>
                    <a:pt x="3408248" y="3688569"/>
                  </a:cubicBezTo>
                  <a:cubicBezTo>
                    <a:pt x="3239748" y="3753666"/>
                    <a:pt x="3058726" y="3797582"/>
                    <a:pt x="2875958" y="3814819"/>
                  </a:cubicBezTo>
                  <a:cubicBezTo>
                    <a:pt x="2830241" y="3818945"/>
                    <a:pt x="2784525" y="3822062"/>
                    <a:pt x="2738905" y="3822979"/>
                  </a:cubicBezTo>
                  <a:lnTo>
                    <a:pt x="2704642" y="3823712"/>
                  </a:lnTo>
                  <a:cubicBezTo>
                    <a:pt x="2693286" y="3823804"/>
                    <a:pt x="2681833" y="3823529"/>
                    <a:pt x="2670476" y="3823529"/>
                  </a:cubicBezTo>
                  <a:lnTo>
                    <a:pt x="2636408" y="3823162"/>
                  </a:lnTo>
                  <a:lnTo>
                    <a:pt x="2603310" y="3821971"/>
                  </a:lnTo>
                  <a:cubicBezTo>
                    <a:pt x="2515176" y="3819311"/>
                    <a:pt x="2426850" y="3812711"/>
                    <a:pt x="2338911" y="3802074"/>
                  </a:cubicBezTo>
                  <a:cubicBezTo>
                    <a:pt x="2250876" y="3791990"/>
                    <a:pt x="2163034" y="3777503"/>
                    <a:pt x="2076164" y="3758250"/>
                  </a:cubicBezTo>
                  <a:cubicBezTo>
                    <a:pt x="1989390" y="3738813"/>
                    <a:pt x="1903295" y="3715799"/>
                    <a:pt x="1818075" y="3689578"/>
                  </a:cubicBezTo>
                  <a:cubicBezTo>
                    <a:pt x="1647925" y="3636676"/>
                    <a:pt x="1479715" y="3570846"/>
                    <a:pt x="1324027" y="3483104"/>
                  </a:cubicBezTo>
                  <a:cubicBezTo>
                    <a:pt x="1168242" y="3395545"/>
                    <a:pt x="1029152" y="3284515"/>
                    <a:pt x="907727" y="3161658"/>
                  </a:cubicBezTo>
                  <a:cubicBezTo>
                    <a:pt x="846675" y="3100321"/>
                    <a:pt x="791155" y="3035041"/>
                    <a:pt x="738935" y="2968204"/>
                  </a:cubicBezTo>
                  <a:cubicBezTo>
                    <a:pt x="687008" y="2901090"/>
                    <a:pt x="637602" y="2832969"/>
                    <a:pt x="591498" y="2763380"/>
                  </a:cubicBezTo>
                  <a:cubicBezTo>
                    <a:pt x="579656" y="2746143"/>
                    <a:pt x="568494" y="2728631"/>
                    <a:pt x="557041" y="2711212"/>
                  </a:cubicBezTo>
                  <a:lnTo>
                    <a:pt x="524137" y="2660602"/>
                  </a:lnTo>
                  <a:cubicBezTo>
                    <a:pt x="503074" y="2627871"/>
                    <a:pt x="481236" y="2595414"/>
                    <a:pt x="459202" y="2562498"/>
                  </a:cubicBezTo>
                  <a:lnTo>
                    <a:pt x="324673" y="2362077"/>
                  </a:lnTo>
                  <a:cubicBezTo>
                    <a:pt x="279540" y="2293772"/>
                    <a:pt x="234988" y="2223449"/>
                    <a:pt x="193348" y="2150193"/>
                  </a:cubicBezTo>
                  <a:cubicBezTo>
                    <a:pt x="172576" y="2113519"/>
                    <a:pt x="152485" y="2076203"/>
                    <a:pt x="134141" y="2037880"/>
                  </a:cubicBezTo>
                  <a:cubicBezTo>
                    <a:pt x="115893" y="1999464"/>
                    <a:pt x="98907" y="1960315"/>
                    <a:pt x="83862" y="1920339"/>
                  </a:cubicBezTo>
                  <a:cubicBezTo>
                    <a:pt x="69108" y="1880274"/>
                    <a:pt x="56005" y="1839657"/>
                    <a:pt x="45329" y="1798399"/>
                  </a:cubicBezTo>
                  <a:cubicBezTo>
                    <a:pt x="40281" y="1777771"/>
                    <a:pt x="35137" y="1757049"/>
                    <a:pt x="30963" y="1736238"/>
                  </a:cubicBezTo>
                  <a:lnTo>
                    <a:pt x="24655" y="1705064"/>
                  </a:lnTo>
                  <a:lnTo>
                    <a:pt x="19413" y="1673800"/>
                  </a:lnTo>
                  <a:cubicBezTo>
                    <a:pt x="5727" y="1590367"/>
                    <a:pt x="0" y="1506476"/>
                    <a:pt x="0" y="1423317"/>
                  </a:cubicBezTo>
                  <a:cubicBezTo>
                    <a:pt x="388" y="1259661"/>
                    <a:pt x="18539" y="1096004"/>
                    <a:pt x="53870" y="935280"/>
                  </a:cubicBezTo>
                  <a:cubicBezTo>
                    <a:pt x="89104" y="774649"/>
                    <a:pt x="143070" y="617135"/>
                    <a:pt x="215770" y="467689"/>
                  </a:cubicBezTo>
                  <a:cubicBezTo>
                    <a:pt x="288809" y="318243"/>
                    <a:pt x="378252" y="176659"/>
                    <a:pt x="480592" y="43968"/>
                  </a:cubicBezTo>
                  <a:close/>
                </a:path>
              </a:pathLst>
            </a:custGeom>
            <a:gradFill>
              <a:gsLst>
                <a:gs pos="0">
                  <a:srgbClr val="FFFFFF">
                    <a:alpha val="10196"/>
                  </a:srgbClr>
                </a:gs>
                <a:gs pos="2000">
                  <a:srgbClr val="FFFFFF">
                    <a:alpha val="10196"/>
                  </a:srgbClr>
                </a:gs>
                <a:gs pos="16000">
                  <a:srgbClr val="4EA72E">
                    <a:alpha val="10196"/>
                  </a:srgbClr>
                </a:gs>
                <a:gs pos="85000">
                  <a:srgbClr val="156082">
                    <a:alpha val="10196"/>
                  </a:srgbClr>
                </a:gs>
                <a:gs pos="100000">
                  <a:srgbClr val="FFFFFF">
                    <a:alpha val="10196"/>
                  </a:srgbClr>
                </a:gs>
              </a:gsLst>
              <a:lin ang="12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80" name="Google Shape;580;p49"/>
            <p:cNvSpPr/>
            <p:nvPr/>
          </p:nvSpPr>
          <p:spPr>
            <a:xfrm>
              <a:off x="8328916" y="0"/>
              <a:ext cx="3860037" cy="3776788"/>
            </a:xfrm>
            <a:custGeom>
              <a:rect b="b" l="l" r="r" t="t"/>
              <a:pathLst>
                <a:path extrusionOk="0" h="3776788" w="3860037">
                  <a:moveTo>
                    <a:pt x="558050" y="0"/>
                  </a:moveTo>
                  <a:lnTo>
                    <a:pt x="1224060" y="0"/>
                  </a:lnTo>
                  <a:lnTo>
                    <a:pt x="1103279" y="106801"/>
                  </a:lnTo>
                  <a:cubicBezTo>
                    <a:pt x="936215" y="268568"/>
                    <a:pt x="800012" y="445084"/>
                    <a:pt x="697005" y="633564"/>
                  </a:cubicBezTo>
                  <a:cubicBezTo>
                    <a:pt x="556653" y="890464"/>
                    <a:pt x="485409" y="1158092"/>
                    <a:pt x="485409" y="1429020"/>
                  </a:cubicBezTo>
                  <a:cubicBezTo>
                    <a:pt x="485409" y="1701873"/>
                    <a:pt x="599069" y="1861221"/>
                    <a:pt x="835609" y="2167631"/>
                  </a:cubicBezTo>
                  <a:cubicBezTo>
                    <a:pt x="892682" y="2241529"/>
                    <a:pt x="951696" y="2317994"/>
                    <a:pt x="1012069" y="2402068"/>
                  </a:cubicBezTo>
                  <a:cubicBezTo>
                    <a:pt x="1473407" y="3044412"/>
                    <a:pt x="1968619" y="3318457"/>
                    <a:pt x="2667856" y="3318457"/>
                  </a:cubicBezTo>
                  <a:cubicBezTo>
                    <a:pt x="3069403" y="3318457"/>
                    <a:pt x="3377389" y="3147529"/>
                    <a:pt x="3757171" y="2876678"/>
                  </a:cubicBezTo>
                  <a:lnTo>
                    <a:pt x="3860037" y="2801824"/>
                  </a:lnTo>
                  <a:lnTo>
                    <a:pt x="3860037" y="3372874"/>
                  </a:lnTo>
                  <a:lnTo>
                    <a:pt x="3694757" y="3476377"/>
                  </a:lnTo>
                  <a:cubicBezTo>
                    <a:pt x="3392861" y="3653193"/>
                    <a:pt x="3067353" y="3776788"/>
                    <a:pt x="2667759" y="3776788"/>
                  </a:cubicBezTo>
                  <a:cubicBezTo>
                    <a:pt x="1719653" y="3776788"/>
                    <a:pt x="1104085" y="3346695"/>
                    <a:pt x="610425" y="2659336"/>
                  </a:cubicBezTo>
                  <a:cubicBezTo>
                    <a:pt x="314191" y="2246938"/>
                    <a:pt x="0" y="1964091"/>
                    <a:pt x="0" y="1428928"/>
                  </a:cubicBezTo>
                  <a:cubicBezTo>
                    <a:pt x="0" y="982968"/>
                    <a:pt x="151158" y="563404"/>
                    <a:pt x="405569" y="197288"/>
                  </a:cubicBezTo>
                  <a:close/>
                </a:path>
              </a:pathLst>
            </a:custGeom>
            <a:gradFill>
              <a:gsLst>
                <a:gs pos="0">
                  <a:srgbClr val="FFFFFF">
                    <a:alpha val="10196"/>
                  </a:srgbClr>
                </a:gs>
                <a:gs pos="2000">
                  <a:srgbClr val="FFFFFF">
                    <a:alpha val="10196"/>
                  </a:srgbClr>
                </a:gs>
                <a:gs pos="16000">
                  <a:srgbClr val="4EA72E">
                    <a:alpha val="10196"/>
                  </a:srgbClr>
                </a:gs>
                <a:gs pos="85000">
                  <a:srgbClr val="156082">
                    <a:alpha val="10196"/>
                  </a:srgbClr>
                </a:gs>
                <a:gs pos="100000">
                  <a:srgbClr val="FFFFFF">
                    <a:alpha val="10196"/>
                  </a:srgbClr>
                </a:gs>
              </a:gsLst>
              <a:lin ang="12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81" name="Google Shape;581;p49"/>
            <p:cNvSpPr/>
            <p:nvPr/>
          </p:nvSpPr>
          <p:spPr>
            <a:xfrm>
              <a:off x="8328916" y="0"/>
              <a:ext cx="3860037" cy="3776788"/>
            </a:xfrm>
            <a:custGeom>
              <a:rect b="b" l="l" r="r" t="t"/>
              <a:pathLst>
                <a:path extrusionOk="0" h="3776788" w="3860037">
                  <a:moveTo>
                    <a:pt x="558050" y="0"/>
                  </a:moveTo>
                  <a:lnTo>
                    <a:pt x="1370196" y="0"/>
                  </a:lnTo>
                  <a:lnTo>
                    <a:pt x="1343634" y="19644"/>
                  </a:lnTo>
                  <a:cubicBezTo>
                    <a:pt x="1106705" y="211357"/>
                    <a:pt x="912969" y="438184"/>
                    <a:pt x="783196" y="675555"/>
                  </a:cubicBezTo>
                  <a:cubicBezTo>
                    <a:pt x="649929" y="919345"/>
                    <a:pt x="582374" y="1172853"/>
                    <a:pt x="582374" y="1429020"/>
                  </a:cubicBezTo>
                  <a:cubicBezTo>
                    <a:pt x="582374" y="1673817"/>
                    <a:pt x="683999" y="1815838"/>
                    <a:pt x="913939" y="2113629"/>
                  </a:cubicBezTo>
                  <a:cubicBezTo>
                    <a:pt x="971497" y="2188169"/>
                    <a:pt x="1030996" y="2265275"/>
                    <a:pt x="1092340" y="2350634"/>
                  </a:cubicBezTo>
                  <a:cubicBezTo>
                    <a:pt x="1309274" y="2652643"/>
                    <a:pt x="1531839" y="2867368"/>
                    <a:pt x="1772941" y="3006913"/>
                  </a:cubicBezTo>
                  <a:cubicBezTo>
                    <a:pt x="2028506" y="3154891"/>
                    <a:pt x="2321246" y="3226772"/>
                    <a:pt x="2667759" y="3226772"/>
                  </a:cubicBezTo>
                  <a:cubicBezTo>
                    <a:pt x="2864407" y="3226772"/>
                    <a:pt x="3047273" y="3182305"/>
                    <a:pt x="3243339" y="3086769"/>
                  </a:cubicBezTo>
                  <a:cubicBezTo>
                    <a:pt x="3394318" y="3013193"/>
                    <a:pt x="3544153" y="2914345"/>
                    <a:pt x="3702873" y="2800709"/>
                  </a:cubicBezTo>
                  <a:lnTo>
                    <a:pt x="3860037" y="2686097"/>
                  </a:lnTo>
                  <a:lnTo>
                    <a:pt x="3860037" y="3372874"/>
                  </a:lnTo>
                  <a:lnTo>
                    <a:pt x="3694757" y="3476377"/>
                  </a:lnTo>
                  <a:cubicBezTo>
                    <a:pt x="3392861" y="3653193"/>
                    <a:pt x="3067353" y="3776788"/>
                    <a:pt x="2667759" y="3776788"/>
                  </a:cubicBezTo>
                  <a:cubicBezTo>
                    <a:pt x="1719653" y="3776788"/>
                    <a:pt x="1104085" y="3346695"/>
                    <a:pt x="610425" y="2659336"/>
                  </a:cubicBezTo>
                  <a:cubicBezTo>
                    <a:pt x="314191" y="2246938"/>
                    <a:pt x="0" y="1964091"/>
                    <a:pt x="0" y="1428928"/>
                  </a:cubicBezTo>
                  <a:cubicBezTo>
                    <a:pt x="0" y="982968"/>
                    <a:pt x="151158" y="563404"/>
                    <a:pt x="405569" y="197288"/>
                  </a:cubicBezTo>
                  <a:close/>
                </a:path>
              </a:pathLst>
            </a:custGeom>
            <a:gradFill>
              <a:gsLst>
                <a:gs pos="0">
                  <a:srgbClr val="FFFFFF">
                    <a:alpha val="10196"/>
                  </a:srgbClr>
                </a:gs>
                <a:gs pos="2000">
                  <a:srgbClr val="FFFFFF">
                    <a:alpha val="10196"/>
                  </a:srgbClr>
                </a:gs>
                <a:gs pos="16000">
                  <a:srgbClr val="4EA72E">
                    <a:alpha val="10196"/>
                  </a:srgbClr>
                </a:gs>
                <a:gs pos="85000">
                  <a:srgbClr val="156082">
                    <a:alpha val="10196"/>
                  </a:srgbClr>
                </a:gs>
                <a:gs pos="100000">
                  <a:srgbClr val="FFFFFF">
                    <a:alpha val="10196"/>
                  </a:srgbClr>
                </a:gs>
              </a:gsLst>
              <a:lin ang="1200000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pic>
        <p:nvPicPr>
          <p:cNvPr descr="Pre-Train BERT with Hugging Face Transformers and Habana Gaudi" id="582" name="Google Shape;582;p49"/>
          <p:cNvPicPr preferRelativeResize="0"/>
          <p:nvPr/>
        </p:nvPicPr>
        <p:blipFill rotWithShape="1">
          <a:blip r:embed="rId3">
            <a:alphaModFix/>
          </a:blip>
          <a:srcRect b="0" l="0" r="0" t="0"/>
          <a:stretch/>
        </p:blipFill>
        <p:spPr>
          <a:xfrm>
            <a:off x="242386" y="529511"/>
            <a:ext cx="4615930" cy="2238725"/>
          </a:xfrm>
          <a:prstGeom prst="rect">
            <a:avLst/>
          </a:prstGeom>
          <a:noFill/>
          <a:ln>
            <a:noFill/>
          </a:ln>
          <a:effectLst>
            <a:outerShdw blurRad="292100" rotWithShape="0" algn="tl" dir="2700000" dist="139700">
              <a:srgbClr val="333333">
                <a:alpha val="65098"/>
              </a:srgbClr>
            </a:outerShdw>
          </a:effectLst>
        </p:spPr>
      </p:pic>
      <p:pic>
        <p:nvPicPr>
          <p:cNvPr id="583" name="Google Shape;583;p49"/>
          <p:cNvPicPr preferRelativeResize="0"/>
          <p:nvPr/>
        </p:nvPicPr>
        <p:blipFill rotWithShape="1">
          <a:blip r:embed="rId4">
            <a:alphaModFix/>
          </a:blip>
          <a:srcRect b="0" l="0" r="0" t="0"/>
          <a:stretch/>
        </p:blipFill>
        <p:spPr>
          <a:xfrm>
            <a:off x="242386" y="3129913"/>
            <a:ext cx="5842759" cy="1256192"/>
          </a:xfrm>
          <a:prstGeom prst="rect">
            <a:avLst/>
          </a:prstGeom>
          <a:noFill/>
          <a:ln>
            <a:noFill/>
          </a:ln>
          <a:effectLst>
            <a:outerShdw blurRad="292100" rotWithShape="0" algn="tl" dir="2700000" dist="139700">
              <a:srgbClr val="333333">
                <a:alpha val="65098"/>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7" name="Shape 587"/>
        <p:cNvGrpSpPr/>
        <p:nvPr/>
      </p:nvGrpSpPr>
      <p:grpSpPr>
        <a:xfrm>
          <a:off x="0" y="0"/>
          <a:ext cx="0" cy="0"/>
          <a:chOff x="0" y="0"/>
          <a:chExt cx="0" cy="0"/>
        </a:xfrm>
      </p:grpSpPr>
      <p:sp>
        <p:nvSpPr>
          <p:cNvPr id="588" name="Google Shape;588;p50"/>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89" name="Google Shape;589;p50"/>
          <p:cNvSpPr txBox="1"/>
          <p:nvPr>
            <p:ph type="title"/>
          </p:nvPr>
        </p:nvSpPr>
        <p:spPr>
          <a:xfrm>
            <a:off x="322326" y="308610"/>
            <a:ext cx="8401050" cy="82981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Play"/>
              <a:buNone/>
            </a:pPr>
            <a:r>
              <a:rPr b="1" lang="uk" sz="2700"/>
              <a:t>Оцінка якості LLM</a:t>
            </a:r>
            <a:br>
              <a:rPr b="1" lang="uk" sz="2700"/>
            </a:br>
            <a:endParaRPr sz="2700"/>
          </a:p>
        </p:txBody>
      </p:sp>
      <p:sp>
        <p:nvSpPr>
          <p:cNvPr id="590" name="Google Shape;590;p50"/>
          <p:cNvSpPr/>
          <p:nvPr/>
        </p:nvSpPr>
        <p:spPr>
          <a:xfrm>
            <a:off x="0" y="448843"/>
            <a:ext cx="96012" cy="528066"/>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pic>
        <p:nvPicPr>
          <p:cNvPr descr="LLM Evaluation Metrics Explained: Accuracy, BLEU, ROUGE, and More » AIML  Insights" id="591" name="Google Shape;591;p50"/>
          <p:cNvPicPr preferRelativeResize="0"/>
          <p:nvPr/>
        </p:nvPicPr>
        <p:blipFill rotWithShape="1">
          <a:blip r:embed="rId3">
            <a:alphaModFix/>
          </a:blip>
          <a:srcRect b="0" l="0" r="0" t="0"/>
          <a:stretch/>
        </p:blipFill>
        <p:spPr>
          <a:xfrm>
            <a:off x="142901" y="1859887"/>
            <a:ext cx="5366844" cy="2723672"/>
          </a:xfrm>
          <a:prstGeom prst="rect">
            <a:avLst/>
          </a:prstGeom>
          <a:noFill/>
          <a:ln>
            <a:noFill/>
          </a:ln>
        </p:spPr>
      </p:pic>
      <p:sp>
        <p:nvSpPr>
          <p:cNvPr id="592" name="Google Shape;592;p50"/>
          <p:cNvSpPr/>
          <p:nvPr/>
        </p:nvSpPr>
        <p:spPr>
          <a:xfrm>
            <a:off x="5657851" y="1291442"/>
            <a:ext cx="3163824" cy="3390420"/>
          </a:xfrm>
          <a:prstGeom prst="rect">
            <a:avLst/>
          </a:prstGeom>
          <a:solidFill>
            <a:schemeClr val="lt1"/>
          </a:solidFill>
          <a:ln cap="flat" cmpd="sng" w="9525">
            <a:solidFill>
              <a:srgbClr val="DEDEDE"/>
            </a:solidFill>
            <a:prstDash val="solid"/>
            <a:miter lim="800000"/>
            <a:headEnd len="sm" w="sm" type="none"/>
            <a:tailEnd len="sm" w="sm" type="none"/>
          </a:ln>
          <a:effectLst>
            <a:outerShdw blurRad="50800" rotWithShape="0" algn="tl" dir="2700000" dist="38100">
              <a:srgbClr val="D8D8D8">
                <a:alpha val="50196"/>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grpSp>
        <p:nvGrpSpPr>
          <p:cNvPr id="593" name="Google Shape;593;p50"/>
          <p:cNvGrpSpPr/>
          <p:nvPr/>
        </p:nvGrpSpPr>
        <p:grpSpPr>
          <a:xfrm>
            <a:off x="5954064" y="1515980"/>
            <a:ext cx="2591323" cy="2968789"/>
            <a:chOff x="0" y="483"/>
            <a:chExt cx="3455097" cy="3958385"/>
          </a:xfrm>
        </p:grpSpPr>
        <p:cxnSp>
          <p:nvCxnSpPr>
            <p:cNvPr id="594" name="Google Shape;594;p50"/>
            <p:cNvCxnSpPr/>
            <p:nvPr/>
          </p:nvCxnSpPr>
          <p:spPr>
            <a:xfrm>
              <a:off x="0" y="483"/>
              <a:ext cx="3455097" cy="0"/>
            </a:xfrm>
            <a:prstGeom prst="straightConnector1">
              <a:avLst/>
            </a:prstGeom>
            <a:solidFill>
              <a:srgbClr val="A02891"/>
            </a:solidFill>
            <a:ln cap="flat" cmpd="sng" w="19050">
              <a:solidFill>
                <a:srgbClr val="A02891"/>
              </a:solidFill>
              <a:prstDash val="solid"/>
              <a:miter lim="800000"/>
              <a:headEnd len="sm" w="sm" type="none"/>
              <a:tailEnd len="sm" w="sm" type="none"/>
            </a:ln>
          </p:spPr>
        </p:cxnSp>
        <p:sp>
          <p:nvSpPr>
            <p:cNvPr id="595" name="Google Shape;595;p50"/>
            <p:cNvSpPr/>
            <p:nvPr/>
          </p:nvSpPr>
          <p:spPr>
            <a:xfrm>
              <a:off x="0" y="483"/>
              <a:ext cx="3455097" cy="79167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6" name="Google Shape;596;p50"/>
            <p:cNvSpPr txBox="1"/>
            <p:nvPr/>
          </p:nvSpPr>
          <p:spPr>
            <a:xfrm>
              <a:off x="0" y="483"/>
              <a:ext cx="3455097" cy="791677"/>
            </a:xfrm>
            <a:prstGeom prst="rect">
              <a:avLst/>
            </a:prstGeom>
            <a:noFill/>
            <a:ln>
              <a:noFill/>
            </a:ln>
          </p:spPr>
          <p:txBody>
            <a:bodyPr anchorCtr="0" anchor="t" bIns="62850" lIns="62850" spcFirstLastPara="1" rIns="62850" wrap="square" tIns="62850">
              <a:noAutofit/>
            </a:bodyPr>
            <a:lstStyle/>
            <a:p>
              <a:pPr indent="0" lvl="0" marL="0" marR="0" rtl="0" algn="l">
                <a:lnSpc>
                  <a:spcPct val="90000"/>
                </a:lnSpc>
                <a:spcBef>
                  <a:spcPts val="0"/>
                </a:spcBef>
                <a:spcAft>
                  <a:spcPts val="0"/>
                </a:spcAft>
                <a:buClr>
                  <a:schemeClr val="dk1"/>
                </a:buClr>
                <a:buSzPts val="1700"/>
                <a:buFont typeface="Arial"/>
                <a:buNone/>
              </a:pPr>
              <a:r>
                <a:rPr b="1" i="0" lang="uk" u="none" cap="none" strike="noStrike">
                  <a:solidFill>
                    <a:schemeClr val="dk1"/>
                  </a:solidFill>
                  <a:latin typeface="Arial"/>
                  <a:ea typeface="Arial"/>
                  <a:cs typeface="Arial"/>
                  <a:sym typeface="Arial"/>
                </a:rPr>
                <a:t>Perplexity</a:t>
              </a:r>
              <a:r>
                <a:rPr b="0" i="0" lang="uk" u="none" cap="none" strike="noStrike">
                  <a:solidFill>
                    <a:schemeClr val="dk1"/>
                  </a:solidFill>
                  <a:latin typeface="Arial"/>
                  <a:ea typeface="Arial"/>
                  <a:cs typeface="Arial"/>
                  <a:sym typeface="Arial"/>
                </a:rPr>
                <a:t> – здивованість моделі (нижче – краще).</a:t>
              </a:r>
              <a:endParaRPr b="0" i="0" u="none" cap="none" strike="noStrike">
                <a:solidFill>
                  <a:schemeClr val="dk1"/>
                </a:solidFill>
                <a:latin typeface="Arial"/>
                <a:ea typeface="Arial"/>
                <a:cs typeface="Arial"/>
                <a:sym typeface="Arial"/>
              </a:endParaRPr>
            </a:p>
          </p:txBody>
        </p:sp>
        <p:cxnSp>
          <p:nvCxnSpPr>
            <p:cNvPr id="597" name="Google Shape;597;p50"/>
            <p:cNvCxnSpPr/>
            <p:nvPr/>
          </p:nvCxnSpPr>
          <p:spPr>
            <a:xfrm>
              <a:off x="0" y="792160"/>
              <a:ext cx="3455097" cy="0"/>
            </a:xfrm>
            <a:prstGeom prst="straightConnector1">
              <a:avLst/>
            </a:prstGeom>
            <a:solidFill>
              <a:srgbClr val="4A2AA0"/>
            </a:solidFill>
            <a:ln cap="flat" cmpd="sng" w="19050">
              <a:solidFill>
                <a:srgbClr val="4A2AA0"/>
              </a:solidFill>
              <a:prstDash val="solid"/>
              <a:miter lim="800000"/>
              <a:headEnd len="sm" w="sm" type="none"/>
              <a:tailEnd len="sm" w="sm" type="none"/>
            </a:ln>
          </p:spPr>
        </p:cxnSp>
        <p:sp>
          <p:nvSpPr>
            <p:cNvPr id="598" name="Google Shape;598;p50"/>
            <p:cNvSpPr/>
            <p:nvPr/>
          </p:nvSpPr>
          <p:spPr>
            <a:xfrm>
              <a:off x="0" y="792160"/>
              <a:ext cx="3455097" cy="79167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9" name="Google Shape;599;p50"/>
            <p:cNvSpPr txBox="1"/>
            <p:nvPr/>
          </p:nvSpPr>
          <p:spPr>
            <a:xfrm>
              <a:off x="0" y="792160"/>
              <a:ext cx="3455097" cy="791677"/>
            </a:xfrm>
            <a:prstGeom prst="rect">
              <a:avLst/>
            </a:prstGeom>
            <a:noFill/>
            <a:ln>
              <a:noFill/>
            </a:ln>
          </p:spPr>
          <p:txBody>
            <a:bodyPr anchorCtr="0" anchor="t" bIns="62850" lIns="62850" spcFirstLastPara="1" rIns="62850" wrap="square" tIns="62850">
              <a:noAutofit/>
            </a:bodyPr>
            <a:lstStyle/>
            <a:p>
              <a:pPr indent="0" lvl="0" marL="0" marR="0" rtl="0" algn="l">
                <a:lnSpc>
                  <a:spcPct val="90000"/>
                </a:lnSpc>
                <a:spcBef>
                  <a:spcPts val="0"/>
                </a:spcBef>
                <a:spcAft>
                  <a:spcPts val="0"/>
                </a:spcAft>
                <a:buClr>
                  <a:schemeClr val="dk1"/>
                </a:buClr>
                <a:buSzPts val="1700"/>
                <a:buFont typeface="Arial"/>
                <a:buNone/>
              </a:pPr>
              <a:r>
                <a:rPr b="1" i="0" lang="uk" u="none" cap="none" strike="noStrike">
                  <a:solidFill>
                    <a:schemeClr val="dk1"/>
                  </a:solidFill>
                  <a:latin typeface="Arial"/>
                  <a:ea typeface="Arial"/>
                  <a:cs typeface="Arial"/>
                  <a:sym typeface="Arial"/>
                </a:rPr>
                <a:t>BLEU</a:t>
              </a:r>
              <a:r>
                <a:rPr b="0" i="0" lang="uk" u="none" cap="none" strike="noStrike">
                  <a:solidFill>
                    <a:schemeClr val="dk1"/>
                  </a:solidFill>
                  <a:latin typeface="Arial"/>
                  <a:ea typeface="Arial"/>
                  <a:cs typeface="Arial"/>
                  <a:sym typeface="Arial"/>
                </a:rPr>
                <a:t> – для перекладу.</a:t>
              </a:r>
              <a:endParaRPr b="0" i="0" u="none" cap="none" strike="noStrike">
                <a:solidFill>
                  <a:schemeClr val="dk1"/>
                </a:solidFill>
                <a:latin typeface="Arial"/>
                <a:ea typeface="Arial"/>
                <a:cs typeface="Arial"/>
                <a:sym typeface="Arial"/>
              </a:endParaRPr>
            </a:p>
          </p:txBody>
        </p:sp>
        <p:cxnSp>
          <p:nvCxnSpPr>
            <p:cNvPr id="600" name="Google Shape;600;p50"/>
            <p:cNvCxnSpPr/>
            <p:nvPr/>
          </p:nvCxnSpPr>
          <p:spPr>
            <a:xfrm>
              <a:off x="0" y="1583837"/>
              <a:ext cx="3455097" cy="0"/>
            </a:xfrm>
            <a:prstGeom prst="straightConnector1">
              <a:avLst/>
            </a:prstGeom>
            <a:solidFill>
              <a:srgbClr val="2B6FA2"/>
            </a:solidFill>
            <a:ln cap="flat" cmpd="sng" w="19050">
              <a:solidFill>
                <a:srgbClr val="2B6FA2"/>
              </a:solidFill>
              <a:prstDash val="solid"/>
              <a:miter lim="800000"/>
              <a:headEnd len="sm" w="sm" type="none"/>
              <a:tailEnd len="sm" w="sm" type="none"/>
            </a:ln>
          </p:spPr>
        </p:cxnSp>
        <p:sp>
          <p:nvSpPr>
            <p:cNvPr id="601" name="Google Shape;601;p50"/>
            <p:cNvSpPr/>
            <p:nvPr/>
          </p:nvSpPr>
          <p:spPr>
            <a:xfrm>
              <a:off x="0" y="1583837"/>
              <a:ext cx="3455097" cy="79167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2" name="Google Shape;602;p50"/>
            <p:cNvSpPr txBox="1"/>
            <p:nvPr/>
          </p:nvSpPr>
          <p:spPr>
            <a:xfrm>
              <a:off x="0" y="1583837"/>
              <a:ext cx="3455097" cy="791677"/>
            </a:xfrm>
            <a:prstGeom prst="rect">
              <a:avLst/>
            </a:prstGeom>
            <a:noFill/>
            <a:ln>
              <a:noFill/>
            </a:ln>
          </p:spPr>
          <p:txBody>
            <a:bodyPr anchorCtr="0" anchor="t" bIns="62850" lIns="62850" spcFirstLastPara="1" rIns="62850" wrap="square" tIns="62850">
              <a:noAutofit/>
            </a:bodyPr>
            <a:lstStyle/>
            <a:p>
              <a:pPr indent="0" lvl="0" marL="0" marR="0" rtl="0" algn="l">
                <a:lnSpc>
                  <a:spcPct val="90000"/>
                </a:lnSpc>
                <a:spcBef>
                  <a:spcPts val="0"/>
                </a:spcBef>
                <a:spcAft>
                  <a:spcPts val="0"/>
                </a:spcAft>
                <a:buClr>
                  <a:schemeClr val="dk1"/>
                </a:buClr>
                <a:buSzPts val="1700"/>
                <a:buFont typeface="Arial"/>
                <a:buNone/>
              </a:pPr>
              <a:r>
                <a:rPr b="1" i="0" lang="uk" u="none" cap="none" strike="noStrike">
                  <a:solidFill>
                    <a:schemeClr val="dk1"/>
                  </a:solidFill>
                  <a:latin typeface="Arial"/>
                  <a:ea typeface="Arial"/>
                  <a:cs typeface="Arial"/>
                  <a:sym typeface="Arial"/>
                </a:rPr>
                <a:t>ROUGE</a:t>
              </a:r>
              <a:r>
                <a:rPr b="0" i="0" lang="uk" u="none" cap="none" strike="noStrike">
                  <a:solidFill>
                    <a:schemeClr val="dk1"/>
                  </a:solidFill>
                  <a:latin typeface="Arial"/>
                  <a:ea typeface="Arial"/>
                  <a:cs typeface="Arial"/>
                  <a:sym typeface="Arial"/>
                </a:rPr>
                <a:t> – для узагальнення.</a:t>
              </a:r>
              <a:endParaRPr b="0" i="0" u="none" cap="none" strike="noStrike">
                <a:solidFill>
                  <a:schemeClr val="dk1"/>
                </a:solidFill>
                <a:latin typeface="Arial"/>
                <a:ea typeface="Arial"/>
                <a:cs typeface="Arial"/>
                <a:sym typeface="Arial"/>
              </a:endParaRPr>
            </a:p>
          </p:txBody>
        </p:sp>
        <p:cxnSp>
          <p:nvCxnSpPr>
            <p:cNvPr id="603" name="Google Shape;603;p50"/>
            <p:cNvCxnSpPr/>
            <p:nvPr/>
          </p:nvCxnSpPr>
          <p:spPr>
            <a:xfrm>
              <a:off x="0" y="2375514"/>
              <a:ext cx="3455097" cy="0"/>
            </a:xfrm>
            <a:prstGeom prst="straightConnector1">
              <a:avLst/>
            </a:prstGeom>
            <a:solidFill>
              <a:srgbClr val="2BA471"/>
            </a:solidFill>
            <a:ln cap="flat" cmpd="sng" w="19050">
              <a:solidFill>
                <a:srgbClr val="2BA471"/>
              </a:solidFill>
              <a:prstDash val="solid"/>
              <a:miter lim="800000"/>
              <a:headEnd len="sm" w="sm" type="none"/>
              <a:tailEnd len="sm" w="sm" type="none"/>
            </a:ln>
          </p:spPr>
        </p:cxnSp>
        <p:sp>
          <p:nvSpPr>
            <p:cNvPr id="604" name="Google Shape;604;p50"/>
            <p:cNvSpPr/>
            <p:nvPr/>
          </p:nvSpPr>
          <p:spPr>
            <a:xfrm>
              <a:off x="0" y="2375514"/>
              <a:ext cx="3455097" cy="79167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5" name="Google Shape;605;p50"/>
            <p:cNvSpPr txBox="1"/>
            <p:nvPr/>
          </p:nvSpPr>
          <p:spPr>
            <a:xfrm>
              <a:off x="0" y="2375514"/>
              <a:ext cx="3455097" cy="791677"/>
            </a:xfrm>
            <a:prstGeom prst="rect">
              <a:avLst/>
            </a:prstGeom>
            <a:noFill/>
            <a:ln>
              <a:noFill/>
            </a:ln>
          </p:spPr>
          <p:txBody>
            <a:bodyPr anchorCtr="0" anchor="t" bIns="62850" lIns="62850" spcFirstLastPara="1" rIns="62850" wrap="square" tIns="62850">
              <a:noAutofit/>
            </a:bodyPr>
            <a:lstStyle/>
            <a:p>
              <a:pPr indent="0" lvl="0" marL="0" marR="0" rtl="0" algn="l">
                <a:lnSpc>
                  <a:spcPct val="90000"/>
                </a:lnSpc>
                <a:spcBef>
                  <a:spcPts val="0"/>
                </a:spcBef>
                <a:spcAft>
                  <a:spcPts val="0"/>
                </a:spcAft>
                <a:buClr>
                  <a:schemeClr val="dk1"/>
                </a:buClr>
                <a:buSzPts val="1700"/>
                <a:buFont typeface="Arial"/>
                <a:buNone/>
              </a:pPr>
              <a:r>
                <a:rPr b="1" i="0" lang="uk" u="none" cap="none" strike="noStrike">
                  <a:solidFill>
                    <a:schemeClr val="dk1"/>
                  </a:solidFill>
                  <a:latin typeface="Arial"/>
                  <a:ea typeface="Arial"/>
                  <a:cs typeface="Arial"/>
                  <a:sym typeface="Arial"/>
                </a:rPr>
                <a:t>Human evaluation</a:t>
              </a:r>
              <a:r>
                <a:rPr b="0" i="0" lang="uk" u="none" cap="none" strike="noStrike">
                  <a:solidFill>
                    <a:schemeClr val="dk1"/>
                  </a:solidFill>
                  <a:latin typeface="Arial"/>
                  <a:ea typeface="Arial"/>
                  <a:cs typeface="Arial"/>
                  <a:sym typeface="Arial"/>
                </a:rPr>
                <a:t> – люди оцінюють корисність.</a:t>
              </a:r>
              <a:endParaRPr b="0" i="0" u="none" cap="none" strike="noStrike">
                <a:solidFill>
                  <a:schemeClr val="dk1"/>
                </a:solidFill>
                <a:latin typeface="Arial"/>
                <a:ea typeface="Arial"/>
                <a:cs typeface="Arial"/>
                <a:sym typeface="Arial"/>
              </a:endParaRPr>
            </a:p>
          </p:txBody>
        </p:sp>
        <p:cxnSp>
          <p:nvCxnSpPr>
            <p:cNvPr id="606" name="Google Shape;606;p50"/>
            <p:cNvCxnSpPr/>
            <p:nvPr/>
          </p:nvCxnSpPr>
          <p:spPr>
            <a:xfrm>
              <a:off x="0" y="3167191"/>
              <a:ext cx="3455097" cy="0"/>
            </a:xfrm>
            <a:prstGeom prst="straightConnector1">
              <a:avLst/>
            </a:prstGeom>
            <a:solidFill>
              <a:srgbClr val="4CA62C"/>
            </a:solidFill>
            <a:ln cap="flat" cmpd="sng" w="19050">
              <a:solidFill>
                <a:srgbClr val="4CA62C"/>
              </a:solidFill>
              <a:prstDash val="solid"/>
              <a:miter lim="800000"/>
              <a:headEnd len="sm" w="sm" type="none"/>
              <a:tailEnd len="sm" w="sm" type="none"/>
            </a:ln>
          </p:spPr>
        </p:cxnSp>
        <p:sp>
          <p:nvSpPr>
            <p:cNvPr id="607" name="Google Shape;607;p50"/>
            <p:cNvSpPr/>
            <p:nvPr/>
          </p:nvSpPr>
          <p:spPr>
            <a:xfrm>
              <a:off x="0" y="3167191"/>
              <a:ext cx="3455097" cy="79167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8" name="Google Shape;608;p50"/>
            <p:cNvSpPr txBox="1"/>
            <p:nvPr/>
          </p:nvSpPr>
          <p:spPr>
            <a:xfrm>
              <a:off x="0" y="3167191"/>
              <a:ext cx="3455097" cy="791677"/>
            </a:xfrm>
            <a:prstGeom prst="rect">
              <a:avLst/>
            </a:prstGeom>
            <a:noFill/>
            <a:ln>
              <a:noFill/>
            </a:ln>
          </p:spPr>
          <p:txBody>
            <a:bodyPr anchorCtr="0" anchor="t" bIns="62850" lIns="62850" spcFirstLastPara="1" rIns="62850" wrap="square" tIns="62850">
              <a:noAutofit/>
            </a:bodyPr>
            <a:lstStyle/>
            <a:p>
              <a:pPr indent="0" lvl="0" marL="0" marR="0" rtl="0" algn="l">
                <a:lnSpc>
                  <a:spcPct val="90000"/>
                </a:lnSpc>
                <a:spcBef>
                  <a:spcPts val="0"/>
                </a:spcBef>
                <a:spcAft>
                  <a:spcPts val="0"/>
                </a:spcAft>
                <a:buClr>
                  <a:schemeClr val="dk1"/>
                </a:buClr>
                <a:buSzPts val="1700"/>
                <a:buFont typeface="Arial"/>
                <a:buNone/>
              </a:pPr>
              <a:r>
                <a:rPr b="1" i="0" lang="uk" u="none" cap="none" strike="noStrike">
                  <a:solidFill>
                    <a:schemeClr val="dk1"/>
                  </a:solidFill>
                  <a:latin typeface="Arial"/>
                  <a:ea typeface="Arial"/>
                  <a:cs typeface="Arial"/>
                  <a:sym typeface="Arial"/>
                </a:rPr>
                <a:t>MMLU, HellaSwag, GSM8K</a:t>
              </a:r>
              <a:r>
                <a:rPr b="0" i="0" lang="uk" u="none" cap="none" strike="noStrike">
                  <a:solidFill>
                    <a:schemeClr val="dk1"/>
                  </a:solidFill>
                  <a:latin typeface="Arial"/>
                  <a:ea typeface="Arial"/>
                  <a:cs typeface="Arial"/>
                  <a:sym typeface="Arial"/>
                </a:rPr>
                <a:t> – бенчмарки.</a:t>
              </a:r>
              <a:endParaRPr b="0" i="0" u="none" cap="none" strike="noStrike">
                <a:solidFill>
                  <a:schemeClr val="dk1"/>
                </a:solidFill>
                <a:latin typeface="Arial"/>
                <a:ea typeface="Arial"/>
                <a:cs typeface="Arial"/>
                <a:sym typeface="Arial"/>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2" name="Shape 612"/>
        <p:cNvGrpSpPr/>
        <p:nvPr/>
      </p:nvGrpSpPr>
      <p:grpSpPr>
        <a:xfrm>
          <a:off x="0" y="0"/>
          <a:ext cx="0" cy="0"/>
          <a:chOff x="0" y="0"/>
          <a:chExt cx="0" cy="0"/>
        </a:xfrm>
      </p:grpSpPr>
      <p:sp>
        <p:nvSpPr>
          <p:cNvPr id="613" name="Google Shape;613;p51"/>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14" name="Google Shape;614;p51"/>
          <p:cNvSpPr/>
          <p:nvPr/>
        </p:nvSpPr>
        <p:spPr>
          <a:xfrm>
            <a:off x="307181" y="475214"/>
            <a:ext cx="3209537" cy="4121944"/>
          </a:xfrm>
          <a:prstGeom prst="rect">
            <a:avLst/>
          </a:prstGeom>
          <a:solidFill>
            <a:schemeClr val="lt1"/>
          </a:solidFill>
          <a:ln cap="flat" cmpd="sng" w="9525">
            <a:solidFill>
              <a:srgbClr val="DEDEDE"/>
            </a:solidFill>
            <a:prstDash val="solid"/>
            <a:miter lim="800000"/>
            <a:headEnd len="sm" w="sm" type="none"/>
            <a:tailEnd len="sm" w="sm" type="none"/>
          </a:ln>
          <a:effectLst>
            <a:outerShdw blurRad="50800" rotWithShape="0" algn="tl" dir="2700000" dist="38100">
              <a:srgbClr val="D8D8D8">
                <a:alpha val="50196"/>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615" name="Google Shape;615;p51"/>
          <p:cNvSpPr txBox="1"/>
          <p:nvPr>
            <p:ph type="title"/>
          </p:nvPr>
        </p:nvSpPr>
        <p:spPr>
          <a:xfrm>
            <a:off x="630935" y="733964"/>
            <a:ext cx="2558034" cy="82981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500"/>
              <a:buFont typeface="Play"/>
              <a:buNone/>
            </a:pPr>
            <a:r>
              <a:rPr b="1" lang="uk" sz="1500"/>
              <a:t> Виклики LLM (галюцинації, упередження)</a:t>
            </a:r>
            <a:br>
              <a:rPr b="1" lang="uk" sz="1500"/>
            </a:br>
            <a:endParaRPr sz="1500"/>
          </a:p>
        </p:txBody>
      </p:sp>
      <p:sp>
        <p:nvSpPr>
          <p:cNvPr id="616" name="Google Shape;616;p51"/>
          <p:cNvSpPr/>
          <p:nvPr/>
        </p:nvSpPr>
        <p:spPr>
          <a:xfrm>
            <a:off x="259175" y="878475"/>
            <a:ext cx="96012" cy="528066"/>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sp>
        <p:nvSpPr>
          <p:cNvPr id="617" name="Google Shape;617;p51"/>
          <p:cNvSpPr/>
          <p:nvPr/>
        </p:nvSpPr>
        <p:spPr>
          <a:xfrm>
            <a:off x="658094" y="1570482"/>
            <a:ext cx="2496312" cy="6858"/>
          </a:xfrm>
          <a:prstGeom prst="rect">
            <a:avLst/>
          </a:prstGeom>
          <a:solidFill>
            <a:srgbClr val="D5D5D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pic>
        <p:nvPicPr>
          <p:cNvPr descr="Mastering AI Risks: Safely Managing Hallucinations &amp; Bias [2025 Guide] -  myGPT" id="618" name="Google Shape;618;p51"/>
          <p:cNvPicPr preferRelativeResize="0"/>
          <p:nvPr/>
        </p:nvPicPr>
        <p:blipFill rotWithShape="1">
          <a:blip r:embed="rId3">
            <a:alphaModFix/>
          </a:blip>
          <a:srcRect b="0" l="0" r="0" t="0"/>
          <a:stretch/>
        </p:blipFill>
        <p:spPr>
          <a:xfrm>
            <a:off x="3844195" y="1253786"/>
            <a:ext cx="4992624" cy="2786580"/>
          </a:xfrm>
          <a:prstGeom prst="rect">
            <a:avLst/>
          </a:prstGeom>
          <a:noFill/>
          <a:ln>
            <a:noFill/>
          </a:ln>
          <a:effectLst>
            <a:outerShdw blurRad="292100" rotWithShape="0" algn="tl" dir="2700000" dist="139700">
              <a:srgbClr val="333333">
                <a:alpha val="65098"/>
              </a:srgbClr>
            </a:outerShdw>
          </a:effectLst>
        </p:spPr>
      </p:pic>
      <p:grpSp>
        <p:nvGrpSpPr>
          <p:cNvPr id="619" name="Google Shape;619;p51"/>
          <p:cNvGrpSpPr/>
          <p:nvPr/>
        </p:nvGrpSpPr>
        <p:grpSpPr>
          <a:xfrm>
            <a:off x="630936" y="1689653"/>
            <a:ext cx="2559164" cy="2670188"/>
            <a:chOff x="0" y="0"/>
            <a:chExt cx="3412219" cy="3560250"/>
          </a:xfrm>
        </p:grpSpPr>
        <p:cxnSp>
          <p:nvCxnSpPr>
            <p:cNvPr id="620" name="Google Shape;620;p51"/>
            <p:cNvCxnSpPr/>
            <p:nvPr/>
          </p:nvCxnSpPr>
          <p:spPr>
            <a:xfrm>
              <a:off x="0" y="0"/>
              <a:ext cx="3412219" cy="0"/>
            </a:xfrm>
            <a:prstGeom prst="straightConnector1">
              <a:avLst/>
            </a:prstGeom>
            <a:solidFill>
              <a:srgbClr val="E97131"/>
            </a:solidFill>
            <a:ln cap="flat" cmpd="sng" w="19050">
              <a:solidFill>
                <a:srgbClr val="E97131"/>
              </a:solidFill>
              <a:prstDash val="solid"/>
              <a:miter lim="800000"/>
              <a:headEnd len="sm" w="sm" type="none"/>
              <a:tailEnd len="sm" w="sm" type="none"/>
            </a:ln>
          </p:spPr>
        </p:cxnSp>
        <p:sp>
          <p:nvSpPr>
            <p:cNvPr id="621" name="Google Shape;621;p51"/>
            <p:cNvSpPr/>
            <p:nvPr/>
          </p:nvSpPr>
          <p:spPr>
            <a:xfrm>
              <a:off x="0" y="0"/>
              <a:ext cx="3412219" cy="890062"/>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22" name="Google Shape;622;p51"/>
            <p:cNvSpPr txBox="1"/>
            <p:nvPr/>
          </p:nvSpPr>
          <p:spPr>
            <a:xfrm>
              <a:off x="0" y="0"/>
              <a:ext cx="3412219" cy="890062"/>
            </a:xfrm>
            <a:prstGeom prst="rect">
              <a:avLst/>
            </a:prstGeom>
            <a:noFill/>
            <a:ln>
              <a:noFill/>
            </a:ln>
          </p:spPr>
          <p:txBody>
            <a:bodyPr anchorCtr="0" anchor="t" bIns="48575" lIns="48575" spcFirstLastPara="1" rIns="48575" wrap="square" tIns="48575">
              <a:noAutofit/>
            </a:bodyPr>
            <a:lstStyle/>
            <a:p>
              <a:pPr indent="0" lvl="0" marL="0" marR="0" rtl="0" algn="l">
                <a:lnSpc>
                  <a:spcPct val="90000"/>
                </a:lnSpc>
                <a:spcBef>
                  <a:spcPts val="0"/>
                </a:spcBef>
                <a:spcAft>
                  <a:spcPts val="0"/>
                </a:spcAft>
                <a:buClr>
                  <a:schemeClr val="dk1"/>
                </a:buClr>
                <a:buSzPts val="1300"/>
                <a:buFont typeface="Arial"/>
                <a:buNone/>
              </a:pPr>
              <a:r>
                <a:rPr b="1" i="0" lang="uk" sz="1200" u="none" cap="none" strike="noStrike">
                  <a:solidFill>
                    <a:schemeClr val="dk1"/>
                  </a:solidFill>
                  <a:latin typeface="Arial"/>
                  <a:ea typeface="Arial"/>
                  <a:cs typeface="Arial"/>
                  <a:sym typeface="Arial"/>
                </a:rPr>
                <a:t>Галюцинації</a:t>
              </a:r>
              <a:r>
                <a:rPr b="0" i="0" lang="uk" sz="1200" u="none" cap="none" strike="noStrike">
                  <a:solidFill>
                    <a:schemeClr val="dk1"/>
                  </a:solidFill>
                  <a:latin typeface="Arial"/>
                  <a:ea typeface="Arial"/>
                  <a:cs typeface="Arial"/>
                  <a:sym typeface="Arial"/>
                </a:rPr>
                <a:t> – модель впевнено генерує неправдиву інформацію.</a:t>
              </a:r>
              <a:endParaRPr b="0" i="0" sz="1200" u="none" cap="none" strike="noStrike">
                <a:solidFill>
                  <a:schemeClr val="dk1"/>
                </a:solidFill>
                <a:latin typeface="Arial"/>
                <a:ea typeface="Arial"/>
                <a:cs typeface="Arial"/>
                <a:sym typeface="Arial"/>
              </a:endParaRPr>
            </a:p>
          </p:txBody>
        </p:sp>
        <p:cxnSp>
          <p:nvCxnSpPr>
            <p:cNvPr id="623" name="Google Shape;623;p51"/>
            <p:cNvCxnSpPr/>
            <p:nvPr/>
          </p:nvCxnSpPr>
          <p:spPr>
            <a:xfrm>
              <a:off x="0" y="890062"/>
              <a:ext cx="3412219" cy="0"/>
            </a:xfrm>
            <a:prstGeom prst="straightConnector1">
              <a:avLst/>
            </a:prstGeom>
            <a:solidFill>
              <a:srgbClr val="176B22"/>
            </a:solidFill>
            <a:ln cap="flat" cmpd="sng" w="19050">
              <a:solidFill>
                <a:srgbClr val="176B22"/>
              </a:solidFill>
              <a:prstDash val="solid"/>
              <a:miter lim="800000"/>
              <a:headEnd len="sm" w="sm" type="none"/>
              <a:tailEnd len="sm" w="sm" type="none"/>
            </a:ln>
          </p:spPr>
        </p:cxnSp>
        <p:sp>
          <p:nvSpPr>
            <p:cNvPr id="624" name="Google Shape;624;p51"/>
            <p:cNvSpPr/>
            <p:nvPr/>
          </p:nvSpPr>
          <p:spPr>
            <a:xfrm>
              <a:off x="0" y="890062"/>
              <a:ext cx="3412219" cy="890062"/>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25" name="Google Shape;625;p51"/>
            <p:cNvSpPr txBox="1"/>
            <p:nvPr/>
          </p:nvSpPr>
          <p:spPr>
            <a:xfrm>
              <a:off x="0" y="890062"/>
              <a:ext cx="3412219" cy="890062"/>
            </a:xfrm>
            <a:prstGeom prst="rect">
              <a:avLst/>
            </a:prstGeom>
            <a:noFill/>
            <a:ln>
              <a:noFill/>
            </a:ln>
          </p:spPr>
          <p:txBody>
            <a:bodyPr anchorCtr="0" anchor="t" bIns="48575" lIns="48575" spcFirstLastPara="1" rIns="48575" wrap="square" tIns="48575">
              <a:noAutofit/>
            </a:bodyPr>
            <a:lstStyle/>
            <a:p>
              <a:pPr indent="0" lvl="0" marL="0" marR="0" rtl="0" algn="l">
                <a:lnSpc>
                  <a:spcPct val="90000"/>
                </a:lnSpc>
                <a:spcBef>
                  <a:spcPts val="0"/>
                </a:spcBef>
                <a:spcAft>
                  <a:spcPts val="0"/>
                </a:spcAft>
                <a:buClr>
                  <a:schemeClr val="dk1"/>
                </a:buClr>
                <a:buSzPts val="1300"/>
                <a:buFont typeface="Arial"/>
                <a:buNone/>
              </a:pPr>
              <a:r>
                <a:rPr b="1" i="0" lang="uk" sz="1200" u="none" cap="none" strike="noStrike">
                  <a:solidFill>
                    <a:schemeClr val="dk1"/>
                  </a:solidFill>
                  <a:latin typeface="Arial"/>
                  <a:ea typeface="Arial"/>
                  <a:cs typeface="Arial"/>
                  <a:sym typeface="Arial"/>
                </a:rPr>
                <a:t>Упередження</a:t>
              </a:r>
              <a:r>
                <a:rPr b="0" i="0" lang="uk" sz="1200" u="none" cap="none" strike="noStrike">
                  <a:solidFill>
                    <a:schemeClr val="dk1"/>
                  </a:solidFill>
                  <a:latin typeface="Arial"/>
                  <a:ea typeface="Arial"/>
                  <a:cs typeface="Arial"/>
                  <a:sym typeface="Arial"/>
                </a:rPr>
                <a:t> (bias) – відтворення стереотипів з даних навчання.</a:t>
              </a:r>
              <a:endParaRPr b="0" i="0" sz="1200" u="none" cap="none" strike="noStrike">
                <a:solidFill>
                  <a:schemeClr val="dk1"/>
                </a:solidFill>
                <a:latin typeface="Arial"/>
                <a:ea typeface="Arial"/>
                <a:cs typeface="Arial"/>
                <a:sym typeface="Arial"/>
              </a:endParaRPr>
            </a:p>
          </p:txBody>
        </p:sp>
        <p:cxnSp>
          <p:nvCxnSpPr>
            <p:cNvPr id="626" name="Google Shape;626;p51"/>
            <p:cNvCxnSpPr/>
            <p:nvPr/>
          </p:nvCxnSpPr>
          <p:spPr>
            <a:xfrm>
              <a:off x="0" y="1780125"/>
              <a:ext cx="3412219" cy="0"/>
            </a:xfrm>
            <a:prstGeom prst="straightConnector1">
              <a:avLst/>
            </a:prstGeom>
            <a:solidFill>
              <a:srgbClr val="0C9ED5"/>
            </a:solidFill>
            <a:ln cap="flat" cmpd="sng" w="19050">
              <a:solidFill>
                <a:srgbClr val="0C9ED5"/>
              </a:solidFill>
              <a:prstDash val="solid"/>
              <a:miter lim="800000"/>
              <a:headEnd len="sm" w="sm" type="none"/>
              <a:tailEnd len="sm" w="sm" type="none"/>
            </a:ln>
          </p:spPr>
        </p:cxnSp>
        <p:sp>
          <p:nvSpPr>
            <p:cNvPr id="627" name="Google Shape;627;p51"/>
            <p:cNvSpPr/>
            <p:nvPr/>
          </p:nvSpPr>
          <p:spPr>
            <a:xfrm>
              <a:off x="0" y="1780125"/>
              <a:ext cx="3412219" cy="890062"/>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28" name="Google Shape;628;p51"/>
            <p:cNvSpPr txBox="1"/>
            <p:nvPr/>
          </p:nvSpPr>
          <p:spPr>
            <a:xfrm>
              <a:off x="0" y="1780125"/>
              <a:ext cx="3412219" cy="890062"/>
            </a:xfrm>
            <a:prstGeom prst="rect">
              <a:avLst/>
            </a:prstGeom>
            <a:noFill/>
            <a:ln>
              <a:noFill/>
            </a:ln>
          </p:spPr>
          <p:txBody>
            <a:bodyPr anchorCtr="0" anchor="t" bIns="48575" lIns="48575" spcFirstLastPara="1" rIns="48575" wrap="square" tIns="48575">
              <a:noAutofit/>
            </a:bodyPr>
            <a:lstStyle/>
            <a:p>
              <a:pPr indent="0" lvl="0" marL="0" marR="0" rtl="0" algn="l">
                <a:lnSpc>
                  <a:spcPct val="90000"/>
                </a:lnSpc>
                <a:spcBef>
                  <a:spcPts val="0"/>
                </a:spcBef>
                <a:spcAft>
                  <a:spcPts val="0"/>
                </a:spcAft>
                <a:buClr>
                  <a:schemeClr val="dk1"/>
                </a:buClr>
                <a:buSzPts val="1300"/>
                <a:buFont typeface="Arial"/>
                <a:buNone/>
              </a:pPr>
              <a:r>
                <a:rPr b="1" i="0" lang="uk" sz="1200" u="none" cap="none" strike="noStrike">
                  <a:solidFill>
                    <a:schemeClr val="dk1"/>
                  </a:solidFill>
                  <a:latin typeface="Arial"/>
                  <a:ea typeface="Arial"/>
                  <a:cs typeface="Arial"/>
                  <a:sym typeface="Arial"/>
                </a:rPr>
                <a:t>Безпека</a:t>
              </a:r>
              <a:r>
                <a:rPr b="0" i="0" lang="uk" sz="1200" u="none" cap="none" strike="noStrike">
                  <a:solidFill>
                    <a:schemeClr val="dk1"/>
                  </a:solidFill>
                  <a:latin typeface="Arial"/>
                  <a:ea typeface="Arial"/>
                  <a:cs typeface="Arial"/>
                  <a:sym typeface="Arial"/>
                </a:rPr>
                <a:t> – можливість генерувати шкідливий контент.</a:t>
              </a:r>
              <a:endParaRPr b="0" i="0" sz="1200" u="none" cap="none" strike="noStrike">
                <a:solidFill>
                  <a:schemeClr val="dk1"/>
                </a:solidFill>
                <a:latin typeface="Arial"/>
                <a:ea typeface="Arial"/>
                <a:cs typeface="Arial"/>
                <a:sym typeface="Arial"/>
              </a:endParaRPr>
            </a:p>
          </p:txBody>
        </p:sp>
        <p:cxnSp>
          <p:nvCxnSpPr>
            <p:cNvPr id="629" name="Google Shape;629;p51"/>
            <p:cNvCxnSpPr/>
            <p:nvPr/>
          </p:nvCxnSpPr>
          <p:spPr>
            <a:xfrm>
              <a:off x="0" y="2670188"/>
              <a:ext cx="3412219" cy="0"/>
            </a:xfrm>
            <a:prstGeom prst="straightConnector1">
              <a:avLst/>
            </a:prstGeom>
            <a:solidFill>
              <a:srgbClr val="A02891"/>
            </a:solidFill>
            <a:ln cap="flat" cmpd="sng" w="19050">
              <a:solidFill>
                <a:srgbClr val="A02891"/>
              </a:solidFill>
              <a:prstDash val="solid"/>
              <a:miter lim="800000"/>
              <a:headEnd len="sm" w="sm" type="none"/>
              <a:tailEnd len="sm" w="sm" type="none"/>
            </a:ln>
          </p:spPr>
        </p:cxnSp>
        <p:sp>
          <p:nvSpPr>
            <p:cNvPr id="630" name="Google Shape;630;p51"/>
            <p:cNvSpPr/>
            <p:nvPr/>
          </p:nvSpPr>
          <p:spPr>
            <a:xfrm>
              <a:off x="0" y="2670188"/>
              <a:ext cx="3412219" cy="890062"/>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31" name="Google Shape;631;p51"/>
            <p:cNvSpPr txBox="1"/>
            <p:nvPr/>
          </p:nvSpPr>
          <p:spPr>
            <a:xfrm>
              <a:off x="0" y="2670188"/>
              <a:ext cx="3412219" cy="890062"/>
            </a:xfrm>
            <a:prstGeom prst="rect">
              <a:avLst/>
            </a:prstGeom>
            <a:noFill/>
            <a:ln>
              <a:noFill/>
            </a:ln>
          </p:spPr>
          <p:txBody>
            <a:bodyPr anchorCtr="0" anchor="t" bIns="48575" lIns="48575" spcFirstLastPara="1" rIns="48575" wrap="square" tIns="48575">
              <a:noAutofit/>
            </a:bodyPr>
            <a:lstStyle/>
            <a:p>
              <a:pPr indent="0" lvl="0" marL="0" marR="0" rtl="0" algn="l">
                <a:lnSpc>
                  <a:spcPct val="90000"/>
                </a:lnSpc>
                <a:spcBef>
                  <a:spcPts val="0"/>
                </a:spcBef>
                <a:spcAft>
                  <a:spcPts val="0"/>
                </a:spcAft>
                <a:buClr>
                  <a:schemeClr val="dk1"/>
                </a:buClr>
                <a:buSzPts val="1300"/>
                <a:buFont typeface="Arial"/>
                <a:buNone/>
              </a:pPr>
              <a:r>
                <a:rPr b="1" i="0" lang="uk" sz="1200" u="none" cap="none" strike="noStrike">
                  <a:solidFill>
                    <a:schemeClr val="dk1"/>
                  </a:solidFill>
                  <a:latin typeface="Arial"/>
                  <a:ea typeface="Arial"/>
                  <a:cs typeface="Arial"/>
                  <a:sym typeface="Arial"/>
                </a:rPr>
                <a:t>Вартість</a:t>
              </a:r>
              <a:r>
                <a:rPr b="0" i="0" lang="uk" sz="1200" u="none" cap="none" strike="noStrike">
                  <a:solidFill>
                    <a:schemeClr val="dk1"/>
                  </a:solidFill>
                  <a:latin typeface="Arial"/>
                  <a:ea typeface="Arial"/>
                  <a:cs typeface="Arial"/>
                  <a:sym typeface="Arial"/>
                </a:rPr>
                <a:t> – навчання коштує мільйони доларів.</a:t>
              </a:r>
              <a:endParaRPr b="0" i="0" sz="1200" u="none" cap="none" strike="noStrike">
                <a:solidFill>
                  <a:schemeClr val="dk1"/>
                </a:solidFill>
                <a:latin typeface="Arial"/>
                <a:ea typeface="Arial"/>
                <a:cs typeface="Arial"/>
                <a:sym typeface="Arial"/>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5" name="Shape 635"/>
        <p:cNvGrpSpPr/>
        <p:nvPr/>
      </p:nvGrpSpPr>
      <p:grpSpPr>
        <a:xfrm>
          <a:off x="0" y="0"/>
          <a:ext cx="0" cy="0"/>
          <a:chOff x="0" y="0"/>
          <a:chExt cx="0" cy="0"/>
        </a:xfrm>
      </p:grpSpPr>
      <p:sp>
        <p:nvSpPr>
          <p:cNvPr id="636" name="Google Shape;636;p52"/>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37" name="Google Shape;637;p52"/>
          <p:cNvSpPr/>
          <p:nvPr/>
        </p:nvSpPr>
        <p:spPr>
          <a:xfrm>
            <a:off x="-1" y="0"/>
            <a:ext cx="3614167" cy="5143500"/>
          </a:xfrm>
          <a:custGeom>
            <a:rect b="b" l="l" r="r" t="t"/>
            <a:pathLst>
              <a:path extrusionOk="0" h="6858000" w="4818889">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solidFill>
            <a:schemeClr val="lt1"/>
          </a:solidFill>
          <a:ln cap="flat" cmpd="sng" w="9525">
            <a:solidFill>
              <a:srgbClr val="EFEFEF"/>
            </a:solidFill>
            <a:prstDash val="solid"/>
            <a:miter lim="800000"/>
            <a:headEnd len="sm" w="sm" type="none"/>
            <a:tailEnd len="sm" w="sm" type="none"/>
          </a:ln>
          <a:effectLst>
            <a:outerShdw blurRad="88900" rotWithShape="0" algn="l" dist="38100">
              <a:srgbClr val="D8D8D8">
                <a:alpha val="50196"/>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638" name="Google Shape;638;p52"/>
          <p:cNvSpPr/>
          <p:nvPr/>
        </p:nvSpPr>
        <p:spPr>
          <a:xfrm>
            <a:off x="1" y="0"/>
            <a:ext cx="3608608" cy="5143500"/>
          </a:xfrm>
          <a:custGeom>
            <a:rect b="b" l="l" r="r" t="t"/>
            <a:pathLst>
              <a:path extrusionOk="0" h="6858000" w="4811477">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639" name="Google Shape;639;p52"/>
          <p:cNvSpPr txBox="1"/>
          <p:nvPr>
            <p:ph type="title"/>
          </p:nvPr>
        </p:nvSpPr>
        <p:spPr>
          <a:xfrm>
            <a:off x="466344" y="870966"/>
            <a:ext cx="2702052" cy="339471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600"/>
              <a:buFont typeface="Play"/>
              <a:buNone/>
            </a:pPr>
            <a:r>
              <a:rPr b="1" lang="uk" sz="2600"/>
              <a:t>Коли використовувати LLM?</a:t>
            </a:r>
            <a:br>
              <a:rPr b="1" lang="uk" sz="2600"/>
            </a:br>
            <a:endParaRPr sz="2600"/>
          </a:p>
        </p:txBody>
      </p:sp>
      <p:sp>
        <p:nvSpPr>
          <p:cNvPr id="640" name="Google Shape;640;p52"/>
          <p:cNvSpPr/>
          <p:nvPr/>
        </p:nvSpPr>
        <p:spPr>
          <a:xfrm>
            <a:off x="0" y="2311146"/>
            <a:ext cx="96012" cy="528066"/>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grpSp>
        <p:nvGrpSpPr>
          <p:cNvPr id="641" name="Google Shape;641;p52"/>
          <p:cNvGrpSpPr/>
          <p:nvPr/>
        </p:nvGrpSpPr>
        <p:grpSpPr>
          <a:xfrm>
            <a:off x="4333515" y="548432"/>
            <a:ext cx="4061417" cy="4053638"/>
            <a:chOff x="474500" y="54586"/>
            <a:chExt cx="5415223" cy="5404850"/>
          </a:xfrm>
        </p:grpSpPr>
        <p:sp>
          <p:nvSpPr>
            <p:cNvPr id="642" name="Google Shape;642;p52"/>
            <p:cNvSpPr/>
            <p:nvPr/>
          </p:nvSpPr>
          <p:spPr>
            <a:xfrm>
              <a:off x="931365" y="341306"/>
              <a:ext cx="4631618" cy="4631618"/>
            </a:xfrm>
            <a:prstGeom prst="pie">
              <a:avLst>
                <a:gd fmla="val 16200000" name="adj1"/>
                <a:gd fmla="val 20520000" name="adj2"/>
              </a:avLst>
            </a:prstGeom>
            <a:gradFill>
              <a:gsLst>
                <a:gs pos="0">
                  <a:srgbClr val="487390"/>
                </a:gs>
                <a:gs pos="50000">
                  <a:srgbClr val="0B6287"/>
                </a:gs>
                <a:gs pos="100000">
                  <a:srgbClr val="04587C"/>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43" name="Google Shape;643;p52"/>
            <p:cNvSpPr txBox="1"/>
            <p:nvPr/>
          </p:nvSpPr>
          <p:spPr>
            <a:xfrm>
              <a:off x="3347526" y="1119859"/>
              <a:ext cx="1488734" cy="992489"/>
            </a:xfrm>
            <a:prstGeom prst="rect">
              <a:avLst/>
            </a:prstGeom>
            <a:noFill/>
            <a:ln>
              <a:noFill/>
            </a:ln>
          </p:spPr>
          <p:txBody>
            <a:bodyPr anchorCtr="0" anchor="ctr" bIns="15225" lIns="15225" spcFirstLastPara="1" rIns="15225" wrap="square" tIns="15225">
              <a:noAutofit/>
            </a:bodyPr>
            <a:lstStyle/>
            <a:p>
              <a:pPr indent="0" lvl="0" marL="0" marR="0" rtl="0" algn="ctr">
                <a:lnSpc>
                  <a:spcPct val="90000"/>
                </a:lnSpc>
                <a:spcBef>
                  <a:spcPts val="0"/>
                </a:spcBef>
                <a:spcAft>
                  <a:spcPts val="0"/>
                </a:spcAft>
                <a:buClr>
                  <a:schemeClr val="lt1"/>
                </a:buClr>
                <a:buSzPts val="1200"/>
                <a:buFont typeface="Arial"/>
                <a:buNone/>
              </a:pPr>
              <a:r>
                <a:rPr b="0" i="0" lang="uk" sz="1200" u="none" cap="none" strike="noStrike">
                  <a:solidFill>
                    <a:schemeClr val="lt1"/>
                  </a:solidFill>
                  <a:latin typeface="Arial"/>
                  <a:ea typeface="Arial"/>
                  <a:cs typeface="Arial"/>
                  <a:sym typeface="Arial"/>
                </a:rPr>
                <a:t>Генерація текстів (статті, листи, пости).</a:t>
              </a:r>
              <a:endParaRPr b="0" i="0" sz="1200" u="none" cap="none" strike="noStrike">
                <a:solidFill>
                  <a:schemeClr val="lt1"/>
                </a:solidFill>
                <a:latin typeface="Arial"/>
                <a:ea typeface="Arial"/>
                <a:cs typeface="Arial"/>
                <a:sym typeface="Arial"/>
              </a:endParaRPr>
            </a:p>
          </p:txBody>
        </p:sp>
        <p:sp>
          <p:nvSpPr>
            <p:cNvPr id="644" name="Google Shape;644;p52"/>
            <p:cNvSpPr/>
            <p:nvPr/>
          </p:nvSpPr>
          <p:spPr>
            <a:xfrm>
              <a:off x="971065" y="464816"/>
              <a:ext cx="4631618" cy="4631618"/>
            </a:xfrm>
            <a:prstGeom prst="pie">
              <a:avLst>
                <a:gd fmla="val 20520000" name="adj1"/>
                <a:gd fmla="val 3240000" name="adj2"/>
              </a:avLst>
            </a:prstGeom>
            <a:gradFill>
              <a:gsLst>
                <a:gs pos="0">
                  <a:srgbClr val="487390"/>
                </a:gs>
                <a:gs pos="50000">
                  <a:srgbClr val="0B6287"/>
                </a:gs>
                <a:gs pos="100000">
                  <a:srgbClr val="04587C"/>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45" name="Google Shape;645;p52"/>
            <p:cNvSpPr txBox="1"/>
            <p:nvPr/>
          </p:nvSpPr>
          <p:spPr>
            <a:xfrm>
              <a:off x="3954048" y="2581024"/>
              <a:ext cx="1378458" cy="1102766"/>
            </a:xfrm>
            <a:prstGeom prst="rect">
              <a:avLst/>
            </a:prstGeom>
            <a:noFill/>
            <a:ln>
              <a:noFill/>
            </a:ln>
          </p:spPr>
          <p:txBody>
            <a:bodyPr anchorCtr="0" anchor="ctr" bIns="15225" lIns="15225" spcFirstLastPara="1" rIns="15225" wrap="square" tIns="15225">
              <a:noAutofit/>
            </a:bodyPr>
            <a:lstStyle/>
            <a:p>
              <a:pPr indent="0" lvl="0" marL="0" marR="0" rtl="0" algn="ctr">
                <a:lnSpc>
                  <a:spcPct val="90000"/>
                </a:lnSpc>
                <a:spcBef>
                  <a:spcPts val="0"/>
                </a:spcBef>
                <a:spcAft>
                  <a:spcPts val="0"/>
                </a:spcAft>
                <a:buClr>
                  <a:schemeClr val="lt1"/>
                </a:buClr>
                <a:buSzPts val="1200"/>
                <a:buFont typeface="Arial"/>
                <a:buNone/>
              </a:pPr>
              <a:r>
                <a:rPr b="0" i="0" lang="uk" sz="1200" u="none" cap="none" strike="noStrike">
                  <a:solidFill>
                    <a:schemeClr val="lt1"/>
                  </a:solidFill>
                  <a:latin typeface="Arial"/>
                  <a:ea typeface="Arial"/>
                  <a:cs typeface="Arial"/>
                  <a:sym typeface="Arial"/>
                </a:rPr>
                <a:t>Класифікація, аналіз тональності.</a:t>
              </a:r>
              <a:endParaRPr b="0" i="0" sz="1200" u="none" cap="none" strike="noStrike">
                <a:solidFill>
                  <a:schemeClr val="lt1"/>
                </a:solidFill>
                <a:latin typeface="Arial"/>
                <a:ea typeface="Arial"/>
                <a:cs typeface="Arial"/>
                <a:sym typeface="Arial"/>
              </a:endParaRPr>
            </a:p>
          </p:txBody>
        </p:sp>
        <p:sp>
          <p:nvSpPr>
            <p:cNvPr id="646" name="Google Shape;646;p52"/>
            <p:cNvSpPr/>
            <p:nvPr/>
          </p:nvSpPr>
          <p:spPr>
            <a:xfrm>
              <a:off x="866302" y="540906"/>
              <a:ext cx="4631618" cy="4631618"/>
            </a:xfrm>
            <a:prstGeom prst="pie">
              <a:avLst>
                <a:gd fmla="val 3240000" name="adj1"/>
                <a:gd fmla="val 7560000" name="adj2"/>
              </a:avLst>
            </a:prstGeom>
            <a:gradFill>
              <a:gsLst>
                <a:gs pos="0">
                  <a:srgbClr val="487390"/>
                </a:gs>
                <a:gs pos="50000">
                  <a:srgbClr val="0B6287"/>
                </a:gs>
                <a:gs pos="100000">
                  <a:srgbClr val="04587C"/>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47" name="Google Shape;647;p52"/>
            <p:cNvSpPr txBox="1"/>
            <p:nvPr/>
          </p:nvSpPr>
          <p:spPr>
            <a:xfrm>
              <a:off x="2520452" y="3794067"/>
              <a:ext cx="1323319" cy="1213043"/>
            </a:xfrm>
            <a:prstGeom prst="rect">
              <a:avLst/>
            </a:prstGeom>
            <a:noFill/>
            <a:ln>
              <a:noFill/>
            </a:ln>
          </p:spPr>
          <p:txBody>
            <a:bodyPr anchorCtr="0" anchor="ctr" bIns="15225" lIns="15225" spcFirstLastPara="1" rIns="15225" wrap="square" tIns="15225">
              <a:noAutofit/>
            </a:bodyPr>
            <a:lstStyle/>
            <a:p>
              <a:pPr indent="0" lvl="0" marL="0" marR="0" rtl="0" algn="ctr">
                <a:lnSpc>
                  <a:spcPct val="90000"/>
                </a:lnSpc>
                <a:spcBef>
                  <a:spcPts val="0"/>
                </a:spcBef>
                <a:spcAft>
                  <a:spcPts val="0"/>
                </a:spcAft>
                <a:buClr>
                  <a:schemeClr val="lt1"/>
                </a:buClr>
                <a:buSzPts val="1200"/>
                <a:buFont typeface="Arial"/>
                <a:buNone/>
              </a:pPr>
              <a:r>
                <a:rPr b="0" i="0" lang="uk" sz="1200" u="none" cap="none" strike="noStrike">
                  <a:solidFill>
                    <a:schemeClr val="lt1"/>
                  </a:solidFill>
                  <a:latin typeface="Arial"/>
                  <a:ea typeface="Arial"/>
                  <a:cs typeface="Arial"/>
                  <a:sym typeface="Arial"/>
                </a:rPr>
                <a:t>Чат-боти, підтримка клієнтів.</a:t>
              </a:r>
              <a:endParaRPr b="0" i="0" sz="1200" u="none" cap="none" strike="noStrike">
                <a:solidFill>
                  <a:schemeClr val="lt1"/>
                </a:solidFill>
                <a:latin typeface="Arial"/>
                <a:ea typeface="Arial"/>
                <a:cs typeface="Arial"/>
                <a:sym typeface="Arial"/>
              </a:endParaRPr>
            </a:p>
          </p:txBody>
        </p:sp>
        <p:sp>
          <p:nvSpPr>
            <p:cNvPr id="648" name="Google Shape;648;p52"/>
            <p:cNvSpPr/>
            <p:nvPr/>
          </p:nvSpPr>
          <p:spPr>
            <a:xfrm>
              <a:off x="761539" y="464816"/>
              <a:ext cx="4631618" cy="4631618"/>
            </a:xfrm>
            <a:prstGeom prst="pie">
              <a:avLst>
                <a:gd fmla="val 7560000" name="adj1"/>
                <a:gd fmla="val 11880000" name="adj2"/>
              </a:avLst>
            </a:prstGeom>
            <a:gradFill>
              <a:gsLst>
                <a:gs pos="0">
                  <a:srgbClr val="487390"/>
                </a:gs>
                <a:gs pos="50000">
                  <a:srgbClr val="0B6287"/>
                </a:gs>
                <a:gs pos="100000">
                  <a:srgbClr val="04587C"/>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49" name="Google Shape;649;p52"/>
            <p:cNvSpPr txBox="1"/>
            <p:nvPr/>
          </p:nvSpPr>
          <p:spPr>
            <a:xfrm>
              <a:off x="1031717" y="2581024"/>
              <a:ext cx="1378458" cy="1102766"/>
            </a:xfrm>
            <a:prstGeom prst="rect">
              <a:avLst/>
            </a:prstGeom>
            <a:noFill/>
            <a:ln>
              <a:noFill/>
            </a:ln>
          </p:spPr>
          <p:txBody>
            <a:bodyPr anchorCtr="0" anchor="ctr" bIns="15225" lIns="15225" spcFirstLastPara="1" rIns="15225" wrap="square" tIns="15225">
              <a:noAutofit/>
            </a:bodyPr>
            <a:lstStyle/>
            <a:p>
              <a:pPr indent="0" lvl="0" marL="0" marR="0" rtl="0" algn="ctr">
                <a:lnSpc>
                  <a:spcPct val="90000"/>
                </a:lnSpc>
                <a:spcBef>
                  <a:spcPts val="0"/>
                </a:spcBef>
                <a:spcAft>
                  <a:spcPts val="0"/>
                </a:spcAft>
                <a:buClr>
                  <a:schemeClr val="lt1"/>
                </a:buClr>
                <a:buSzPts val="1200"/>
                <a:buFont typeface="Arial"/>
                <a:buNone/>
              </a:pPr>
              <a:r>
                <a:rPr b="0" i="0" lang="uk" sz="1200" u="none" cap="none" strike="noStrike">
                  <a:solidFill>
                    <a:schemeClr val="lt1"/>
                  </a:solidFill>
                  <a:latin typeface="Arial"/>
                  <a:ea typeface="Arial"/>
                  <a:cs typeface="Arial"/>
                  <a:sym typeface="Arial"/>
                </a:rPr>
                <a:t>Переклад, узагальнення.</a:t>
              </a:r>
              <a:endParaRPr b="0" i="0" sz="1200" u="none" cap="none" strike="noStrike">
                <a:solidFill>
                  <a:schemeClr val="lt1"/>
                </a:solidFill>
                <a:latin typeface="Arial"/>
                <a:ea typeface="Arial"/>
                <a:cs typeface="Arial"/>
                <a:sym typeface="Arial"/>
              </a:endParaRPr>
            </a:p>
          </p:txBody>
        </p:sp>
        <p:sp>
          <p:nvSpPr>
            <p:cNvPr id="650" name="Google Shape;650;p52"/>
            <p:cNvSpPr/>
            <p:nvPr/>
          </p:nvSpPr>
          <p:spPr>
            <a:xfrm>
              <a:off x="801239" y="341306"/>
              <a:ext cx="4631618" cy="4631618"/>
            </a:xfrm>
            <a:prstGeom prst="pie">
              <a:avLst>
                <a:gd fmla="val 11880000" name="adj1"/>
                <a:gd fmla="val 16200000" name="adj2"/>
              </a:avLst>
            </a:prstGeom>
            <a:gradFill>
              <a:gsLst>
                <a:gs pos="0">
                  <a:srgbClr val="487390"/>
                </a:gs>
                <a:gs pos="50000">
                  <a:srgbClr val="0B6287"/>
                </a:gs>
                <a:gs pos="100000">
                  <a:srgbClr val="04587C"/>
                </a:gs>
              </a:gsLst>
              <a:lin ang="5400000" scaled="0"/>
            </a:gra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51" name="Google Shape;651;p52"/>
            <p:cNvSpPr txBox="1"/>
            <p:nvPr/>
          </p:nvSpPr>
          <p:spPr>
            <a:xfrm>
              <a:off x="1527962" y="1119859"/>
              <a:ext cx="1488734" cy="992489"/>
            </a:xfrm>
            <a:prstGeom prst="rect">
              <a:avLst/>
            </a:prstGeom>
            <a:noFill/>
            <a:ln>
              <a:noFill/>
            </a:ln>
          </p:spPr>
          <p:txBody>
            <a:bodyPr anchorCtr="0" anchor="ctr" bIns="15225" lIns="15225" spcFirstLastPara="1" rIns="15225" wrap="square" tIns="15225">
              <a:noAutofit/>
            </a:bodyPr>
            <a:lstStyle/>
            <a:p>
              <a:pPr indent="0" lvl="0" marL="0" marR="0" rtl="0" algn="ctr">
                <a:lnSpc>
                  <a:spcPct val="90000"/>
                </a:lnSpc>
                <a:spcBef>
                  <a:spcPts val="0"/>
                </a:spcBef>
                <a:spcAft>
                  <a:spcPts val="0"/>
                </a:spcAft>
                <a:buClr>
                  <a:schemeClr val="lt1"/>
                </a:buClr>
                <a:buSzPts val="1200"/>
                <a:buFont typeface="Arial"/>
                <a:buNone/>
              </a:pPr>
              <a:r>
                <a:rPr b="0" i="0" lang="uk" sz="1200" u="none" cap="none" strike="noStrike">
                  <a:solidFill>
                    <a:schemeClr val="lt1"/>
                  </a:solidFill>
                  <a:latin typeface="Arial"/>
                  <a:ea typeface="Arial"/>
                  <a:cs typeface="Arial"/>
                  <a:sym typeface="Arial"/>
                </a:rPr>
                <a:t>Генерація коду (GitHub Copilot).</a:t>
              </a:r>
              <a:endParaRPr sz="1100"/>
            </a:p>
          </p:txBody>
        </p:sp>
        <p:sp>
          <p:nvSpPr>
            <p:cNvPr id="652" name="Google Shape;652;p52"/>
            <p:cNvSpPr/>
            <p:nvPr/>
          </p:nvSpPr>
          <p:spPr>
            <a:xfrm>
              <a:off x="644428" y="54586"/>
              <a:ext cx="5205057" cy="5205057"/>
            </a:xfrm>
            <a:custGeom>
              <a:rect b="b" l="l" r="r" t="t"/>
              <a:pathLst>
                <a:path extrusionOk="0" h="120000" w="120000">
                  <a:moveTo>
                    <a:pt x="60005" y="4067"/>
                  </a:moveTo>
                  <a:cubicBezTo>
                    <a:pt x="82391" y="4070"/>
                    <a:pt x="102619" y="17419"/>
                    <a:pt x="111424" y="38000"/>
                  </a:cubicBezTo>
                  <a:lnTo>
                    <a:pt x="115280" y="36747"/>
                  </a:lnTo>
                  <a:lnTo>
                    <a:pt x="110293" y="43657"/>
                  </a:lnTo>
                  <a:lnTo>
                    <a:pt x="101740" y="41147"/>
                  </a:lnTo>
                  <a:lnTo>
                    <a:pt x="105594" y="39894"/>
                  </a:lnTo>
                  <a:cubicBezTo>
                    <a:pt x="97628" y="21829"/>
                    <a:pt x="79748" y="10171"/>
                    <a:pt x="60005" y="10169"/>
                  </a:cubicBezTo>
                  <a:close/>
                </a:path>
              </a:pathLst>
            </a:custGeom>
            <a:solidFill>
              <a:srgbClr val="A9B5C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53" name="Google Shape;653;p52"/>
            <p:cNvSpPr/>
            <p:nvPr/>
          </p:nvSpPr>
          <p:spPr>
            <a:xfrm>
              <a:off x="684666" y="178056"/>
              <a:ext cx="5205057" cy="5205057"/>
            </a:xfrm>
            <a:custGeom>
              <a:rect b="b" l="l" r="r" t="t"/>
              <a:pathLst>
                <a:path extrusionOk="0" h="120000" w="120000">
                  <a:moveTo>
                    <a:pt x="113195" y="42715"/>
                  </a:moveTo>
                  <a:cubicBezTo>
                    <a:pt x="120114" y="64009"/>
                    <a:pt x="113668" y="87378"/>
                    <a:pt x="96810" y="102113"/>
                  </a:cubicBezTo>
                  <a:lnTo>
                    <a:pt x="99192" y="105393"/>
                  </a:lnTo>
                  <a:lnTo>
                    <a:pt x="91080" y="102785"/>
                  </a:lnTo>
                  <a:lnTo>
                    <a:pt x="90825" y="93875"/>
                  </a:lnTo>
                  <a:lnTo>
                    <a:pt x="93207" y="97154"/>
                  </a:lnTo>
                  <a:cubicBezTo>
                    <a:pt x="107930" y="83994"/>
                    <a:pt x="113494" y="63382"/>
                    <a:pt x="107392" y="44601"/>
                  </a:cubicBezTo>
                  <a:close/>
                </a:path>
              </a:pathLst>
            </a:custGeom>
            <a:solidFill>
              <a:srgbClr val="A9B5C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54" name="Google Shape;654;p52"/>
            <p:cNvSpPr/>
            <p:nvPr/>
          </p:nvSpPr>
          <p:spPr>
            <a:xfrm>
              <a:off x="579583" y="254379"/>
              <a:ext cx="5205057" cy="5205057"/>
            </a:xfrm>
            <a:custGeom>
              <a:rect b="b" l="l" r="r" t="t"/>
              <a:pathLst>
                <a:path extrusionOk="0" h="120000" w="120000">
                  <a:moveTo>
                    <a:pt x="92880" y="105248"/>
                  </a:moveTo>
                  <a:cubicBezTo>
                    <a:pt x="74766" y="118411"/>
                    <a:pt x="50547" y="119502"/>
                    <a:pt x="31322" y="108021"/>
                  </a:cubicBezTo>
                  <a:lnTo>
                    <a:pt x="28939" y="111301"/>
                  </a:lnTo>
                  <a:lnTo>
                    <a:pt x="28913" y="102779"/>
                  </a:lnTo>
                  <a:lnTo>
                    <a:pt x="37308" y="99784"/>
                  </a:lnTo>
                  <a:lnTo>
                    <a:pt x="34926" y="103063"/>
                  </a:lnTo>
                  <a:cubicBezTo>
                    <a:pt x="51992" y="113000"/>
                    <a:pt x="73317" y="111921"/>
                    <a:pt x="89293" y="100311"/>
                  </a:cubicBezTo>
                  <a:close/>
                </a:path>
              </a:pathLst>
            </a:custGeom>
            <a:solidFill>
              <a:srgbClr val="A9B5C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55" name="Google Shape;655;p52"/>
            <p:cNvSpPr/>
            <p:nvPr/>
          </p:nvSpPr>
          <p:spPr>
            <a:xfrm>
              <a:off x="474500" y="178056"/>
              <a:ext cx="5205057" cy="5205057"/>
            </a:xfrm>
            <a:custGeom>
              <a:rect b="b" l="l" r="r" t="t"/>
              <a:pathLst>
                <a:path extrusionOk="0" h="120000" w="120000">
                  <a:moveTo>
                    <a:pt x="27127" y="105253"/>
                  </a:moveTo>
                  <a:cubicBezTo>
                    <a:pt x="9012" y="92094"/>
                    <a:pt x="490" y="69400"/>
                    <a:pt x="5466" y="47570"/>
                  </a:cubicBezTo>
                  <a:lnTo>
                    <a:pt x="1610" y="46317"/>
                  </a:lnTo>
                  <a:lnTo>
                    <a:pt x="9707" y="43658"/>
                  </a:lnTo>
                  <a:lnTo>
                    <a:pt x="15150" y="50716"/>
                  </a:lnTo>
                  <a:lnTo>
                    <a:pt x="11296" y="49464"/>
                  </a:lnTo>
                  <a:cubicBezTo>
                    <a:pt x="7121" y="68765"/>
                    <a:pt x="14737" y="88710"/>
                    <a:pt x="30714" y="100316"/>
                  </a:cubicBezTo>
                  <a:close/>
                </a:path>
              </a:pathLst>
            </a:custGeom>
            <a:solidFill>
              <a:srgbClr val="A9B5C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56" name="Google Shape;656;p52"/>
            <p:cNvSpPr/>
            <p:nvPr/>
          </p:nvSpPr>
          <p:spPr>
            <a:xfrm>
              <a:off x="514738" y="54586"/>
              <a:ext cx="5205057" cy="5205057"/>
            </a:xfrm>
            <a:custGeom>
              <a:rect b="b" l="l" r="r" t="t"/>
              <a:pathLst>
                <a:path extrusionOk="0" h="120000" w="120000">
                  <a:moveTo>
                    <a:pt x="6805" y="42714"/>
                  </a:moveTo>
                  <a:cubicBezTo>
                    <a:pt x="13724" y="21424"/>
                    <a:pt x="32669" y="6310"/>
                    <a:pt x="54964" y="4295"/>
                  </a:cubicBezTo>
                  <a:lnTo>
                    <a:pt x="54964" y="240"/>
                  </a:lnTo>
                  <a:lnTo>
                    <a:pt x="59995" y="7118"/>
                  </a:lnTo>
                  <a:lnTo>
                    <a:pt x="54965" y="14477"/>
                  </a:lnTo>
                  <a:lnTo>
                    <a:pt x="54965" y="10424"/>
                  </a:lnTo>
                  <a:cubicBezTo>
                    <a:pt x="35322" y="12419"/>
                    <a:pt x="18710" y="25823"/>
                    <a:pt x="12609" y="44600"/>
                  </a:cubicBezTo>
                  <a:close/>
                </a:path>
              </a:pathLst>
            </a:custGeom>
            <a:solidFill>
              <a:srgbClr val="A9B5C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0" name="Shape 660"/>
        <p:cNvGrpSpPr/>
        <p:nvPr/>
      </p:nvGrpSpPr>
      <p:grpSpPr>
        <a:xfrm>
          <a:off x="0" y="0"/>
          <a:ext cx="0" cy="0"/>
          <a:chOff x="0" y="0"/>
          <a:chExt cx="0" cy="0"/>
        </a:xfrm>
      </p:grpSpPr>
      <p:sp>
        <p:nvSpPr>
          <p:cNvPr id="661" name="Google Shape;661;p53"/>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62" name="Google Shape;662;p53"/>
          <p:cNvSpPr/>
          <p:nvPr/>
        </p:nvSpPr>
        <p:spPr>
          <a:xfrm>
            <a:off x="-1" y="0"/>
            <a:ext cx="3614167" cy="5143500"/>
          </a:xfrm>
          <a:custGeom>
            <a:rect b="b" l="l" r="r" t="t"/>
            <a:pathLst>
              <a:path extrusionOk="0" h="6858000" w="4818889">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solidFill>
            <a:schemeClr val="lt1"/>
          </a:solidFill>
          <a:ln cap="flat" cmpd="sng" w="9525">
            <a:solidFill>
              <a:srgbClr val="EFEFEF"/>
            </a:solidFill>
            <a:prstDash val="solid"/>
            <a:miter lim="800000"/>
            <a:headEnd len="sm" w="sm" type="none"/>
            <a:tailEnd len="sm" w="sm" type="none"/>
          </a:ln>
          <a:effectLst>
            <a:outerShdw blurRad="88900" rotWithShape="0" algn="l" dist="38100">
              <a:srgbClr val="D8D8D8">
                <a:alpha val="50196"/>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663" name="Google Shape;663;p53"/>
          <p:cNvSpPr/>
          <p:nvPr/>
        </p:nvSpPr>
        <p:spPr>
          <a:xfrm>
            <a:off x="1" y="0"/>
            <a:ext cx="3608608" cy="5143500"/>
          </a:xfrm>
          <a:custGeom>
            <a:rect b="b" l="l" r="r" t="t"/>
            <a:pathLst>
              <a:path extrusionOk="0" h="6858000" w="4811477">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664" name="Google Shape;664;p53"/>
          <p:cNvSpPr txBox="1"/>
          <p:nvPr>
            <p:ph type="title"/>
          </p:nvPr>
        </p:nvSpPr>
        <p:spPr>
          <a:xfrm>
            <a:off x="466344" y="870966"/>
            <a:ext cx="2702052" cy="339471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000"/>
              <a:buFont typeface="Play"/>
              <a:buNone/>
            </a:pPr>
            <a:r>
              <a:rPr b="1" lang="uk" sz="3000"/>
              <a:t>Порівняння BERT vs GPT</a:t>
            </a:r>
            <a:br>
              <a:rPr b="1" lang="uk" sz="3000"/>
            </a:br>
            <a:endParaRPr sz="3000"/>
          </a:p>
        </p:txBody>
      </p:sp>
      <p:sp>
        <p:nvSpPr>
          <p:cNvPr id="665" name="Google Shape;665;p53"/>
          <p:cNvSpPr/>
          <p:nvPr/>
        </p:nvSpPr>
        <p:spPr>
          <a:xfrm>
            <a:off x="0" y="2311146"/>
            <a:ext cx="96012" cy="528066"/>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graphicFrame>
        <p:nvGraphicFramePr>
          <p:cNvPr id="666" name="Google Shape;666;p53"/>
          <p:cNvGraphicFramePr/>
          <p:nvPr/>
        </p:nvGraphicFramePr>
        <p:xfrm>
          <a:off x="3793788" y="1017756"/>
          <a:ext cx="3000000" cy="3000000"/>
        </p:xfrm>
        <a:graphic>
          <a:graphicData uri="http://schemas.openxmlformats.org/drawingml/2006/table">
            <a:tbl>
              <a:tblPr>
                <a:noFill/>
                <a:tableStyleId>{69AF2FCD-E6B4-48AD-BCCF-BC0375A9A4F9}</a:tableStyleId>
              </a:tblPr>
              <a:tblGrid>
                <a:gridCol w="1388175"/>
                <a:gridCol w="1819050"/>
                <a:gridCol w="1965425"/>
              </a:tblGrid>
              <a:tr h="612400">
                <a:tc>
                  <a:txBody>
                    <a:bodyPr/>
                    <a:lstStyle/>
                    <a:p>
                      <a:pPr indent="0" lvl="0" marL="0" marR="0" rtl="0" algn="ctr">
                        <a:lnSpc>
                          <a:spcPct val="81521"/>
                        </a:lnSpc>
                        <a:spcBef>
                          <a:spcPts val="0"/>
                        </a:spcBef>
                        <a:spcAft>
                          <a:spcPts val="0"/>
                        </a:spcAft>
                        <a:buClr>
                          <a:srgbClr val="3F3F3F"/>
                        </a:buClr>
                        <a:buSzPts val="1700"/>
                        <a:buFont typeface="Arial"/>
                        <a:buNone/>
                      </a:pPr>
                      <a:r>
                        <a:rPr b="0" lang="uk" sz="1700" u="none" cap="none" strike="noStrike">
                          <a:solidFill>
                            <a:srgbClr val="3F3F3F"/>
                          </a:solidFill>
                          <a:latin typeface="Arial"/>
                          <a:ea typeface="Arial"/>
                          <a:cs typeface="Arial"/>
                          <a:sym typeface="Arial"/>
                        </a:rPr>
                        <a:t>Ознака</a:t>
                      </a:r>
                      <a:endParaRPr sz="1100"/>
                    </a:p>
                  </a:txBody>
                  <a:tcPr marT="131125" marB="131125" marR="131125" marL="218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81521"/>
                        </a:lnSpc>
                        <a:spcBef>
                          <a:spcPts val="0"/>
                        </a:spcBef>
                        <a:spcAft>
                          <a:spcPts val="0"/>
                        </a:spcAft>
                        <a:buClr>
                          <a:srgbClr val="3F3F3F"/>
                        </a:buClr>
                        <a:buSzPts val="1700"/>
                        <a:buFont typeface="Arial"/>
                        <a:buNone/>
                      </a:pPr>
                      <a:r>
                        <a:rPr b="0" lang="uk" sz="1700" u="none" cap="none" strike="noStrike">
                          <a:solidFill>
                            <a:srgbClr val="3F3F3F"/>
                          </a:solidFill>
                          <a:latin typeface="Arial"/>
                          <a:ea typeface="Arial"/>
                          <a:cs typeface="Arial"/>
                          <a:sym typeface="Arial"/>
                        </a:rPr>
                        <a:t>BERT</a:t>
                      </a:r>
                      <a:endParaRPr sz="1100"/>
                    </a:p>
                  </a:txBody>
                  <a:tcPr marT="131125" marB="131125" marR="131125" marL="218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81521"/>
                        </a:lnSpc>
                        <a:spcBef>
                          <a:spcPts val="0"/>
                        </a:spcBef>
                        <a:spcAft>
                          <a:spcPts val="0"/>
                        </a:spcAft>
                        <a:buClr>
                          <a:srgbClr val="3F3F3F"/>
                        </a:buClr>
                        <a:buSzPts val="1700"/>
                        <a:buFont typeface="Arial"/>
                        <a:buNone/>
                      </a:pPr>
                      <a:r>
                        <a:rPr b="0" lang="uk" sz="1700" u="none" cap="none" strike="noStrike">
                          <a:solidFill>
                            <a:srgbClr val="3F3F3F"/>
                          </a:solidFill>
                          <a:latin typeface="Arial"/>
                          <a:ea typeface="Arial"/>
                          <a:cs typeface="Arial"/>
                          <a:sym typeface="Arial"/>
                        </a:rPr>
                        <a:t>GPT</a:t>
                      </a:r>
                      <a:endParaRPr sz="1100"/>
                    </a:p>
                  </a:txBody>
                  <a:tcPr marT="131125" marB="131125" marR="131125" marL="218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56975">
                <a:tc>
                  <a:txBody>
                    <a:bodyPr/>
                    <a:lstStyle/>
                    <a:p>
                      <a:pPr indent="0" lvl="0" marL="0" marR="0" rtl="0" algn="ctr">
                        <a:lnSpc>
                          <a:spcPct val="104166"/>
                        </a:lnSpc>
                        <a:spcBef>
                          <a:spcPts val="0"/>
                        </a:spcBef>
                        <a:spcAft>
                          <a:spcPts val="0"/>
                        </a:spcAft>
                        <a:buClr>
                          <a:srgbClr val="3F3F3F"/>
                        </a:buClr>
                        <a:buSzPts val="1400"/>
                        <a:buFont typeface="Arial"/>
                        <a:buNone/>
                      </a:pPr>
                      <a:r>
                        <a:rPr b="0" lang="uk" sz="1400" u="none" cap="none" strike="noStrike">
                          <a:solidFill>
                            <a:srgbClr val="3F3F3F"/>
                          </a:solidFill>
                          <a:latin typeface="Arial"/>
                          <a:ea typeface="Arial"/>
                          <a:cs typeface="Arial"/>
                          <a:sym typeface="Arial"/>
                        </a:rPr>
                        <a:t>Архітектура</a:t>
                      </a:r>
                      <a:endParaRPr sz="1100"/>
                    </a:p>
                  </a:txBody>
                  <a:tcPr marT="113650" marB="113650" marR="113650" marL="218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4BCBE">
                        <a:alpha val="34901"/>
                      </a:srgbClr>
                    </a:solidFill>
                  </a:tcPr>
                </a:tc>
                <a:tc>
                  <a:txBody>
                    <a:bodyPr/>
                    <a:lstStyle/>
                    <a:p>
                      <a:pPr indent="0" lvl="0" marL="0" marR="0" rtl="0" algn="ctr">
                        <a:lnSpc>
                          <a:spcPct val="104166"/>
                        </a:lnSpc>
                        <a:spcBef>
                          <a:spcPts val="0"/>
                        </a:spcBef>
                        <a:spcAft>
                          <a:spcPts val="0"/>
                        </a:spcAft>
                        <a:buClr>
                          <a:srgbClr val="3F3F3F"/>
                        </a:buClr>
                        <a:buSzPts val="1400"/>
                        <a:buFont typeface="Arial"/>
                        <a:buNone/>
                      </a:pPr>
                      <a:r>
                        <a:rPr b="0" lang="uk" sz="1400" u="none" cap="none" strike="noStrike">
                          <a:solidFill>
                            <a:srgbClr val="3F3F3F"/>
                          </a:solidFill>
                          <a:latin typeface="Arial"/>
                          <a:ea typeface="Arial"/>
                          <a:cs typeface="Arial"/>
                          <a:sym typeface="Arial"/>
                        </a:rPr>
                        <a:t>Тільки енкодер</a:t>
                      </a:r>
                      <a:endParaRPr sz="1100"/>
                    </a:p>
                  </a:txBody>
                  <a:tcPr marT="113650" marB="113650" marR="113650" marL="218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4BCBE">
                        <a:alpha val="34901"/>
                      </a:srgbClr>
                    </a:solidFill>
                  </a:tcPr>
                </a:tc>
                <a:tc>
                  <a:txBody>
                    <a:bodyPr/>
                    <a:lstStyle/>
                    <a:p>
                      <a:pPr indent="0" lvl="0" marL="0" marR="0" rtl="0" algn="ctr">
                        <a:lnSpc>
                          <a:spcPct val="104166"/>
                        </a:lnSpc>
                        <a:spcBef>
                          <a:spcPts val="0"/>
                        </a:spcBef>
                        <a:spcAft>
                          <a:spcPts val="0"/>
                        </a:spcAft>
                        <a:buClr>
                          <a:srgbClr val="3F3F3F"/>
                        </a:buClr>
                        <a:buSzPts val="1400"/>
                        <a:buFont typeface="Arial"/>
                        <a:buNone/>
                      </a:pPr>
                      <a:r>
                        <a:rPr b="0" lang="uk" sz="1400" u="none" cap="none" strike="noStrike">
                          <a:solidFill>
                            <a:srgbClr val="3F3F3F"/>
                          </a:solidFill>
                          <a:latin typeface="Arial"/>
                          <a:ea typeface="Arial"/>
                          <a:cs typeface="Arial"/>
                          <a:sym typeface="Arial"/>
                        </a:rPr>
                        <a:t>Тільки декодер</a:t>
                      </a:r>
                      <a:endParaRPr sz="1100"/>
                    </a:p>
                  </a:txBody>
                  <a:tcPr marT="113650" marB="113650" marR="113650" marL="218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4BCBE">
                        <a:alpha val="34901"/>
                      </a:srgbClr>
                    </a:solidFill>
                  </a:tcPr>
                </a:tc>
              </a:tr>
              <a:tr h="824600">
                <a:tc>
                  <a:txBody>
                    <a:bodyPr/>
                    <a:lstStyle/>
                    <a:p>
                      <a:pPr indent="0" lvl="0" marL="0" marR="0" rtl="0" algn="ctr">
                        <a:lnSpc>
                          <a:spcPct val="104166"/>
                        </a:lnSpc>
                        <a:spcBef>
                          <a:spcPts val="0"/>
                        </a:spcBef>
                        <a:spcAft>
                          <a:spcPts val="0"/>
                        </a:spcAft>
                        <a:buClr>
                          <a:srgbClr val="3F3F3F"/>
                        </a:buClr>
                        <a:buSzPts val="1400"/>
                        <a:buFont typeface="Arial"/>
                        <a:buNone/>
                      </a:pPr>
                      <a:r>
                        <a:rPr b="0" lang="uk" sz="1400" u="none" cap="none" strike="noStrike">
                          <a:solidFill>
                            <a:srgbClr val="3F3F3F"/>
                          </a:solidFill>
                          <a:latin typeface="Arial"/>
                          <a:ea typeface="Arial"/>
                          <a:cs typeface="Arial"/>
                          <a:sym typeface="Arial"/>
                        </a:rPr>
                        <a:t>Напрямок</a:t>
                      </a:r>
                      <a:endParaRPr sz="1100"/>
                    </a:p>
                  </a:txBody>
                  <a:tcPr marT="113650" marB="113650" marR="113650" marL="218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4BCBE">
                        <a:alpha val="34901"/>
                      </a:srgbClr>
                    </a:solidFill>
                  </a:tcPr>
                </a:tc>
                <a:tc>
                  <a:txBody>
                    <a:bodyPr/>
                    <a:lstStyle/>
                    <a:p>
                      <a:pPr indent="0" lvl="0" marL="0" marR="0" rtl="0" algn="ctr">
                        <a:lnSpc>
                          <a:spcPct val="104166"/>
                        </a:lnSpc>
                        <a:spcBef>
                          <a:spcPts val="0"/>
                        </a:spcBef>
                        <a:spcAft>
                          <a:spcPts val="0"/>
                        </a:spcAft>
                        <a:buClr>
                          <a:srgbClr val="3F3F3F"/>
                        </a:buClr>
                        <a:buSzPts val="1400"/>
                        <a:buFont typeface="Arial"/>
                        <a:buNone/>
                      </a:pPr>
                      <a:r>
                        <a:rPr b="0" lang="uk" sz="1400" u="none" cap="none" strike="noStrike">
                          <a:solidFill>
                            <a:srgbClr val="3F3F3F"/>
                          </a:solidFill>
                          <a:latin typeface="Arial"/>
                          <a:ea typeface="Arial"/>
                          <a:cs typeface="Arial"/>
                          <a:sym typeface="Arial"/>
                        </a:rPr>
                        <a:t>Двонаправлений</a:t>
                      </a:r>
                      <a:endParaRPr sz="1100"/>
                    </a:p>
                  </a:txBody>
                  <a:tcPr marT="113650" marB="113650" marR="113650" marL="218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4BCBE">
                        <a:alpha val="34901"/>
                      </a:srgbClr>
                    </a:solidFill>
                  </a:tcPr>
                </a:tc>
                <a:tc>
                  <a:txBody>
                    <a:bodyPr/>
                    <a:lstStyle/>
                    <a:p>
                      <a:pPr indent="0" lvl="0" marL="0" marR="0" rtl="0" algn="ctr">
                        <a:lnSpc>
                          <a:spcPct val="104166"/>
                        </a:lnSpc>
                        <a:spcBef>
                          <a:spcPts val="0"/>
                        </a:spcBef>
                        <a:spcAft>
                          <a:spcPts val="0"/>
                        </a:spcAft>
                        <a:buClr>
                          <a:srgbClr val="3F3F3F"/>
                        </a:buClr>
                        <a:buSzPts val="1400"/>
                        <a:buFont typeface="Arial"/>
                        <a:buNone/>
                      </a:pPr>
                      <a:r>
                        <a:rPr b="0" lang="uk" sz="1400" u="none" cap="none" strike="noStrike">
                          <a:solidFill>
                            <a:srgbClr val="3F3F3F"/>
                          </a:solidFill>
                          <a:latin typeface="Arial"/>
                          <a:ea typeface="Arial"/>
                          <a:cs typeface="Arial"/>
                          <a:sym typeface="Arial"/>
                        </a:rPr>
                        <a:t>Однонаправлений (ліворуч-праворуч)</a:t>
                      </a:r>
                      <a:endParaRPr sz="1100"/>
                    </a:p>
                  </a:txBody>
                  <a:tcPr marT="113650" marB="113650" marR="113650" marL="218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4BCBE">
                        <a:alpha val="34901"/>
                      </a:srgbClr>
                    </a:solidFill>
                  </a:tcPr>
                </a:tc>
              </a:tr>
              <a:tr h="556975">
                <a:tc>
                  <a:txBody>
                    <a:bodyPr/>
                    <a:lstStyle/>
                    <a:p>
                      <a:pPr indent="0" lvl="0" marL="0" marR="0" rtl="0" algn="ctr">
                        <a:lnSpc>
                          <a:spcPct val="104166"/>
                        </a:lnSpc>
                        <a:spcBef>
                          <a:spcPts val="0"/>
                        </a:spcBef>
                        <a:spcAft>
                          <a:spcPts val="0"/>
                        </a:spcAft>
                        <a:buClr>
                          <a:srgbClr val="3F3F3F"/>
                        </a:buClr>
                        <a:buSzPts val="1400"/>
                        <a:buFont typeface="Arial"/>
                        <a:buNone/>
                      </a:pPr>
                      <a:r>
                        <a:rPr b="0" lang="uk" sz="1400" u="none" cap="none" strike="noStrike">
                          <a:solidFill>
                            <a:srgbClr val="3F3F3F"/>
                          </a:solidFill>
                          <a:latin typeface="Arial"/>
                          <a:ea typeface="Arial"/>
                          <a:cs typeface="Arial"/>
                          <a:sym typeface="Arial"/>
                        </a:rPr>
                        <a:t>Тип задач</a:t>
                      </a:r>
                      <a:endParaRPr sz="1100"/>
                    </a:p>
                  </a:txBody>
                  <a:tcPr marT="113650" marB="113650" marR="113650" marL="218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4BCBE">
                        <a:alpha val="34901"/>
                      </a:srgbClr>
                    </a:solidFill>
                  </a:tcPr>
                </a:tc>
                <a:tc>
                  <a:txBody>
                    <a:bodyPr/>
                    <a:lstStyle/>
                    <a:p>
                      <a:pPr indent="0" lvl="0" marL="0" marR="0" rtl="0" algn="ctr">
                        <a:lnSpc>
                          <a:spcPct val="104166"/>
                        </a:lnSpc>
                        <a:spcBef>
                          <a:spcPts val="0"/>
                        </a:spcBef>
                        <a:spcAft>
                          <a:spcPts val="0"/>
                        </a:spcAft>
                        <a:buClr>
                          <a:srgbClr val="3F3F3F"/>
                        </a:buClr>
                        <a:buSzPts val="1400"/>
                        <a:buFont typeface="Arial"/>
                        <a:buNone/>
                      </a:pPr>
                      <a:r>
                        <a:rPr b="0" lang="uk" sz="1400" u="none" cap="none" strike="noStrike">
                          <a:solidFill>
                            <a:srgbClr val="3F3F3F"/>
                          </a:solidFill>
                          <a:latin typeface="Arial"/>
                          <a:ea typeface="Arial"/>
                          <a:cs typeface="Arial"/>
                          <a:sym typeface="Arial"/>
                        </a:rPr>
                        <a:t>Розуміння тексту</a:t>
                      </a:r>
                      <a:endParaRPr sz="1100"/>
                    </a:p>
                  </a:txBody>
                  <a:tcPr marT="113650" marB="113650" marR="113650" marL="218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4BCBE">
                        <a:alpha val="34901"/>
                      </a:srgbClr>
                    </a:solidFill>
                  </a:tcPr>
                </a:tc>
                <a:tc>
                  <a:txBody>
                    <a:bodyPr/>
                    <a:lstStyle/>
                    <a:p>
                      <a:pPr indent="0" lvl="0" marL="0" marR="0" rtl="0" algn="ctr">
                        <a:lnSpc>
                          <a:spcPct val="104166"/>
                        </a:lnSpc>
                        <a:spcBef>
                          <a:spcPts val="0"/>
                        </a:spcBef>
                        <a:spcAft>
                          <a:spcPts val="0"/>
                        </a:spcAft>
                        <a:buClr>
                          <a:srgbClr val="3F3F3F"/>
                        </a:buClr>
                        <a:buSzPts val="1400"/>
                        <a:buFont typeface="Arial"/>
                        <a:buNone/>
                      </a:pPr>
                      <a:r>
                        <a:rPr b="0" lang="uk" sz="1400" u="none" cap="none" strike="noStrike">
                          <a:solidFill>
                            <a:srgbClr val="3F3F3F"/>
                          </a:solidFill>
                          <a:latin typeface="Arial"/>
                          <a:ea typeface="Arial"/>
                          <a:cs typeface="Arial"/>
                          <a:sym typeface="Arial"/>
                        </a:rPr>
                        <a:t>Генерація тексту</a:t>
                      </a:r>
                      <a:endParaRPr sz="1100"/>
                    </a:p>
                  </a:txBody>
                  <a:tcPr marT="113650" marB="113650" marR="113650" marL="218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4BCBE">
                        <a:alpha val="34901"/>
                      </a:srgbClr>
                    </a:solidFill>
                  </a:tcPr>
                </a:tc>
              </a:tr>
              <a:tr h="556975">
                <a:tc>
                  <a:txBody>
                    <a:bodyPr/>
                    <a:lstStyle/>
                    <a:p>
                      <a:pPr indent="0" lvl="0" marL="0" marR="0" rtl="0" algn="ctr">
                        <a:lnSpc>
                          <a:spcPct val="104166"/>
                        </a:lnSpc>
                        <a:spcBef>
                          <a:spcPts val="0"/>
                        </a:spcBef>
                        <a:spcAft>
                          <a:spcPts val="0"/>
                        </a:spcAft>
                        <a:buClr>
                          <a:srgbClr val="3F3F3F"/>
                        </a:buClr>
                        <a:buSzPts val="1400"/>
                        <a:buFont typeface="Arial"/>
                        <a:buNone/>
                      </a:pPr>
                      <a:r>
                        <a:rPr b="0" lang="uk" sz="1400" u="none" cap="none" strike="noStrike">
                          <a:solidFill>
                            <a:srgbClr val="3F3F3F"/>
                          </a:solidFill>
                          <a:latin typeface="Arial"/>
                          <a:ea typeface="Arial"/>
                          <a:cs typeface="Arial"/>
                          <a:sym typeface="Arial"/>
                        </a:rPr>
                        <a:t>Приклади</a:t>
                      </a:r>
                      <a:endParaRPr sz="1100"/>
                    </a:p>
                  </a:txBody>
                  <a:tcPr marT="113650" marB="113650" marR="113650" marL="218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4BCBE">
                        <a:alpha val="34901"/>
                      </a:srgbClr>
                    </a:solidFill>
                  </a:tcPr>
                </a:tc>
                <a:tc>
                  <a:txBody>
                    <a:bodyPr/>
                    <a:lstStyle/>
                    <a:p>
                      <a:pPr indent="0" lvl="0" marL="0" marR="0" rtl="0" algn="ctr">
                        <a:lnSpc>
                          <a:spcPct val="104166"/>
                        </a:lnSpc>
                        <a:spcBef>
                          <a:spcPts val="0"/>
                        </a:spcBef>
                        <a:spcAft>
                          <a:spcPts val="0"/>
                        </a:spcAft>
                        <a:buClr>
                          <a:srgbClr val="3F3F3F"/>
                        </a:buClr>
                        <a:buSzPts val="1400"/>
                        <a:buFont typeface="Arial"/>
                        <a:buNone/>
                      </a:pPr>
                      <a:r>
                        <a:rPr b="0" lang="uk" sz="1400" u="none" cap="none" strike="noStrike">
                          <a:solidFill>
                            <a:srgbClr val="3F3F3F"/>
                          </a:solidFill>
                          <a:latin typeface="Arial"/>
                          <a:ea typeface="Arial"/>
                          <a:cs typeface="Arial"/>
                          <a:sym typeface="Arial"/>
                        </a:rPr>
                        <a:t>Класифікація, QA</a:t>
                      </a:r>
                      <a:endParaRPr sz="1100"/>
                    </a:p>
                  </a:txBody>
                  <a:tcPr marT="113650" marB="113650" marR="113650" marL="218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4BCBE">
                        <a:alpha val="34901"/>
                      </a:srgbClr>
                    </a:solidFill>
                  </a:tcPr>
                </a:tc>
                <a:tc>
                  <a:txBody>
                    <a:bodyPr/>
                    <a:lstStyle/>
                    <a:p>
                      <a:pPr indent="0" lvl="0" marL="0" marR="0" rtl="0" algn="ctr">
                        <a:lnSpc>
                          <a:spcPct val="104166"/>
                        </a:lnSpc>
                        <a:spcBef>
                          <a:spcPts val="0"/>
                        </a:spcBef>
                        <a:spcAft>
                          <a:spcPts val="0"/>
                        </a:spcAft>
                        <a:buClr>
                          <a:srgbClr val="3F3F3F"/>
                        </a:buClr>
                        <a:buSzPts val="1400"/>
                        <a:buFont typeface="Arial"/>
                        <a:buNone/>
                      </a:pPr>
                      <a:r>
                        <a:rPr b="0" lang="uk" sz="1400" u="none" cap="none" strike="noStrike">
                          <a:solidFill>
                            <a:srgbClr val="3F3F3F"/>
                          </a:solidFill>
                          <a:latin typeface="Arial"/>
                          <a:ea typeface="Arial"/>
                          <a:cs typeface="Arial"/>
                          <a:sym typeface="Arial"/>
                        </a:rPr>
                        <a:t>ChatGPT, генерація</a:t>
                      </a:r>
                      <a:endParaRPr sz="1100"/>
                    </a:p>
                  </a:txBody>
                  <a:tcPr marT="113650" marB="113650" marR="113650" marL="2185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4BCBE">
                        <a:alpha val="34901"/>
                      </a:srgbClr>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0" name="Shape 670"/>
        <p:cNvGrpSpPr/>
        <p:nvPr/>
      </p:nvGrpSpPr>
      <p:grpSpPr>
        <a:xfrm>
          <a:off x="0" y="0"/>
          <a:ext cx="0" cy="0"/>
          <a:chOff x="0" y="0"/>
          <a:chExt cx="0" cy="0"/>
        </a:xfrm>
      </p:grpSpPr>
      <p:sp>
        <p:nvSpPr>
          <p:cNvPr id="671" name="Google Shape;671;p54"/>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72" name="Google Shape;672;p54"/>
          <p:cNvSpPr txBox="1"/>
          <p:nvPr>
            <p:ph type="title"/>
          </p:nvPr>
        </p:nvSpPr>
        <p:spPr>
          <a:xfrm>
            <a:off x="322326" y="308610"/>
            <a:ext cx="8401050" cy="82981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Play"/>
              <a:buNone/>
            </a:pPr>
            <a:r>
              <a:rPr b="1" lang="uk" sz="2700"/>
              <a:t>Порівняння BERT vs GPT</a:t>
            </a:r>
            <a:endParaRPr sz="2700"/>
          </a:p>
        </p:txBody>
      </p:sp>
      <p:sp>
        <p:nvSpPr>
          <p:cNvPr id="673" name="Google Shape;673;p54"/>
          <p:cNvSpPr/>
          <p:nvPr/>
        </p:nvSpPr>
        <p:spPr>
          <a:xfrm>
            <a:off x="0" y="448843"/>
            <a:ext cx="96012" cy="528066"/>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pic>
        <p:nvPicPr>
          <p:cNvPr descr="BERT vs GPT: A Guide to Two Powerful Language Models | by Ravjot Singh |  Medium" id="674" name="Google Shape;674;p54"/>
          <p:cNvPicPr preferRelativeResize="0"/>
          <p:nvPr/>
        </p:nvPicPr>
        <p:blipFill rotWithShape="1">
          <a:blip r:embed="rId3">
            <a:alphaModFix/>
          </a:blip>
          <a:srcRect b="0" l="0" r="0" t="0"/>
          <a:stretch/>
        </p:blipFill>
        <p:spPr>
          <a:xfrm>
            <a:off x="153687" y="1501895"/>
            <a:ext cx="5350477" cy="2969514"/>
          </a:xfrm>
          <a:prstGeom prst="rect">
            <a:avLst/>
          </a:prstGeom>
          <a:noFill/>
          <a:ln>
            <a:noFill/>
          </a:ln>
          <a:effectLst>
            <a:outerShdw blurRad="292100" rotWithShape="0" algn="tl" dir="2700000" dist="139700">
              <a:srgbClr val="333333">
                <a:alpha val="65098"/>
              </a:srgbClr>
            </a:outerShdw>
          </a:effectLst>
        </p:spPr>
      </p:pic>
      <p:sp>
        <p:nvSpPr>
          <p:cNvPr id="675" name="Google Shape;675;p54"/>
          <p:cNvSpPr/>
          <p:nvPr/>
        </p:nvSpPr>
        <p:spPr>
          <a:xfrm>
            <a:off x="5657851" y="1291442"/>
            <a:ext cx="3163824" cy="3390420"/>
          </a:xfrm>
          <a:prstGeom prst="rect">
            <a:avLst/>
          </a:prstGeom>
          <a:solidFill>
            <a:schemeClr val="lt1"/>
          </a:solidFill>
          <a:ln cap="flat" cmpd="sng" w="9525">
            <a:solidFill>
              <a:srgbClr val="DEDEDE"/>
            </a:solidFill>
            <a:prstDash val="solid"/>
            <a:miter lim="800000"/>
            <a:headEnd len="sm" w="sm" type="none"/>
            <a:tailEnd len="sm" w="sm" type="none"/>
          </a:ln>
          <a:effectLst>
            <a:outerShdw blurRad="50800" rotWithShape="0" algn="tl" dir="2700000" dist="38100">
              <a:srgbClr val="D8D8D8">
                <a:alpha val="50196"/>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grpSp>
        <p:nvGrpSpPr>
          <p:cNvPr id="676" name="Google Shape;676;p54"/>
          <p:cNvGrpSpPr/>
          <p:nvPr/>
        </p:nvGrpSpPr>
        <p:grpSpPr>
          <a:xfrm>
            <a:off x="5954064" y="1517068"/>
            <a:ext cx="2591323" cy="2966614"/>
            <a:chOff x="0" y="1933"/>
            <a:chExt cx="3455097" cy="3955485"/>
          </a:xfrm>
        </p:grpSpPr>
        <p:cxnSp>
          <p:nvCxnSpPr>
            <p:cNvPr id="677" name="Google Shape;677;p54"/>
            <p:cNvCxnSpPr/>
            <p:nvPr/>
          </p:nvCxnSpPr>
          <p:spPr>
            <a:xfrm>
              <a:off x="0" y="1933"/>
              <a:ext cx="3455097" cy="0"/>
            </a:xfrm>
            <a:prstGeom prst="straightConnector1">
              <a:avLst/>
            </a:prstGeom>
            <a:solidFill>
              <a:srgbClr val="0B2741"/>
            </a:solidFill>
            <a:ln cap="flat" cmpd="sng" w="19050">
              <a:solidFill>
                <a:srgbClr val="0B2741"/>
              </a:solidFill>
              <a:prstDash val="solid"/>
              <a:miter lim="800000"/>
              <a:headEnd len="sm" w="sm" type="none"/>
              <a:tailEnd len="sm" w="sm" type="none"/>
            </a:ln>
          </p:spPr>
        </p:cxnSp>
        <p:sp>
          <p:nvSpPr>
            <p:cNvPr id="678" name="Google Shape;678;p54"/>
            <p:cNvSpPr/>
            <p:nvPr/>
          </p:nvSpPr>
          <p:spPr>
            <a:xfrm>
              <a:off x="0" y="1933"/>
              <a:ext cx="3455097" cy="1318495"/>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79" name="Google Shape;679;p54"/>
            <p:cNvSpPr txBox="1"/>
            <p:nvPr/>
          </p:nvSpPr>
          <p:spPr>
            <a:xfrm>
              <a:off x="0" y="1933"/>
              <a:ext cx="3455097" cy="1318495"/>
            </a:xfrm>
            <a:prstGeom prst="rect">
              <a:avLst/>
            </a:prstGeom>
            <a:noFill/>
            <a:ln>
              <a:noFill/>
            </a:ln>
          </p:spPr>
          <p:txBody>
            <a:bodyPr anchorCtr="0" anchor="t" bIns="60000" lIns="60000" spcFirstLastPara="1" rIns="60000" wrap="square" tIns="60000">
              <a:noAutofit/>
            </a:bodyPr>
            <a:lstStyle/>
            <a:p>
              <a:pPr indent="0" lvl="0" marL="0" marR="0" rtl="0" algn="l">
                <a:lnSpc>
                  <a:spcPct val="90000"/>
                </a:lnSpc>
                <a:spcBef>
                  <a:spcPts val="0"/>
                </a:spcBef>
                <a:spcAft>
                  <a:spcPts val="0"/>
                </a:spcAft>
                <a:buClr>
                  <a:schemeClr val="dk1"/>
                </a:buClr>
                <a:buSzPts val="1600"/>
                <a:buFont typeface="Arial"/>
                <a:buNone/>
              </a:pPr>
              <a:r>
                <a:rPr b="0" i="0" lang="uk" sz="1300" u="none" cap="none" strike="noStrike">
                  <a:solidFill>
                    <a:schemeClr val="dk1"/>
                  </a:solidFill>
                  <a:latin typeface="Arial"/>
                  <a:ea typeface="Arial"/>
                  <a:cs typeface="Arial"/>
                  <a:sym typeface="Arial"/>
                </a:rPr>
                <a:t>BERT кращий для задач, де важливий повний контекст (пошук, класифікація).</a:t>
              </a:r>
              <a:endParaRPr b="0" i="0" sz="1300" u="none" cap="none" strike="noStrike">
                <a:solidFill>
                  <a:schemeClr val="dk1"/>
                </a:solidFill>
                <a:latin typeface="Arial"/>
                <a:ea typeface="Arial"/>
                <a:cs typeface="Arial"/>
                <a:sym typeface="Arial"/>
              </a:endParaRPr>
            </a:p>
          </p:txBody>
        </p:sp>
        <p:cxnSp>
          <p:nvCxnSpPr>
            <p:cNvPr id="680" name="Google Shape;680;p54"/>
            <p:cNvCxnSpPr/>
            <p:nvPr/>
          </p:nvCxnSpPr>
          <p:spPr>
            <a:xfrm>
              <a:off x="0" y="1320428"/>
              <a:ext cx="3455097" cy="0"/>
            </a:xfrm>
            <a:prstGeom prst="straightConnector1">
              <a:avLst/>
            </a:prstGeom>
            <a:solidFill>
              <a:srgbClr val="0B2741"/>
            </a:solidFill>
            <a:ln cap="flat" cmpd="sng" w="19050">
              <a:solidFill>
                <a:srgbClr val="0B2741"/>
              </a:solidFill>
              <a:prstDash val="solid"/>
              <a:miter lim="800000"/>
              <a:headEnd len="sm" w="sm" type="none"/>
              <a:tailEnd len="sm" w="sm" type="none"/>
            </a:ln>
          </p:spPr>
        </p:cxnSp>
        <p:sp>
          <p:nvSpPr>
            <p:cNvPr id="681" name="Google Shape;681;p54"/>
            <p:cNvSpPr/>
            <p:nvPr/>
          </p:nvSpPr>
          <p:spPr>
            <a:xfrm>
              <a:off x="0" y="1320428"/>
              <a:ext cx="3455097" cy="1318495"/>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82" name="Google Shape;682;p54"/>
            <p:cNvSpPr txBox="1"/>
            <p:nvPr/>
          </p:nvSpPr>
          <p:spPr>
            <a:xfrm>
              <a:off x="0" y="1320428"/>
              <a:ext cx="3455097" cy="1318495"/>
            </a:xfrm>
            <a:prstGeom prst="rect">
              <a:avLst/>
            </a:prstGeom>
            <a:noFill/>
            <a:ln>
              <a:noFill/>
            </a:ln>
          </p:spPr>
          <p:txBody>
            <a:bodyPr anchorCtr="0" anchor="t" bIns="60000" lIns="60000" spcFirstLastPara="1" rIns="60000" wrap="square" tIns="60000">
              <a:noAutofit/>
            </a:bodyPr>
            <a:lstStyle/>
            <a:p>
              <a:pPr indent="0" lvl="0" marL="0" marR="0" rtl="0" algn="l">
                <a:lnSpc>
                  <a:spcPct val="90000"/>
                </a:lnSpc>
                <a:spcBef>
                  <a:spcPts val="0"/>
                </a:spcBef>
                <a:spcAft>
                  <a:spcPts val="0"/>
                </a:spcAft>
                <a:buClr>
                  <a:schemeClr val="dk1"/>
                </a:buClr>
                <a:buSzPts val="1600"/>
                <a:buFont typeface="Arial"/>
                <a:buNone/>
              </a:pPr>
              <a:r>
                <a:rPr b="0" i="0" lang="uk" sz="1300" u="none" cap="none" strike="noStrike">
                  <a:solidFill>
                    <a:schemeClr val="dk1"/>
                  </a:solidFill>
                  <a:latin typeface="Arial"/>
                  <a:ea typeface="Arial"/>
                  <a:cs typeface="Arial"/>
                  <a:sym typeface="Arial"/>
                </a:rPr>
                <a:t>GPT кращий для творчих задач (генерація, переклад, діалог).</a:t>
              </a:r>
              <a:endParaRPr b="0" i="0" sz="1300" u="none" cap="none" strike="noStrike">
                <a:solidFill>
                  <a:schemeClr val="dk1"/>
                </a:solidFill>
                <a:latin typeface="Arial"/>
                <a:ea typeface="Arial"/>
                <a:cs typeface="Arial"/>
                <a:sym typeface="Arial"/>
              </a:endParaRPr>
            </a:p>
          </p:txBody>
        </p:sp>
        <p:cxnSp>
          <p:nvCxnSpPr>
            <p:cNvPr id="683" name="Google Shape;683;p54"/>
            <p:cNvCxnSpPr/>
            <p:nvPr/>
          </p:nvCxnSpPr>
          <p:spPr>
            <a:xfrm>
              <a:off x="0" y="2638923"/>
              <a:ext cx="3455097" cy="0"/>
            </a:xfrm>
            <a:prstGeom prst="straightConnector1">
              <a:avLst/>
            </a:prstGeom>
            <a:solidFill>
              <a:srgbClr val="0B2741"/>
            </a:solidFill>
            <a:ln cap="flat" cmpd="sng" w="19050">
              <a:solidFill>
                <a:srgbClr val="0B2741"/>
              </a:solidFill>
              <a:prstDash val="solid"/>
              <a:miter lim="800000"/>
              <a:headEnd len="sm" w="sm" type="none"/>
              <a:tailEnd len="sm" w="sm" type="none"/>
            </a:ln>
          </p:spPr>
        </p:cxnSp>
        <p:sp>
          <p:nvSpPr>
            <p:cNvPr id="684" name="Google Shape;684;p54"/>
            <p:cNvSpPr/>
            <p:nvPr/>
          </p:nvSpPr>
          <p:spPr>
            <a:xfrm>
              <a:off x="0" y="2638923"/>
              <a:ext cx="3455097" cy="1318495"/>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85" name="Google Shape;685;p54"/>
            <p:cNvSpPr txBox="1"/>
            <p:nvPr/>
          </p:nvSpPr>
          <p:spPr>
            <a:xfrm>
              <a:off x="0" y="2638923"/>
              <a:ext cx="3455097" cy="1318495"/>
            </a:xfrm>
            <a:prstGeom prst="rect">
              <a:avLst/>
            </a:prstGeom>
            <a:noFill/>
            <a:ln>
              <a:noFill/>
            </a:ln>
          </p:spPr>
          <p:txBody>
            <a:bodyPr anchorCtr="0" anchor="t" bIns="60000" lIns="60000" spcFirstLastPara="1" rIns="60000" wrap="square" tIns="60000">
              <a:noAutofit/>
            </a:bodyPr>
            <a:lstStyle/>
            <a:p>
              <a:pPr indent="0" lvl="0" marL="0" marR="0" rtl="0" algn="l">
                <a:lnSpc>
                  <a:spcPct val="90000"/>
                </a:lnSpc>
                <a:spcBef>
                  <a:spcPts val="0"/>
                </a:spcBef>
                <a:spcAft>
                  <a:spcPts val="0"/>
                </a:spcAft>
                <a:buClr>
                  <a:schemeClr val="dk1"/>
                </a:buClr>
                <a:buSzPts val="1600"/>
                <a:buFont typeface="Arial"/>
                <a:buNone/>
              </a:pPr>
              <a:r>
                <a:rPr b="0" i="0" lang="uk" sz="1300" u="none" cap="none" strike="noStrike">
                  <a:solidFill>
                    <a:schemeClr val="dk1"/>
                  </a:solidFill>
                  <a:latin typeface="Arial"/>
                  <a:ea typeface="Arial"/>
                  <a:cs typeface="Arial"/>
                  <a:sym typeface="Arial"/>
                </a:rPr>
                <a:t>Сучасні тенденції: змішані архітектури (T5, XLNet).</a:t>
              </a:r>
              <a:endParaRPr sz="800"/>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9" name="Shape 689"/>
        <p:cNvGrpSpPr/>
        <p:nvPr/>
      </p:nvGrpSpPr>
      <p:grpSpPr>
        <a:xfrm>
          <a:off x="0" y="0"/>
          <a:ext cx="0" cy="0"/>
          <a:chOff x="0" y="0"/>
          <a:chExt cx="0" cy="0"/>
        </a:xfrm>
      </p:grpSpPr>
      <p:sp>
        <p:nvSpPr>
          <p:cNvPr id="690" name="Google Shape;690;p55"/>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691" name="Google Shape;691;p55"/>
          <p:cNvGrpSpPr/>
          <p:nvPr/>
        </p:nvGrpSpPr>
        <p:grpSpPr>
          <a:xfrm>
            <a:off x="-1" y="-1"/>
            <a:ext cx="3436145" cy="5143502"/>
            <a:chOff x="-2" y="-1"/>
            <a:chExt cx="4581526" cy="6858002"/>
          </a:xfrm>
        </p:grpSpPr>
        <p:sp>
          <p:nvSpPr>
            <p:cNvPr id="692" name="Google Shape;692;p55"/>
            <p:cNvSpPr/>
            <p:nvPr/>
          </p:nvSpPr>
          <p:spPr>
            <a:xfrm>
              <a:off x="-2" y="-1"/>
              <a:ext cx="4572002" cy="6858002"/>
            </a:xfrm>
            <a:custGeom>
              <a:rect b="b" l="l" r="r" t="t"/>
              <a:pathLst>
                <a:path extrusionOk="0" h="6858002" w="4572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dk1"/>
            </a:solidFill>
            <a:ln>
              <a:noFill/>
            </a:ln>
            <a:effectLst>
              <a:outerShdw blurRad="381000" rotWithShape="0" algn="ctr" dist="50800">
                <a:srgbClr val="000000">
                  <a:alpha val="10196"/>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693" name="Google Shape;693;p55"/>
            <p:cNvGrpSpPr/>
            <p:nvPr/>
          </p:nvGrpSpPr>
          <p:grpSpPr>
            <a:xfrm>
              <a:off x="3697283" y="0"/>
              <a:ext cx="884241" cy="6858002"/>
              <a:chOff x="3697283" y="0"/>
              <a:chExt cx="884241" cy="6858002"/>
            </a:xfrm>
          </p:grpSpPr>
          <p:grpSp>
            <p:nvGrpSpPr>
              <p:cNvPr id="694" name="Google Shape;694;p55"/>
              <p:cNvGrpSpPr/>
              <p:nvPr/>
            </p:nvGrpSpPr>
            <p:grpSpPr>
              <a:xfrm>
                <a:off x="3697283" y="0"/>
                <a:ext cx="884241" cy="6858001"/>
                <a:chOff x="3697283" y="0"/>
                <a:chExt cx="884241" cy="6858001"/>
              </a:xfrm>
            </p:grpSpPr>
            <p:sp>
              <p:nvSpPr>
                <p:cNvPr id="695" name="Google Shape;695;p55"/>
                <p:cNvSpPr/>
                <p:nvPr/>
              </p:nvSpPr>
              <p:spPr>
                <a:xfrm flipH="1" rot="-5400000">
                  <a:off x="705641" y="2991642"/>
                  <a:ext cx="6858001" cy="874716"/>
                </a:xfrm>
                <a:custGeom>
                  <a:rect b="b" l="l" r="r" t="t"/>
                  <a:pathLst>
                    <a:path extrusionOk="0" h="874716" w="6858001">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96" name="Google Shape;696;p55"/>
                <p:cNvSpPr/>
                <p:nvPr/>
              </p:nvSpPr>
              <p:spPr>
                <a:xfrm flipH="1" rot="-5400000">
                  <a:off x="715166" y="2991642"/>
                  <a:ext cx="6858001" cy="874716"/>
                </a:xfrm>
                <a:custGeom>
                  <a:rect b="b" l="l" r="r" t="t"/>
                  <a:pathLst>
                    <a:path extrusionOk="0" h="874716" w="6858001">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nvGrpSpPr>
              <p:cNvPr id="697" name="Google Shape;697;p55"/>
              <p:cNvGrpSpPr/>
              <p:nvPr/>
            </p:nvGrpSpPr>
            <p:grpSpPr>
              <a:xfrm>
                <a:off x="3697283" y="1"/>
                <a:ext cx="884241" cy="6858001"/>
                <a:chOff x="3697283" y="0"/>
                <a:chExt cx="884241" cy="6858001"/>
              </a:xfrm>
            </p:grpSpPr>
            <p:sp>
              <p:nvSpPr>
                <p:cNvPr id="698" name="Google Shape;698;p55"/>
                <p:cNvSpPr/>
                <p:nvPr/>
              </p:nvSpPr>
              <p:spPr>
                <a:xfrm flipH="1" rot="-5400000">
                  <a:off x="705641" y="2991642"/>
                  <a:ext cx="6858001" cy="874716"/>
                </a:xfrm>
                <a:custGeom>
                  <a:rect b="b" l="l" r="r" t="t"/>
                  <a:pathLst>
                    <a:path extrusionOk="0" h="874716" w="6858001">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rotWithShape="1">
                  <a:blip r:embed="rId3">
                    <a:alphaModFix amt="57000"/>
                  </a:blip>
                  <a:tile algn="tl" flip="none" tx="0" sx="100000" ty="0" sy="100000"/>
                </a:blip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99" name="Google Shape;699;p55"/>
                <p:cNvSpPr/>
                <p:nvPr/>
              </p:nvSpPr>
              <p:spPr>
                <a:xfrm flipH="1" rot="-5400000">
                  <a:off x="715166" y="2991642"/>
                  <a:ext cx="6858001" cy="874716"/>
                </a:xfrm>
                <a:custGeom>
                  <a:rect b="b" l="l" r="r" t="t"/>
                  <a:pathLst>
                    <a:path extrusionOk="0" h="874716" w="6858001">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rotWithShape="1">
                  <a:blip r:embed="rId3">
                    <a:alphaModFix amt="57000"/>
                  </a:blip>
                  <a:tile algn="tl" flip="none" tx="0" sx="100000" ty="0" sy="100000"/>
                </a:blip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grpSp>
      </p:grpSp>
      <p:sp>
        <p:nvSpPr>
          <p:cNvPr id="700" name="Google Shape;700;p55"/>
          <p:cNvSpPr txBox="1"/>
          <p:nvPr>
            <p:ph type="title"/>
          </p:nvPr>
        </p:nvSpPr>
        <p:spPr>
          <a:xfrm>
            <a:off x="629100" y="1231314"/>
            <a:ext cx="1991915" cy="3288141"/>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lt1"/>
              </a:buClr>
              <a:buSzPts val="3000"/>
              <a:buFont typeface="Play"/>
              <a:buNone/>
            </a:pPr>
            <a:r>
              <a:rPr b="1" lang="uk" sz="3000">
                <a:solidFill>
                  <a:schemeClr val="lt1"/>
                </a:solidFill>
              </a:rPr>
              <a:t>Майбутнє LLM</a:t>
            </a:r>
            <a:br>
              <a:rPr b="1" lang="uk" sz="3000">
                <a:solidFill>
                  <a:schemeClr val="lt1"/>
                </a:solidFill>
              </a:rPr>
            </a:br>
            <a:endParaRPr sz="3000">
              <a:solidFill>
                <a:schemeClr val="lt1"/>
              </a:solidFill>
            </a:endParaRPr>
          </a:p>
        </p:txBody>
      </p:sp>
      <p:grpSp>
        <p:nvGrpSpPr>
          <p:cNvPr id="701" name="Google Shape;701;p55"/>
          <p:cNvGrpSpPr/>
          <p:nvPr/>
        </p:nvGrpSpPr>
        <p:grpSpPr>
          <a:xfrm>
            <a:off x="3924300" y="631031"/>
            <a:ext cx="4591050" cy="3888423"/>
            <a:chOff x="0" y="0"/>
            <a:chExt cx="6121400" cy="5184564"/>
          </a:xfrm>
        </p:grpSpPr>
        <p:cxnSp>
          <p:nvCxnSpPr>
            <p:cNvPr id="702" name="Google Shape;702;p55"/>
            <p:cNvCxnSpPr/>
            <p:nvPr/>
          </p:nvCxnSpPr>
          <p:spPr>
            <a:xfrm>
              <a:off x="0" y="0"/>
              <a:ext cx="6121400" cy="0"/>
            </a:xfrm>
            <a:prstGeom prst="straightConnector1">
              <a:avLst/>
            </a:prstGeom>
            <a:solidFill>
              <a:srgbClr val="E97131"/>
            </a:solidFill>
            <a:ln cap="flat" cmpd="sng" w="19050">
              <a:solidFill>
                <a:srgbClr val="E97131"/>
              </a:solidFill>
              <a:prstDash val="solid"/>
              <a:miter lim="800000"/>
              <a:headEnd len="sm" w="sm" type="none"/>
              <a:tailEnd len="sm" w="sm" type="none"/>
            </a:ln>
          </p:spPr>
        </p:cxnSp>
        <p:sp>
          <p:nvSpPr>
            <p:cNvPr id="703" name="Google Shape;703;p55"/>
            <p:cNvSpPr/>
            <p:nvPr/>
          </p:nvSpPr>
          <p:spPr>
            <a:xfrm>
              <a:off x="0" y="0"/>
              <a:ext cx="6121400" cy="1296141"/>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04" name="Google Shape;704;p55"/>
            <p:cNvSpPr txBox="1"/>
            <p:nvPr/>
          </p:nvSpPr>
          <p:spPr>
            <a:xfrm>
              <a:off x="0" y="0"/>
              <a:ext cx="6121400" cy="1296141"/>
            </a:xfrm>
            <a:prstGeom prst="rect">
              <a:avLst/>
            </a:prstGeom>
            <a:noFill/>
            <a:ln>
              <a:noFill/>
            </a:ln>
          </p:spPr>
          <p:txBody>
            <a:bodyPr anchorCtr="0" anchor="t" bIns="85725" lIns="85725" spcFirstLastPara="1" rIns="85725" wrap="square" tIns="85725">
              <a:noAutofit/>
            </a:bodyPr>
            <a:lstStyle/>
            <a:p>
              <a:pPr indent="0" lvl="0" marL="0" marR="0" rtl="0" algn="l">
                <a:lnSpc>
                  <a:spcPct val="90000"/>
                </a:lnSpc>
                <a:spcBef>
                  <a:spcPts val="0"/>
                </a:spcBef>
                <a:spcAft>
                  <a:spcPts val="0"/>
                </a:spcAft>
                <a:buClr>
                  <a:schemeClr val="dk1"/>
                </a:buClr>
                <a:buSzPts val="2300"/>
                <a:buFont typeface="Arial"/>
                <a:buNone/>
              </a:pPr>
              <a:r>
                <a:rPr b="0" i="0" lang="uk" sz="1900" u="none" cap="none" strike="noStrike">
                  <a:solidFill>
                    <a:schemeClr val="dk1"/>
                  </a:solidFill>
                  <a:latin typeface="Arial"/>
                  <a:ea typeface="Arial"/>
                  <a:cs typeface="Arial"/>
                  <a:sym typeface="Arial"/>
                </a:rPr>
                <a:t>Збільшення контекстного вікна (мільйони токенів).</a:t>
              </a:r>
              <a:endParaRPr b="0" i="0" sz="1900" u="none" cap="none" strike="noStrike">
                <a:solidFill>
                  <a:schemeClr val="dk1"/>
                </a:solidFill>
                <a:latin typeface="Arial"/>
                <a:ea typeface="Arial"/>
                <a:cs typeface="Arial"/>
                <a:sym typeface="Arial"/>
              </a:endParaRPr>
            </a:p>
          </p:txBody>
        </p:sp>
        <p:cxnSp>
          <p:nvCxnSpPr>
            <p:cNvPr id="705" name="Google Shape;705;p55"/>
            <p:cNvCxnSpPr/>
            <p:nvPr/>
          </p:nvCxnSpPr>
          <p:spPr>
            <a:xfrm>
              <a:off x="0" y="1296141"/>
              <a:ext cx="6121400" cy="0"/>
            </a:xfrm>
            <a:prstGeom prst="straightConnector1">
              <a:avLst/>
            </a:prstGeom>
            <a:solidFill>
              <a:srgbClr val="C8BE1E"/>
            </a:solidFill>
            <a:ln cap="flat" cmpd="sng" w="19050">
              <a:solidFill>
                <a:srgbClr val="C8BE1E"/>
              </a:solidFill>
              <a:prstDash val="solid"/>
              <a:miter lim="800000"/>
              <a:headEnd len="sm" w="sm" type="none"/>
              <a:tailEnd len="sm" w="sm" type="none"/>
            </a:ln>
          </p:spPr>
        </p:cxnSp>
        <p:sp>
          <p:nvSpPr>
            <p:cNvPr id="706" name="Google Shape;706;p55"/>
            <p:cNvSpPr/>
            <p:nvPr/>
          </p:nvSpPr>
          <p:spPr>
            <a:xfrm>
              <a:off x="0" y="1296141"/>
              <a:ext cx="6121400" cy="1296141"/>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07" name="Google Shape;707;p55"/>
            <p:cNvSpPr txBox="1"/>
            <p:nvPr/>
          </p:nvSpPr>
          <p:spPr>
            <a:xfrm>
              <a:off x="0" y="1296141"/>
              <a:ext cx="6121400" cy="1296141"/>
            </a:xfrm>
            <a:prstGeom prst="rect">
              <a:avLst/>
            </a:prstGeom>
            <a:noFill/>
            <a:ln>
              <a:noFill/>
            </a:ln>
          </p:spPr>
          <p:txBody>
            <a:bodyPr anchorCtr="0" anchor="t" bIns="85725" lIns="85725" spcFirstLastPara="1" rIns="85725" wrap="square" tIns="85725">
              <a:normAutofit/>
            </a:bodyPr>
            <a:lstStyle/>
            <a:p>
              <a:pPr indent="0" lvl="0" marL="0" marR="0" rtl="0" algn="l">
                <a:lnSpc>
                  <a:spcPct val="90000"/>
                </a:lnSpc>
                <a:spcBef>
                  <a:spcPts val="0"/>
                </a:spcBef>
                <a:spcAft>
                  <a:spcPts val="0"/>
                </a:spcAft>
                <a:buClr>
                  <a:schemeClr val="dk1"/>
                </a:buClr>
                <a:buSzPts val="2300"/>
                <a:buFont typeface="Arial"/>
                <a:buNone/>
              </a:pPr>
              <a:r>
                <a:rPr b="0" i="0" lang="uk" sz="1900" u="none" cap="none" strike="noStrike">
                  <a:solidFill>
                    <a:schemeClr val="dk1"/>
                  </a:solidFill>
                  <a:latin typeface="Arial"/>
                  <a:ea typeface="Arial"/>
                  <a:cs typeface="Arial"/>
                  <a:sym typeface="Arial"/>
                </a:rPr>
                <a:t>Мультимодальність (текст + зображення + аудіо + відео).</a:t>
              </a:r>
              <a:endParaRPr b="0" i="0" sz="1900" u="none" cap="none" strike="noStrike">
                <a:solidFill>
                  <a:schemeClr val="dk1"/>
                </a:solidFill>
                <a:latin typeface="Arial"/>
                <a:ea typeface="Arial"/>
                <a:cs typeface="Arial"/>
                <a:sym typeface="Arial"/>
              </a:endParaRPr>
            </a:p>
          </p:txBody>
        </p:sp>
        <p:cxnSp>
          <p:nvCxnSpPr>
            <p:cNvPr id="708" name="Google Shape;708;p55"/>
            <p:cNvCxnSpPr/>
            <p:nvPr/>
          </p:nvCxnSpPr>
          <p:spPr>
            <a:xfrm>
              <a:off x="0" y="2592282"/>
              <a:ext cx="6121400" cy="0"/>
            </a:xfrm>
            <a:prstGeom prst="straightConnector1">
              <a:avLst/>
            </a:prstGeom>
            <a:solidFill>
              <a:srgbClr val="55971D"/>
            </a:solidFill>
            <a:ln cap="flat" cmpd="sng" w="19050">
              <a:solidFill>
                <a:srgbClr val="55971D"/>
              </a:solidFill>
              <a:prstDash val="solid"/>
              <a:miter lim="800000"/>
              <a:headEnd len="sm" w="sm" type="none"/>
              <a:tailEnd len="sm" w="sm" type="none"/>
            </a:ln>
          </p:spPr>
        </p:cxnSp>
        <p:sp>
          <p:nvSpPr>
            <p:cNvPr id="709" name="Google Shape;709;p55"/>
            <p:cNvSpPr/>
            <p:nvPr/>
          </p:nvSpPr>
          <p:spPr>
            <a:xfrm>
              <a:off x="0" y="2592282"/>
              <a:ext cx="6121400" cy="1296141"/>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10" name="Google Shape;710;p55"/>
            <p:cNvSpPr txBox="1"/>
            <p:nvPr/>
          </p:nvSpPr>
          <p:spPr>
            <a:xfrm>
              <a:off x="0" y="2592282"/>
              <a:ext cx="6121400" cy="1296141"/>
            </a:xfrm>
            <a:prstGeom prst="rect">
              <a:avLst/>
            </a:prstGeom>
            <a:noFill/>
            <a:ln>
              <a:noFill/>
            </a:ln>
          </p:spPr>
          <p:txBody>
            <a:bodyPr anchorCtr="0" anchor="t" bIns="85725" lIns="85725" spcFirstLastPara="1" rIns="85725" wrap="square" tIns="85725">
              <a:normAutofit/>
            </a:bodyPr>
            <a:lstStyle/>
            <a:p>
              <a:pPr indent="0" lvl="0" marL="0" marR="0" rtl="0" algn="l">
                <a:lnSpc>
                  <a:spcPct val="90000"/>
                </a:lnSpc>
                <a:spcBef>
                  <a:spcPts val="0"/>
                </a:spcBef>
                <a:spcAft>
                  <a:spcPts val="0"/>
                </a:spcAft>
                <a:buClr>
                  <a:schemeClr val="dk1"/>
                </a:buClr>
                <a:buSzPts val="2300"/>
                <a:buFont typeface="Arial"/>
                <a:buNone/>
              </a:pPr>
              <a:r>
                <a:rPr b="0" i="0" lang="uk" sz="1900" u="none" cap="none" strike="noStrike">
                  <a:solidFill>
                    <a:schemeClr val="dk1"/>
                  </a:solidFill>
                  <a:latin typeface="Arial"/>
                  <a:ea typeface="Arial"/>
                  <a:cs typeface="Arial"/>
                  <a:sym typeface="Arial"/>
                </a:rPr>
                <a:t>Зменшення вартості інференсу.</a:t>
              </a:r>
              <a:endParaRPr b="0" i="0" sz="1900" u="none" cap="none" strike="noStrike">
                <a:solidFill>
                  <a:schemeClr val="dk1"/>
                </a:solidFill>
                <a:latin typeface="Arial"/>
                <a:ea typeface="Arial"/>
                <a:cs typeface="Arial"/>
                <a:sym typeface="Arial"/>
              </a:endParaRPr>
            </a:p>
          </p:txBody>
        </p:sp>
        <p:cxnSp>
          <p:nvCxnSpPr>
            <p:cNvPr id="711" name="Google Shape;711;p55"/>
            <p:cNvCxnSpPr/>
            <p:nvPr/>
          </p:nvCxnSpPr>
          <p:spPr>
            <a:xfrm>
              <a:off x="0" y="3888423"/>
              <a:ext cx="6121400" cy="0"/>
            </a:xfrm>
            <a:prstGeom prst="straightConnector1">
              <a:avLst/>
            </a:prstGeom>
            <a:solidFill>
              <a:srgbClr val="186923"/>
            </a:solidFill>
            <a:ln cap="flat" cmpd="sng" w="19050">
              <a:solidFill>
                <a:srgbClr val="186923"/>
              </a:solidFill>
              <a:prstDash val="solid"/>
              <a:miter lim="800000"/>
              <a:headEnd len="sm" w="sm" type="none"/>
              <a:tailEnd len="sm" w="sm" type="none"/>
            </a:ln>
          </p:spPr>
        </p:cxnSp>
        <p:sp>
          <p:nvSpPr>
            <p:cNvPr id="712" name="Google Shape;712;p55"/>
            <p:cNvSpPr/>
            <p:nvPr/>
          </p:nvSpPr>
          <p:spPr>
            <a:xfrm>
              <a:off x="0" y="3888423"/>
              <a:ext cx="6121400" cy="1296141"/>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13" name="Google Shape;713;p55"/>
            <p:cNvSpPr txBox="1"/>
            <p:nvPr/>
          </p:nvSpPr>
          <p:spPr>
            <a:xfrm>
              <a:off x="0" y="3888423"/>
              <a:ext cx="6121400" cy="1296141"/>
            </a:xfrm>
            <a:prstGeom prst="rect">
              <a:avLst/>
            </a:prstGeom>
            <a:noFill/>
            <a:ln>
              <a:noFill/>
            </a:ln>
          </p:spPr>
          <p:txBody>
            <a:bodyPr anchorCtr="0" anchor="t" bIns="85725" lIns="85725" spcFirstLastPara="1" rIns="85725" wrap="square" tIns="85725">
              <a:normAutofit/>
            </a:bodyPr>
            <a:lstStyle/>
            <a:p>
              <a:pPr indent="0" lvl="0" marL="0" marR="0" rtl="0" algn="l">
                <a:lnSpc>
                  <a:spcPct val="90000"/>
                </a:lnSpc>
                <a:spcBef>
                  <a:spcPts val="0"/>
                </a:spcBef>
                <a:spcAft>
                  <a:spcPts val="0"/>
                </a:spcAft>
                <a:buClr>
                  <a:schemeClr val="dk1"/>
                </a:buClr>
                <a:buSzPts val="2300"/>
                <a:buFont typeface="Arial"/>
                <a:buNone/>
              </a:pPr>
              <a:r>
                <a:rPr b="0" i="0" lang="uk" sz="1900" u="none" cap="none" strike="noStrike">
                  <a:solidFill>
                    <a:schemeClr val="dk1"/>
                  </a:solidFill>
                  <a:latin typeface="Arial"/>
                  <a:ea typeface="Arial"/>
                  <a:cs typeface="Arial"/>
                  <a:sym typeface="Arial"/>
                </a:rPr>
                <a:t>Агенти – LLM, що використовують інструменти (пошук, API).</a:t>
              </a:r>
              <a:endParaRPr sz="700"/>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7" name="Shape 717"/>
        <p:cNvGrpSpPr/>
        <p:nvPr/>
      </p:nvGrpSpPr>
      <p:grpSpPr>
        <a:xfrm>
          <a:off x="0" y="0"/>
          <a:ext cx="0" cy="0"/>
          <a:chOff x="0" y="0"/>
          <a:chExt cx="0" cy="0"/>
        </a:xfrm>
      </p:grpSpPr>
      <p:sp>
        <p:nvSpPr>
          <p:cNvPr id="718" name="Google Shape;718;p56"/>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19" name="Google Shape;719;p56"/>
          <p:cNvSpPr/>
          <p:nvPr/>
        </p:nvSpPr>
        <p:spPr>
          <a:xfrm>
            <a:off x="-1" y="0"/>
            <a:ext cx="3341755" cy="5143500"/>
          </a:xfrm>
          <a:custGeom>
            <a:rect b="b" l="l" r="r" t="t"/>
            <a:pathLst>
              <a:path extrusionOk="0" h="6858000" w="4455673">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solidFill>
            <a:schemeClr val="lt1"/>
          </a:solidFill>
          <a:ln cap="flat" cmpd="sng" w="9525">
            <a:solidFill>
              <a:srgbClr val="EFEFEF"/>
            </a:solidFill>
            <a:prstDash val="solid"/>
            <a:miter lim="800000"/>
            <a:headEnd len="sm" w="sm" type="none"/>
            <a:tailEnd len="sm" w="sm" type="none"/>
          </a:ln>
          <a:effectLst>
            <a:outerShdw blurRad="88900" rotWithShape="0" algn="l" dist="38100">
              <a:srgbClr val="D8D8D8">
                <a:alpha val="50196"/>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720" name="Google Shape;720;p56"/>
          <p:cNvSpPr/>
          <p:nvPr/>
        </p:nvSpPr>
        <p:spPr>
          <a:xfrm>
            <a:off x="0" y="0"/>
            <a:ext cx="3334897" cy="5143500"/>
          </a:xfrm>
          <a:custGeom>
            <a:rect b="b" l="l" r="r" t="t"/>
            <a:pathLst>
              <a:path extrusionOk="0" h="6858000" w="4446529">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721" name="Google Shape;721;p56"/>
          <p:cNvSpPr txBox="1"/>
          <p:nvPr>
            <p:ph type="title"/>
          </p:nvPr>
        </p:nvSpPr>
        <p:spPr>
          <a:xfrm>
            <a:off x="278321" y="870966"/>
            <a:ext cx="2578608" cy="929259"/>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100"/>
              <a:buFont typeface="Play"/>
              <a:buNone/>
            </a:pPr>
            <a:r>
              <a:rPr b="1" lang="uk" sz="2100"/>
              <a:t>Етичні питання LLM</a:t>
            </a:r>
            <a:br>
              <a:rPr b="1" lang="uk" sz="2100"/>
            </a:br>
            <a:endParaRPr sz="2100"/>
          </a:p>
        </p:txBody>
      </p:sp>
      <p:sp>
        <p:nvSpPr>
          <p:cNvPr id="722" name="Google Shape;722;p56"/>
          <p:cNvSpPr/>
          <p:nvPr/>
        </p:nvSpPr>
        <p:spPr>
          <a:xfrm>
            <a:off x="0" y="1069909"/>
            <a:ext cx="96012" cy="490427"/>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sp>
        <p:nvSpPr>
          <p:cNvPr id="723" name="Google Shape;723;p56"/>
          <p:cNvSpPr/>
          <p:nvPr/>
        </p:nvSpPr>
        <p:spPr>
          <a:xfrm>
            <a:off x="296920" y="1832610"/>
            <a:ext cx="2537460" cy="13716"/>
          </a:xfrm>
          <a:prstGeom prst="rect">
            <a:avLst/>
          </a:prstGeom>
          <a:solidFill>
            <a:srgbClr val="D5D5D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pic>
        <p:nvPicPr>
          <p:cNvPr descr="Top Ethical LLM Content Creation Tips 2026" id="724" name="Google Shape;724;p56"/>
          <p:cNvPicPr preferRelativeResize="0"/>
          <p:nvPr/>
        </p:nvPicPr>
        <p:blipFill rotWithShape="1">
          <a:blip r:embed="rId3">
            <a:alphaModFix/>
          </a:blip>
          <a:srcRect b="0" l="0" r="0" t="0"/>
          <a:stretch/>
        </p:blipFill>
        <p:spPr>
          <a:xfrm>
            <a:off x="3449470" y="1301402"/>
            <a:ext cx="5586814" cy="3142582"/>
          </a:xfrm>
          <a:prstGeom prst="rect">
            <a:avLst/>
          </a:prstGeom>
          <a:noFill/>
          <a:ln>
            <a:noFill/>
          </a:ln>
          <a:effectLst>
            <a:outerShdw blurRad="292100" rotWithShape="0" algn="tl" dir="2700000" dist="139700">
              <a:srgbClr val="333333">
                <a:alpha val="65098"/>
              </a:srgbClr>
            </a:outerShdw>
          </a:effectLst>
        </p:spPr>
      </p:pic>
      <p:grpSp>
        <p:nvGrpSpPr>
          <p:cNvPr id="725" name="Google Shape;725;p56"/>
          <p:cNvGrpSpPr/>
          <p:nvPr/>
        </p:nvGrpSpPr>
        <p:grpSpPr>
          <a:xfrm>
            <a:off x="278321" y="2038541"/>
            <a:ext cx="2579180" cy="2405443"/>
            <a:chOff x="0" y="0"/>
            <a:chExt cx="3438906" cy="3207257"/>
          </a:xfrm>
        </p:grpSpPr>
        <p:cxnSp>
          <p:nvCxnSpPr>
            <p:cNvPr id="726" name="Google Shape;726;p56"/>
            <p:cNvCxnSpPr/>
            <p:nvPr/>
          </p:nvCxnSpPr>
          <p:spPr>
            <a:xfrm>
              <a:off x="0" y="0"/>
              <a:ext cx="3438906" cy="0"/>
            </a:xfrm>
            <a:prstGeom prst="straightConnector1">
              <a:avLst/>
            </a:prstGeom>
            <a:solidFill>
              <a:srgbClr val="A02891"/>
            </a:solidFill>
            <a:ln cap="flat" cmpd="sng" w="19050">
              <a:solidFill>
                <a:srgbClr val="A02891"/>
              </a:solidFill>
              <a:prstDash val="solid"/>
              <a:miter lim="800000"/>
              <a:headEnd len="sm" w="sm" type="none"/>
              <a:tailEnd len="sm" w="sm" type="none"/>
            </a:ln>
          </p:spPr>
        </p:cxnSp>
        <p:sp>
          <p:nvSpPr>
            <p:cNvPr id="727" name="Google Shape;727;p56"/>
            <p:cNvSpPr/>
            <p:nvPr/>
          </p:nvSpPr>
          <p:spPr>
            <a:xfrm>
              <a:off x="0" y="0"/>
              <a:ext cx="3438906" cy="801814"/>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28" name="Google Shape;728;p56"/>
            <p:cNvSpPr txBox="1"/>
            <p:nvPr/>
          </p:nvSpPr>
          <p:spPr>
            <a:xfrm>
              <a:off x="0" y="0"/>
              <a:ext cx="3438906" cy="801814"/>
            </a:xfrm>
            <a:prstGeom prst="rect">
              <a:avLst/>
            </a:prstGeom>
            <a:noFill/>
            <a:ln>
              <a:noFill/>
            </a:ln>
          </p:spPr>
          <p:txBody>
            <a:bodyPr anchorCtr="0" anchor="t" bIns="60000" lIns="60000" spcFirstLastPara="1" rIns="60000" wrap="square" tIns="60000">
              <a:normAutofit/>
            </a:bodyPr>
            <a:lstStyle/>
            <a:p>
              <a:pPr indent="0" lvl="0" marL="0" marR="0" rtl="0" algn="l">
                <a:lnSpc>
                  <a:spcPct val="90000"/>
                </a:lnSpc>
                <a:spcBef>
                  <a:spcPts val="0"/>
                </a:spcBef>
                <a:spcAft>
                  <a:spcPts val="0"/>
                </a:spcAft>
                <a:buClr>
                  <a:schemeClr val="dk1"/>
                </a:buClr>
                <a:buSzPts val="1600"/>
                <a:buFont typeface="Arial"/>
                <a:buNone/>
              </a:pPr>
              <a:r>
                <a:rPr b="0" i="0" lang="uk" u="none" cap="none" strike="noStrike">
                  <a:solidFill>
                    <a:schemeClr val="dk1"/>
                  </a:solidFill>
                  <a:latin typeface="Arial"/>
                  <a:ea typeface="Arial"/>
                  <a:cs typeface="Arial"/>
                  <a:sym typeface="Arial"/>
                </a:rPr>
                <a:t>Авторське право на згенерований текст.</a:t>
              </a:r>
              <a:endParaRPr b="0" i="0" u="none" cap="none" strike="noStrike">
                <a:solidFill>
                  <a:schemeClr val="dk1"/>
                </a:solidFill>
                <a:latin typeface="Arial"/>
                <a:ea typeface="Arial"/>
                <a:cs typeface="Arial"/>
                <a:sym typeface="Arial"/>
              </a:endParaRPr>
            </a:p>
          </p:txBody>
        </p:sp>
        <p:cxnSp>
          <p:nvCxnSpPr>
            <p:cNvPr id="729" name="Google Shape;729;p56"/>
            <p:cNvCxnSpPr/>
            <p:nvPr/>
          </p:nvCxnSpPr>
          <p:spPr>
            <a:xfrm>
              <a:off x="0" y="801814"/>
              <a:ext cx="3438906" cy="0"/>
            </a:xfrm>
            <a:prstGeom prst="straightConnector1">
              <a:avLst/>
            </a:prstGeom>
            <a:solidFill>
              <a:srgbClr val="2A2CA1"/>
            </a:solidFill>
            <a:ln cap="flat" cmpd="sng" w="19050">
              <a:solidFill>
                <a:srgbClr val="2A2CA1"/>
              </a:solidFill>
              <a:prstDash val="solid"/>
              <a:miter lim="800000"/>
              <a:headEnd len="sm" w="sm" type="none"/>
              <a:tailEnd len="sm" w="sm" type="none"/>
            </a:ln>
          </p:spPr>
        </p:cxnSp>
        <p:sp>
          <p:nvSpPr>
            <p:cNvPr id="730" name="Google Shape;730;p56"/>
            <p:cNvSpPr/>
            <p:nvPr/>
          </p:nvSpPr>
          <p:spPr>
            <a:xfrm>
              <a:off x="0" y="801814"/>
              <a:ext cx="3438906" cy="801814"/>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31" name="Google Shape;731;p56"/>
            <p:cNvSpPr txBox="1"/>
            <p:nvPr/>
          </p:nvSpPr>
          <p:spPr>
            <a:xfrm>
              <a:off x="0" y="801814"/>
              <a:ext cx="3438906" cy="801814"/>
            </a:xfrm>
            <a:prstGeom prst="rect">
              <a:avLst/>
            </a:prstGeom>
            <a:noFill/>
            <a:ln>
              <a:noFill/>
            </a:ln>
          </p:spPr>
          <p:txBody>
            <a:bodyPr anchorCtr="0" anchor="t" bIns="60000" lIns="60000" spcFirstLastPara="1" rIns="60000" wrap="square" tIns="60000">
              <a:normAutofit/>
            </a:bodyPr>
            <a:lstStyle/>
            <a:p>
              <a:pPr indent="0" lvl="0" marL="0" marR="0" rtl="0" algn="l">
                <a:lnSpc>
                  <a:spcPct val="90000"/>
                </a:lnSpc>
                <a:spcBef>
                  <a:spcPts val="0"/>
                </a:spcBef>
                <a:spcAft>
                  <a:spcPts val="0"/>
                </a:spcAft>
                <a:buClr>
                  <a:schemeClr val="dk1"/>
                </a:buClr>
                <a:buSzPts val="1600"/>
                <a:buFont typeface="Arial"/>
                <a:buNone/>
              </a:pPr>
              <a:r>
                <a:rPr b="0" i="0" lang="uk" u="none" cap="none" strike="noStrike">
                  <a:solidFill>
                    <a:schemeClr val="dk1"/>
                  </a:solidFill>
                  <a:latin typeface="Arial"/>
                  <a:ea typeface="Arial"/>
                  <a:cs typeface="Arial"/>
                  <a:sym typeface="Arial"/>
                </a:rPr>
                <a:t>Вплив на ринок праці (копірайтинг, переклад).</a:t>
              </a:r>
              <a:endParaRPr b="0" i="0" u="none" cap="none" strike="noStrike">
                <a:solidFill>
                  <a:schemeClr val="dk1"/>
                </a:solidFill>
                <a:latin typeface="Arial"/>
                <a:ea typeface="Arial"/>
                <a:cs typeface="Arial"/>
                <a:sym typeface="Arial"/>
              </a:endParaRPr>
            </a:p>
          </p:txBody>
        </p:sp>
        <p:cxnSp>
          <p:nvCxnSpPr>
            <p:cNvPr id="732" name="Google Shape;732;p56"/>
            <p:cNvCxnSpPr/>
            <p:nvPr/>
          </p:nvCxnSpPr>
          <p:spPr>
            <a:xfrm>
              <a:off x="0" y="1603629"/>
              <a:ext cx="3438906" cy="0"/>
            </a:xfrm>
            <a:prstGeom prst="straightConnector1">
              <a:avLst/>
            </a:prstGeom>
            <a:solidFill>
              <a:srgbClr val="2BA492"/>
            </a:solidFill>
            <a:ln cap="flat" cmpd="sng" w="19050">
              <a:solidFill>
                <a:srgbClr val="2BA492"/>
              </a:solidFill>
              <a:prstDash val="solid"/>
              <a:miter lim="800000"/>
              <a:headEnd len="sm" w="sm" type="none"/>
              <a:tailEnd len="sm" w="sm" type="none"/>
            </a:ln>
          </p:spPr>
        </p:cxnSp>
        <p:sp>
          <p:nvSpPr>
            <p:cNvPr id="733" name="Google Shape;733;p56"/>
            <p:cNvSpPr/>
            <p:nvPr/>
          </p:nvSpPr>
          <p:spPr>
            <a:xfrm>
              <a:off x="0" y="1603629"/>
              <a:ext cx="3438906" cy="801814"/>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34" name="Google Shape;734;p56"/>
            <p:cNvSpPr txBox="1"/>
            <p:nvPr/>
          </p:nvSpPr>
          <p:spPr>
            <a:xfrm>
              <a:off x="0" y="1603629"/>
              <a:ext cx="3438906" cy="801814"/>
            </a:xfrm>
            <a:prstGeom prst="rect">
              <a:avLst/>
            </a:prstGeom>
            <a:noFill/>
            <a:ln>
              <a:noFill/>
            </a:ln>
          </p:spPr>
          <p:txBody>
            <a:bodyPr anchorCtr="0" anchor="t" bIns="60000" lIns="60000" spcFirstLastPara="1" rIns="60000" wrap="square" tIns="60000">
              <a:normAutofit/>
            </a:bodyPr>
            <a:lstStyle/>
            <a:p>
              <a:pPr indent="0" lvl="0" marL="0" marR="0" rtl="0" algn="l">
                <a:lnSpc>
                  <a:spcPct val="90000"/>
                </a:lnSpc>
                <a:spcBef>
                  <a:spcPts val="0"/>
                </a:spcBef>
                <a:spcAft>
                  <a:spcPts val="0"/>
                </a:spcAft>
                <a:buClr>
                  <a:schemeClr val="dk1"/>
                </a:buClr>
                <a:buSzPts val="1600"/>
                <a:buFont typeface="Arial"/>
                <a:buNone/>
              </a:pPr>
              <a:r>
                <a:rPr b="0" i="0" lang="uk" u="none" cap="none" strike="noStrike">
                  <a:solidFill>
                    <a:schemeClr val="dk1"/>
                  </a:solidFill>
                  <a:latin typeface="Arial"/>
                  <a:ea typeface="Arial"/>
                  <a:cs typeface="Arial"/>
                  <a:sym typeface="Arial"/>
                </a:rPr>
                <a:t>Маніпуляція інформацією, дезінформація.</a:t>
              </a:r>
              <a:endParaRPr b="0" i="0" u="none" cap="none" strike="noStrike">
                <a:solidFill>
                  <a:schemeClr val="dk1"/>
                </a:solidFill>
                <a:latin typeface="Arial"/>
                <a:ea typeface="Arial"/>
                <a:cs typeface="Arial"/>
                <a:sym typeface="Arial"/>
              </a:endParaRPr>
            </a:p>
          </p:txBody>
        </p:sp>
        <p:cxnSp>
          <p:nvCxnSpPr>
            <p:cNvPr id="735" name="Google Shape;735;p56"/>
            <p:cNvCxnSpPr/>
            <p:nvPr/>
          </p:nvCxnSpPr>
          <p:spPr>
            <a:xfrm>
              <a:off x="0" y="2405443"/>
              <a:ext cx="3438906" cy="0"/>
            </a:xfrm>
            <a:prstGeom prst="straightConnector1">
              <a:avLst/>
            </a:prstGeom>
            <a:solidFill>
              <a:srgbClr val="4CA62C"/>
            </a:solidFill>
            <a:ln cap="flat" cmpd="sng" w="19050">
              <a:solidFill>
                <a:srgbClr val="4CA62C"/>
              </a:solidFill>
              <a:prstDash val="solid"/>
              <a:miter lim="800000"/>
              <a:headEnd len="sm" w="sm" type="none"/>
              <a:tailEnd len="sm" w="sm" type="none"/>
            </a:ln>
          </p:spPr>
        </p:cxnSp>
        <p:sp>
          <p:nvSpPr>
            <p:cNvPr id="736" name="Google Shape;736;p56"/>
            <p:cNvSpPr/>
            <p:nvPr/>
          </p:nvSpPr>
          <p:spPr>
            <a:xfrm>
              <a:off x="0" y="2405443"/>
              <a:ext cx="3438906" cy="801814"/>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37" name="Google Shape;737;p56"/>
            <p:cNvSpPr txBox="1"/>
            <p:nvPr/>
          </p:nvSpPr>
          <p:spPr>
            <a:xfrm>
              <a:off x="0" y="2405443"/>
              <a:ext cx="3438906" cy="801814"/>
            </a:xfrm>
            <a:prstGeom prst="rect">
              <a:avLst/>
            </a:prstGeom>
            <a:noFill/>
            <a:ln>
              <a:noFill/>
            </a:ln>
          </p:spPr>
          <p:txBody>
            <a:bodyPr anchorCtr="0" anchor="t" bIns="60000" lIns="60000" spcFirstLastPara="1" rIns="60000" wrap="square" tIns="60000">
              <a:normAutofit/>
            </a:bodyPr>
            <a:lstStyle/>
            <a:p>
              <a:pPr indent="0" lvl="0" marL="0" marR="0" rtl="0" algn="l">
                <a:lnSpc>
                  <a:spcPct val="90000"/>
                </a:lnSpc>
                <a:spcBef>
                  <a:spcPts val="0"/>
                </a:spcBef>
                <a:spcAft>
                  <a:spcPts val="0"/>
                </a:spcAft>
                <a:buClr>
                  <a:schemeClr val="dk1"/>
                </a:buClr>
                <a:buSzPts val="1600"/>
                <a:buFont typeface="Arial"/>
                <a:buNone/>
              </a:pPr>
              <a:r>
                <a:rPr b="0" i="0" lang="uk" u="none" cap="none" strike="noStrike">
                  <a:solidFill>
                    <a:schemeClr val="dk1"/>
                  </a:solidFill>
                  <a:latin typeface="Arial"/>
                  <a:ea typeface="Arial"/>
                  <a:cs typeface="Arial"/>
                  <a:sym typeface="Arial"/>
                </a:rPr>
                <a:t>Відповідальність за шкоду від генерацій.</a:t>
              </a:r>
              <a:endParaRPr b="0" i="0" u="none" cap="none" strike="noStrike">
                <a:solidFill>
                  <a:schemeClr val="dk1"/>
                </a:solidFill>
                <a:latin typeface="Arial"/>
                <a:ea typeface="Arial"/>
                <a:cs typeface="Arial"/>
                <a:sym typeface="Arial"/>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1" name="Shape 741"/>
        <p:cNvGrpSpPr/>
        <p:nvPr/>
      </p:nvGrpSpPr>
      <p:grpSpPr>
        <a:xfrm>
          <a:off x="0" y="0"/>
          <a:ext cx="0" cy="0"/>
          <a:chOff x="0" y="0"/>
          <a:chExt cx="0" cy="0"/>
        </a:xfrm>
      </p:grpSpPr>
      <p:sp>
        <p:nvSpPr>
          <p:cNvPr id="742" name="Google Shape;742;p57"/>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43" name="Google Shape;743;p57"/>
          <p:cNvSpPr txBox="1"/>
          <p:nvPr>
            <p:ph type="title"/>
          </p:nvPr>
        </p:nvSpPr>
        <p:spPr>
          <a:xfrm>
            <a:off x="322326" y="308610"/>
            <a:ext cx="8401050" cy="82981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700"/>
              <a:buFont typeface="Play"/>
              <a:buNone/>
            </a:pPr>
            <a:r>
              <a:rPr b="1" lang="uk" sz="2700"/>
              <a:t>Ресурси для вивчення</a:t>
            </a:r>
            <a:br>
              <a:rPr b="1" lang="uk" sz="2700"/>
            </a:br>
            <a:endParaRPr sz="2700"/>
          </a:p>
        </p:txBody>
      </p:sp>
      <p:sp>
        <p:nvSpPr>
          <p:cNvPr id="744" name="Google Shape;744;p57"/>
          <p:cNvSpPr/>
          <p:nvPr/>
        </p:nvSpPr>
        <p:spPr>
          <a:xfrm>
            <a:off x="0" y="448843"/>
            <a:ext cx="96012" cy="528066"/>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pic>
        <p:nvPicPr>
          <p:cNvPr descr="Fine tuning Hugging Face LLM's with QLoRA | by Chris Turner | Medium" id="745" name="Google Shape;745;p57"/>
          <p:cNvPicPr preferRelativeResize="0"/>
          <p:nvPr/>
        </p:nvPicPr>
        <p:blipFill rotWithShape="1">
          <a:blip r:embed="rId3">
            <a:alphaModFix/>
          </a:blip>
          <a:srcRect b="0" l="0" r="0" t="0"/>
          <a:stretch/>
        </p:blipFill>
        <p:spPr>
          <a:xfrm>
            <a:off x="322326" y="1770487"/>
            <a:ext cx="5026914" cy="2425486"/>
          </a:xfrm>
          <a:prstGeom prst="rect">
            <a:avLst/>
          </a:prstGeom>
          <a:noFill/>
          <a:ln>
            <a:noFill/>
          </a:ln>
          <a:effectLst>
            <a:outerShdw blurRad="292100" rotWithShape="0" algn="tl" dir="2700000" dist="139700">
              <a:srgbClr val="333333">
                <a:alpha val="65098"/>
              </a:srgbClr>
            </a:outerShdw>
          </a:effectLst>
        </p:spPr>
      </p:pic>
      <p:sp>
        <p:nvSpPr>
          <p:cNvPr id="746" name="Google Shape;746;p57"/>
          <p:cNvSpPr/>
          <p:nvPr/>
        </p:nvSpPr>
        <p:spPr>
          <a:xfrm>
            <a:off x="5657851" y="1291442"/>
            <a:ext cx="3163824" cy="3390420"/>
          </a:xfrm>
          <a:prstGeom prst="rect">
            <a:avLst/>
          </a:prstGeom>
          <a:solidFill>
            <a:schemeClr val="lt1"/>
          </a:solidFill>
          <a:ln cap="flat" cmpd="sng" w="9525">
            <a:solidFill>
              <a:srgbClr val="DEDEDE"/>
            </a:solidFill>
            <a:prstDash val="solid"/>
            <a:miter lim="800000"/>
            <a:headEnd len="sm" w="sm" type="none"/>
            <a:tailEnd len="sm" w="sm" type="none"/>
          </a:ln>
          <a:effectLst>
            <a:outerShdw blurRad="50800" rotWithShape="0" algn="tl" dir="2700000" dist="38100">
              <a:srgbClr val="D8D8D8">
                <a:alpha val="50196"/>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grpSp>
        <p:nvGrpSpPr>
          <p:cNvPr id="747" name="Google Shape;747;p57"/>
          <p:cNvGrpSpPr/>
          <p:nvPr/>
        </p:nvGrpSpPr>
        <p:grpSpPr>
          <a:xfrm>
            <a:off x="5954064" y="1515618"/>
            <a:ext cx="2591323" cy="2969513"/>
            <a:chOff x="0" y="0"/>
            <a:chExt cx="3455097" cy="3959350"/>
          </a:xfrm>
        </p:grpSpPr>
        <p:cxnSp>
          <p:nvCxnSpPr>
            <p:cNvPr id="748" name="Google Shape;748;p57"/>
            <p:cNvCxnSpPr/>
            <p:nvPr/>
          </p:nvCxnSpPr>
          <p:spPr>
            <a:xfrm>
              <a:off x="0" y="0"/>
              <a:ext cx="3455097" cy="0"/>
            </a:xfrm>
            <a:prstGeom prst="straightConnector1">
              <a:avLst/>
            </a:prstGeom>
            <a:gradFill>
              <a:gsLst>
                <a:gs pos="0">
                  <a:srgbClr val="65B150"/>
                </a:gs>
                <a:gs pos="50000">
                  <a:srgbClr val="4AAC24"/>
                </a:gs>
                <a:gs pos="100000">
                  <a:srgbClr val="3F9D1A"/>
                </a:gs>
              </a:gsLst>
              <a:lin ang="5400000" scaled="0"/>
            </a:gradFill>
            <a:ln cap="flat" cmpd="sng" w="12700">
              <a:solidFill>
                <a:srgbClr val="4EA62C"/>
              </a:solidFill>
              <a:prstDash val="solid"/>
              <a:miter lim="800000"/>
              <a:headEnd len="sm" w="sm" type="none"/>
              <a:tailEnd len="sm" w="sm" type="none"/>
            </a:ln>
            <a:effectLst>
              <a:outerShdw blurRad="57150" rotWithShape="0" algn="ctr" dir="5400000" dist="19050">
                <a:srgbClr val="000000">
                  <a:alpha val="63137"/>
                </a:srgbClr>
              </a:outerShdw>
            </a:effectLst>
          </p:spPr>
        </p:cxnSp>
        <p:sp>
          <p:nvSpPr>
            <p:cNvPr id="749" name="Google Shape;749;p57"/>
            <p:cNvSpPr/>
            <p:nvPr/>
          </p:nvSpPr>
          <p:spPr>
            <a:xfrm>
              <a:off x="0" y="0"/>
              <a:ext cx="3455097" cy="98983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50" name="Google Shape;750;p57"/>
            <p:cNvSpPr txBox="1"/>
            <p:nvPr/>
          </p:nvSpPr>
          <p:spPr>
            <a:xfrm>
              <a:off x="0" y="0"/>
              <a:ext cx="3455097" cy="989837"/>
            </a:xfrm>
            <a:prstGeom prst="rect">
              <a:avLst/>
            </a:prstGeom>
            <a:noFill/>
            <a:ln>
              <a:noFill/>
            </a:ln>
          </p:spPr>
          <p:txBody>
            <a:bodyPr anchorCtr="0" anchor="t" bIns="74300" lIns="74300" spcFirstLastPara="1" rIns="74300" wrap="square" tIns="74300">
              <a:normAutofit/>
            </a:bodyPr>
            <a:lstStyle/>
            <a:p>
              <a:pPr indent="0" lvl="0" marL="0" marR="0" rtl="0" algn="l">
                <a:lnSpc>
                  <a:spcPct val="90000"/>
                </a:lnSpc>
                <a:spcBef>
                  <a:spcPts val="0"/>
                </a:spcBef>
                <a:spcAft>
                  <a:spcPts val="0"/>
                </a:spcAft>
                <a:buClr>
                  <a:schemeClr val="dk1"/>
                </a:buClr>
                <a:buSzPts val="2000"/>
                <a:buFont typeface="Arial"/>
                <a:buNone/>
              </a:pPr>
              <a:r>
                <a:rPr b="0" i="0" lang="uk" sz="1600" u="none" cap="none" strike="noStrike">
                  <a:solidFill>
                    <a:schemeClr val="dk1"/>
                  </a:solidFill>
                  <a:latin typeface="Arial"/>
                  <a:ea typeface="Arial"/>
                  <a:cs typeface="Arial"/>
                  <a:sym typeface="Arial"/>
                </a:rPr>
                <a:t>Hugging Face Course (free).</a:t>
              </a:r>
              <a:endParaRPr sz="700"/>
            </a:p>
          </p:txBody>
        </p:sp>
        <p:cxnSp>
          <p:nvCxnSpPr>
            <p:cNvPr id="751" name="Google Shape;751;p57"/>
            <p:cNvCxnSpPr/>
            <p:nvPr/>
          </p:nvCxnSpPr>
          <p:spPr>
            <a:xfrm>
              <a:off x="0" y="989837"/>
              <a:ext cx="3455097" cy="0"/>
            </a:xfrm>
            <a:prstGeom prst="straightConnector1">
              <a:avLst/>
            </a:prstGeom>
            <a:gradFill>
              <a:gsLst>
                <a:gs pos="0">
                  <a:srgbClr val="65B150"/>
                </a:gs>
                <a:gs pos="50000">
                  <a:srgbClr val="4AAC24"/>
                </a:gs>
                <a:gs pos="100000">
                  <a:srgbClr val="3F9D1A"/>
                </a:gs>
              </a:gsLst>
              <a:lin ang="5400000" scaled="0"/>
            </a:gradFill>
            <a:ln cap="flat" cmpd="sng" w="12700">
              <a:solidFill>
                <a:srgbClr val="4EA62C"/>
              </a:solidFill>
              <a:prstDash val="solid"/>
              <a:miter lim="800000"/>
              <a:headEnd len="sm" w="sm" type="none"/>
              <a:tailEnd len="sm" w="sm" type="none"/>
            </a:ln>
            <a:effectLst>
              <a:outerShdw blurRad="57150" rotWithShape="0" algn="ctr" dir="5400000" dist="19050">
                <a:srgbClr val="000000">
                  <a:alpha val="63137"/>
                </a:srgbClr>
              </a:outerShdw>
            </a:effectLst>
          </p:spPr>
        </p:cxnSp>
        <p:sp>
          <p:nvSpPr>
            <p:cNvPr id="752" name="Google Shape;752;p57"/>
            <p:cNvSpPr/>
            <p:nvPr/>
          </p:nvSpPr>
          <p:spPr>
            <a:xfrm>
              <a:off x="0" y="989837"/>
              <a:ext cx="3455097" cy="98983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53" name="Google Shape;753;p57"/>
            <p:cNvSpPr txBox="1"/>
            <p:nvPr/>
          </p:nvSpPr>
          <p:spPr>
            <a:xfrm>
              <a:off x="0" y="989837"/>
              <a:ext cx="3455097" cy="989837"/>
            </a:xfrm>
            <a:prstGeom prst="rect">
              <a:avLst/>
            </a:prstGeom>
            <a:noFill/>
            <a:ln>
              <a:noFill/>
            </a:ln>
          </p:spPr>
          <p:txBody>
            <a:bodyPr anchorCtr="0" anchor="t" bIns="74300" lIns="74300" spcFirstLastPara="1" rIns="74300" wrap="square" tIns="74300">
              <a:normAutofit/>
            </a:bodyPr>
            <a:lstStyle/>
            <a:p>
              <a:pPr indent="0" lvl="0" marL="0" marR="0" rtl="0" algn="l">
                <a:lnSpc>
                  <a:spcPct val="90000"/>
                </a:lnSpc>
                <a:spcBef>
                  <a:spcPts val="0"/>
                </a:spcBef>
                <a:spcAft>
                  <a:spcPts val="0"/>
                </a:spcAft>
                <a:buClr>
                  <a:schemeClr val="dk1"/>
                </a:buClr>
                <a:buSzPts val="2000"/>
                <a:buFont typeface="Arial"/>
                <a:buNone/>
              </a:pPr>
              <a:r>
                <a:rPr b="0" i="0" lang="uk" sz="1600" u="none" cap="none" strike="noStrike">
                  <a:solidFill>
                    <a:schemeClr val="dk1"/>
                  </a:solidFill>
                  <a:latin typeface="Arial"/>
                  <a:ea typeface="Arial"/>
                  <a:cs typeface="Arial"/>
                  <a:sym typeface="Arial"/>
                </a:rPr>
                <a:t>OpenAI API documentation.</a:t>
              </a:r>
              <a:endParaRPr sz="700"/>
            </a:p>
          </p:txBody>
        </p:sp>
        <p:cxnSp>
          <p:nvCxnSpPr>
            <p:cNvPr id="754" name="Google Shape;754;p57"/>
            <p:cNvCxnSpPr/>
            <p:nvPr/>
          </p:nvCxnSpPr>
          <p:spPr>
            <a:xfrm>
              <a:off x="0" y="1979675"/>
              <a:ext cx="3455097" cy="0"/>
            </a:xfrm>
            <a:prstGeom prst="straightConnector1">
              <a:avLst/>
            </a:prstGeom>
            <a:gradFill>
              <a:gsLst>
                <a:gs pos="0">
                  <a:srgbClr val="65B150"/>
                </a:gs>
                <a:gs pos="50000">
                  <a:srgbClr val="4AAC24"/>
                </a:gs>
                <a:gs pos="100000">
                  <a:srgbClr val="3F9D1A"/>
                </a:gs>
              </a:gsLst>
              <a:lin ang="5400000" scaled="0"/>
            </a:gradFill>
            <a:ln cap="flat" cmpd="sng" w="12700">
              <a:solidFill>
                <a:srgbClr val="4EA62C"/>
              </a:solidFill>
              <a:prstDash val="solid"/>
              <a:miter lim="800000"/>
              <a:headEnd len="sm" w="sm" type="none"/>
              <a:tailEnd len="sm" w="sm" type="none"/>
            </a:ln>
            <a:effectLst>
              <a:outerShdw blurRad="57150" rotWithShape="0" algn="ctr" dir="5400000" dist="19050">
                <a:srgbClr val="000000">
                  <a:alpha val="63137"/>
                </a:srgbClr>
              </a:outerShdw>
            </a:effectLst>
          </p:spPr>
        </p:cxnSp>
        <p:sp>
          <p:nvSpPr>
            <p:cNvPr id="755" name="Google Shape;755;p57"/>
            <p:cNvSpPr/>
            <p:nvPr/>
          </p:nvSpPr>
          <p:spPr>
            <a:xfrm>
              <a:off x="0" y="1979675"/>
              <a:ext cx="3455097" cy="98983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56" name="Google Shape;756;p57"/>
            <p:cNvSpPr txBox="1"/>
            <p:nvPr/>
          </p:nvSpPr>
          <p:spPr>
            <a:xfrm>
              <a:off x="0" y="1979675"/>
              <a:ext cx="3455097" cy="989837"/>
            </a:xfrm>
            <a:prstGeom prst="rect">
              <a:avLst/>
            </a:prstGeom>
            <a:noFill/>
            <a:ln>
              <a:noFill/>
            </a:ln>
          </p:spPr>
          <p:txBody>
            <a:bodyPr anchorCtr="0" anchor="t" bIns="74300" lIns="74300" spcFirstLastPara="1" rIns="74300" wrap="square" tIns="74300">
              <a:normAutofit/>
            </a:bodyPr>
            <a:lstStyle/>
            <a:p>
              <a:pPr indent="0" lvl="0" marL="0" marR="0" rtl="0" algn="l">
                <a:lnSpc>
                  <a:spcPct val="90000"/>
                </a:lnSpc>
                <a:spcBef>
                  <a:spcPts val="0"/>
                </a:spcBef>
                <a:spcAft>
                  <a:spcPts val="0"/>
                </a:spcAft>
                <a:buClr>
                  <a:schemeClr val="dk1"/>
                </a:buClr>
                <a:buSzPts val="2000"/>
                <a:buFont typeface="Arial"/>
                <a:buNone/>
              </a:pPr>
              <a:r>
                <a:rPr b="0" i="0" lang="uk" sz="1600" u="none" cap="none" strike="noStrike">
                  <a:solidFill>
                    <a:schemeClr val="dk1"/>
                  </a:solidFill>
                  <a:latin typeface="Arial"/>
                  <a:ea typeface="Arial"/>
                  <a:cs typeface="Arial"/>
                  <a:sym typeface="Arial"/>
                </a:rPr>
                <a:t>“Attention is All You Need” (original paper).</a:t>
              </a:r>
              <a:endParaRPr sz="700"/>
            </a:p>
          </p:txBody>
        </p:sp>
        <p:cxnSp>
          <p:nvCxnSpPr>
            <p:cNvPr id="757" name="Google Shape;757;p57"/>
            <p:cNvCxnSpPr/>
            <p:nvPr/>
          </p:nvCxnSpPr>
          <p:spPr>
            <a:xfrm>
              <a:off x="0" y="2969513"/>
              <a:ext cx="3455097" cy="0"/>
            </a:xfrm>
            <a:prstGeom prst="straightConnector1">
              <a:avLst/>
            </a:prstGeom>
            <a:gradFill>
              <a:gsLst>
                <a:gs pos="0">
                  <a:srgbClr val="65B150"/>
                </a:gs>
                <a:gs pos="50000">
                  <a:srgbClr val="4AAC24"/>
                </a:gs>
                <a:gs pos="100000">
                  <a:srgbClr val="3F9D1A"/>
                </a:gs>
              </a:gsLst>
              <a:lin ang="5400000" scaled="0"/>
            </a:gradFill>
            <a:ln cap="flat" cmpd="sng" w="12700">
              <a:solidFill>
                <a:srgbClr val="4EA62C"/>
              </a:solidFill>
              <a:prstDash val="solid"/>
              <a:miter lim="800000"/>
              <a:headEnd len="sm" w="sm" type="none"/>
              <a:tailEnd len="sm" w="sm" type="none"/>
            </a:ln>
            <a:effectLst>
              <a:outerShdw blurRad="57150" rotWithShape="0" algn="ctr" dir="5400000" dist="19050">
                <a:srgbClr val="000000">
                  <a:alpha val="63137"/>
                </a:srgbClr>
              </a:outerShdw>
            </a:effectLst>
          </p:spPr>
        </p:cxnSp>
        <p:sp>
          <p:nvSpPr>
            <p:cNvPr id="758" name="Google Shape;758;p57"/>
            <p:cNvSpPr/>
            <p:nvPr/>
          </p:nvSpPr>
          <p:spPr>
            <a:xfrm>
              <a:off x="0" y="2969513"/>
              <a:ext cx="3455097" cy="98983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59" name="Google Shape;759;p57"/>
            <p:cNvSpPr txBox="1"/>
            <p:nvPr/>
          </p:nvSpPr>
          <p:spPr>
            <a:xfrm>
              <a:off x="0" y="2969513"/>
              <a:ext cx="3455097" cy="989837"/>
            </a:xfrm>
            <a:prstGeom prst="rect">
              <a:avLst/>
            </a:prstGeom>
            <a:noFill/>
            <a:ln>
              <a:noFill/>
            </a:ln>
          </p:spPr>
          <p:txBody>
            <a:bodyPr anchorCtr="0" anchor="t" bIns="74300" lIns="74300" spcFirstLastPara="1" rIns="74300" wrap="square" tIns="74300">
              <a:normAutofit/>
            </a:bodyPr>
            <a:lstStyle/>
            <a:p>
              <a:pPr indent="0" lvl="0" marL="0" marR="0" rtl="0" algn="l">
                <a:lnSpc>
                  <a:spcPct val="90000"/>
                </a:lnSpc>
                <a:spcBef>
                  <a:spcPts val="0"/>
                </a:spcBef>
                <a:spcAft>
                  <a:spcPts val="0"/>
                </a:spcAft>
                <a:buClr>
                  <a:schemeClr val="dk1"/>
                </a:buClr>
                <a:buSzPts val="2000"/>
                <a:buFont typeface="Arial"/>
                <a:buNone/>
              </a:pPr>
              <a:r>
                <a:rPr b="0" i="0" lang="uk" sz="1600" u="none" cap="none" strike="noStrike">
                  <a:solidFill>
                    <a:schemeClr val="dk1"/>
                  </a:solidFill>
                  <a:latin typeface="Arial"/>
                  <a:ea typeface="Arial"/>
                  <a:cs typeface="Arial"/>
                  <a:sym typeface="Arial"/>
                </a:rPr>
                <a:t>“The Illustrated Transformer” (blog).</a:t>
              </a:r>
              <a:endParaRPr sz="700"/>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3" name="Shape 763"/>
        <p:cNvGrpSpPr/>
        <p:nvPr/>
      </p:nvGrpSpPr>
      <p:grpSpPr>
        <a:xfrm>
          <a:off x="0" y="0"/>
          <a:ext cx="0" cy="0"/>
          <a:chOff x="0" y="0"/>
          <a:chExt cx="0" cy="0"/>
        </a:xfrm>
      </p:grpSpPr>
      <p:sp>
        <p:nvSpPr>
          <p:cNvPr id="764" name="Google Shape;764;p58"/>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65" name="Google Shape;765;p58"/>
          <p:cNvSpPr/>
          <p:nvPr/>
        </p:nvSpPr>
        <p:spPr>
          <a:xfrm>
            <a:off x="-1" y="0"/>
            <a:ext cx="3614167" cy="5143500"/>
          </a:xfrm>
          <a:custGeom>
            <a:rect b="b" l="l" r="r" t="t"/>
            <a:pathLst>
              <a:path extrusionOk="0" h="6858000" w="4818889">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solidFill>
            <a:schemeClr val="lt1"/>
          </a:solidFill>
          <a:ln cap="flat" cmpd="sng" w="9525">
            <a:solidFill>
              <a:srgbClr val="EFEFEF"/>
            </a:solidFill>
            <a:prstDash val="solid"/>
            <a:miter lim="800000"/>
            <a:headEnd len="sm" w="sm" type="none"/>
            <a:tailEnd len="sm" w="sm" type="none"/>
          </a:ln>
          <a:effectLst>
            <a:outerShdw blurRad="88900" rotWithShape="0" algn="l" dist="38100">
              <a:srgbClr val="D8D8D8">
                <a:alpha val="50196"/>
              </a:srgbClr>
            </a:outerShdw>
          </a:effectLst>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766" name="Google Shape;766;p58"/>
          <p:cNvSpPr/>
          <p:nvPr/>
        </p:nvSpPr>
        <p:spPr>
          <a:xfrm>
            <a:off x="1" y="0"/>
            <a:ext cx="3608608" cy="5143500"/>
          </a:xfrm>
          <a:custGeom>
            <a:rect b="b" l="l" r="r" t="t"/>
            <a:pathLst>
              <a:path extrusionOk="0" h="6858000" w="4811477">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767" name="Google Shape;767;p58"/>
          <p:cNvSpPr txBox="1"/>
          <p:nvPr>
            <p:ph type="title"/>
          </p:nvPr>
        </p:nvSpPr>
        <p:spPr>
          <a:xfrm>
            <a:off x="466344" y="870966"/>
            <a:ext cx="2702052" cy="339471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000"/>
              <a:buFont typeface="Play"/>
              <a:buNone/>
            </a:pPr>
            <a:r>
              <a:rPr b="1" lang="uk" sz="3000"/>
              <a:t>Підсумок лекції</a:t>
            </a:r>
            <a:br>
              <a:rPr b="1" lang="uk" sz="3000"/>
            </a:br>
            <a:endParaRPr sz="3000"/>
          </a:p>
        </p:txBody>
      </p:sp>
      <p:sp>
        <p:nvSpPr>
          <p:cNvPr id="768" name="Google Shape;768;p58"/>
          <p:cNvSpPr/>
          <p:nvPr/>
        </p:nvSpPr>
        <p:spPr>
          <a:xfrm>
            <a:off x="0" y="2311146"/>
            <a:ext cx="96012" cy="528066"/>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grpSp>
        <p:nvGrpSpPr>
          <p:cNvPr id="769" name="Google Shape;769;p58"/>
          <p:cNvGrpSpPr/>
          <p:nvPr/>
        </p:nvGrpSpPr>
        <p:grpSpPr>
          <a:xfrm>
            <a:off x="3977640" y="507997"/>
            <a:ext cx="4773168" cy="4134364"/>
            <a:chOff x="0" y="673"/>
            <a:chExt cx="6364224" cy="5512485"/>
          </a:xfrm>
        </p:grpSpPr>
        <p:cxnSp>
          <p:nvCxnSpPr>
            <p:cNvPr id="770" name="Google Shape;770;p58"/>
            <p:cNvCxnSpPr/>
            <p:nvPr/>
          </p:nvCxnSpPr>
          <p:spPr>
            <a:xfrm>
              <a:off x="0" y="673"/>
              <a:ext cx="6364224" cy="0"/>
            </a:xfrm>
            <a:prstGeom prst="straightConnector1">
              <a:avLst/>
            </a:prstGeom>
            <a:solidFill>
              <a:srgbClr val="A02891"/>
            </a:solidFill>
            <a:ln cap="flat" cmpd="sng" w="19050">
              <a:solidFill>
                <a:srgbClr val="A02891"/>
              </a:solidFill>
              <a:prstDash val="solid"/>
              <a:miter lim="800000"/>
              <a:headEnd len="sm" w="sm" type="none"/>
              <a:tailEnd len="sm" w="sm" type="none"/>
            </a:ln>
          </p:spPr>
        </p:cxnSp>
        <p:sp>
          <p:nvSpPr>
            <p:cNvPr id="771" name="Google Shape;771;p58"/>
            <p:cNvSpPr/>
            <p:nvPr/>
          </p:nvSpPr>
          <p:spPr>
            <a:xfrm>
              <a:off x="0" y="673"/>
              <a:ext cx="6364224" cy="110249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72" name="Google Shape;772;p58"/>
            <p:cNvSpPr txBox="1"/>
            <p:nvPr/>
          </p:nvSpPr>
          <p:spPr>
            <a:xfrm>
              <a:off x="0" y="673"/>
              <a:ext cx="6364224" cy="1102497"/>
            </a:xfrm>
            <a:prstGeom prst="rect">
              <a:avLst/>
            </a:prstGeom>
            <a:noFill/>
            <a:ln>
              <a:noFill/>
            </a:ln>
          </p:spPr>
          <p:txBody>
            <a:bodyPr anchorCtr="0" anchor="t" bIns="85725" lIns="85725" spcFirstLastPara="1" rIns="85725" wrap="square" tIns="85725">
              <a:noAutofit/>
            </a:bodyPr>
            <a:lstStyle/>
            <a:p>
              <a:pPr indent="0" lvl="0" marL="0" marR="0" rtl="0" algn="l">
                <a:lnSpc>
                  <a:spcPct val="90000"/>
                </a:lnSpc>
                <a:spcBef>
                  <a:spcPts val="0"/>
                </a:spcBef>
                <a:spcAft>
                  <a:spcPts val="0"/>
                </a:spcAft>
                <a:buClr>
                  <a:schemeClr val="dk1"/>
                </a:buClr>
                <a:buSzPts val="2300"/>
                <a:buFont typeface="Arial"/>
                <a:buNone/>
              </a:pPr>
              <a:r>
                <a:rPr b="0" i="0" lang="uk" sz="1900" u="none" cap="none" strike="noStrike">
                  <a:solidFill>
                    <a:schemeClr val="dk1"/>
                  </a:solidFill>
                  <a:latin typeface="Arial"/>
                  <a:ea typeface="Arial"/>
                  <a:cs typeface="Arial"/>
                  <a:sym typeface="Arial"/>
                </a:rPr>
                <a:t>LLM – потужні інструменти на основі трансформерів.</a:t>
              </a:r>
              <a:endParaRPr b="0" i="0" sz="1900" u="none" cap="none" strike="noStrike">
                <a:solidFill>
                  <a:schemeClr val="dk1"/>
                </a:solidFill>
                <a:latin typeface="Arial"/>
                <a:ea typeface="Arial"/>
                <a:cs typeface="Arial"/>
                <a:sym typeface="Arial"/>
              </a:endParaRPr>
            </a:p>
          </p:txBody>
        </p:sp>
        <p:cxnSp>
          <p:nvCxnSpPr>
            <p:cNvPr id="773" name="Google Shape;773;p58"/>
            <p:cNvCxnSpPr/>
            <p:nvPr/>
          </p:nvCxnSpPr>
          <p:spPr>
            <a:xfrm>
              <a:off x="0" y="1103170"/>
              <a:ext cx="6364224" cy="0"/>
            </a:xfrm>
            <a:prstGeom prst="straightConnector1">
              <a:avLst/>
            </a:prstGeom>
            <a:solidFill>
              <a:srgbClr val="4A2AA0"/>
            </a:solidFill>
            <a:ln cap="flat" cmpd="sng" w="19050">
              <a:solidFill>
                <a:srgbClr val="4A2AA0"/>
              </a:solidFill>
              <a:prstDash val="solid"/>
              <a:miter lim="800000"/>
              <a:headEnd len="sm" w="sm" type="none"/>
              <a:tailEnd len="sm" w="sm" type="none"/>
            </a:ln>
          </p:spPr>
        </p:cxnSp>
        <p:sp>
          <p:nvSpPr>
            <p:cNvPr id="774" name="Google Shape;774;p58"/>
            <p:cNvSpPr/>
            <p:nvPr/>
          </p:nvSpPr>
          <p:spPr>
            <a:xfrm>
              <a:off x="0" y="1103170"/>
              <a:ext cx="6364224" cy="110249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75" name="Google Shape;775;p58"/>
            <p:cNvSpPr txBox="1"/>
            <p:nvPr/>
          </p:nvSpPr>
          <p:spPr>
            <a:xfrm>
              <a:off x="0" y="1103170"/>
              <a:ext cx="6364224" cy="1102497"/>
            </a:xfrm>
            <a:prstGeom prst="rect">
              <a:avLst/>
            </a:prstGeom>
            <a:noFill/>
            <a:ln>
              <a:noFill/>
            </a:ln>
          </p:spPr>
          <p:txBody>
            <a:bodyPr anchorCtr="0" anchor="t" bIns="85725" lIns="85725" spcFirstLastPara="1" rIns="85725" wrap="square" tIns="85725">
              <a:noAutofit/>
            </a:bodyPr>
            <a:lstStyle/>
            <a:p>
              <a:pPr indent="0" lvl="0" marL="0" marR="0" rtl="0" algn="l">
                <a:lnSpc>
                  <a:spcPct val="90000"/>
                </a:lnSpc>
                <a:spcBef>
                  <a:spcPts val="0"/>
                </a:spcBef>
                <a:spcAft>
                  <a:spcPts val="0"/>
                </a:spcAft>
                <a:buClr>
                  <a:schemeClr val="dk1"/>
                </a:buClr>
                <a:buSzPts val="2300"/>
                <a:buFont typeface="Arial"/>
                <a:buNone/>
              </a:pPr>
              <a:r>
                <a:rPr b="0" i="0" lang="uk" sz="1900" u="none" cap="none" strike="noStrike">
                  <a:solidFill>
                    <a:schemeClr val="dk1"/>
                  </a:solidFill>
                  <a:latin typeface="Arial"/>
                  <a:ea typeface="Arial"/>
                  <a:cs typeface="Arial"/>
                  <a:sym typeface="Arial"/>
                </a:rPr>
                <a:t>BERT – для розуміння, GPT – для генерації.</a:t>
              </a:r>
              <a:endParaRPr b="0" i="0" sz="1900" u="none" cap="none" strike="noStrike">
                <a:solidFill>
                  <a:schemeClr val="dk1"/>
                </a:solidFill>
                <a:latin typeface="Arial"/>
                <a:ea typeface="Arial"/>
                <a:cs typeface="Arial"/>
                <a:sym typeface="Arial"/>
              </a:endParaRPr>
            </a:p>
          </p:txBody>
        </p:sp>
        <p:cxnSp>
          <p:nvCxnSpPr>
            <p:cNvPr id="776" name="Google Shape;776;p58"/>
            <p:cNvCxnSpPr/>
            <p:nvPr/>
          </p:nvCxnSpPr>
          <p:spPr>
            <a:xfrm>
              <a:off x="0" y="2205667"/>
              <a:ext cx="6364224" cy="0"/>
            </a:xfrm>
            <a:prstGeom prst="straightConnector1">
              <a:avLst/>
            </a:prstGeom>
            <a:solidFill>
              <a:srgbClr val="2B6FA2"/>
            </a:solidFill>
            <a:ln cap="flat" cmpd="sng" w="19050">
              <a:solidFill>
                <a:srgbClr val="2B6FA2"/>
              </a:solidFill>
              <a:prstDash val="solid"/>
              <a:miter lim="800000"/>
              <a:headEnd len="sm" w="sm" type="none"/>
              <a:tailEnd len="sm" w="sm" type="none"/>
            </a:ln>
          </p:spPr>
        </p:cxnSp>
        <p:sp>
          <p:nvSpPr>
            <p:cNvPr id="777" name="Google Shape;777;p58"/>
            <p:cNvSpPr/>
            <p:nvPr/>
          </p:nvSpPr>
          <p:spPr>
            <a:xfrm>
              <a:off x="0" y="2205667"/>
              <a:ext cx="6364224" cy="110249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78" name="Google Shape;778;p58"/>
            <p:cNvSpPr txBox="1"/>
            <p:nvPr/>
          </p:nvSpPr>
          <p:spPr>
            <a:xfrm>
              <a:off x="0" y="2205667"/>
              <a:ext cx="6364224" cy="1102497"/>
            </a:xfrm>
            <a:prstGeom prst="rect">
              <a:avLst/>
            </a:prstGeom>
            <a:noFill/>
            <a:ln>
              <a:noFill/>
            </a:ln>
          </p:spPr>
          <p:txBody>
            <a:bodyPr anchorCtr="0" anchor="t" bIns="85725" lIns="85725" spcFirstLastPara="1" rIns="85725" wrap="square" tIns="85725">
              <a:noAutofit/>
            </a:bodyPr>
            <a:lstStyle/>
            <a:p>
              <a:pPr indent="0" lvl="0" marL="0" marR="0" rtl="0" algn="l">
                <a:lnSpc>
                  <a:spcPct val="90000"/>
                </a:lnSpc>
                <a:spcBef>
                  <a:spcPts val="0"/>
                </a:spcBef>
                <a:spcAft>
                  <a:spcPts val="0"/>
                </a:spcAft>
                <a:buClr>
                  <a:schemeClr val="dk1"/>
                </a:buClr>
                <a:buSzPts val="2300"/>
                <a:buFont typeface="Arial"/>
                <a:buNone/>
              </a:pPr>
              <a:r>
                <a:rPr b="0" i="0" lang="uk" sz="1900" u="none" cap="none" strike="noStrike">
                  <a:solidFill>
                    <a:schemeClr val="dk1"/>
                  </a:solidFill>
                  <a:latin typeface="Arial"/>
                  <a:ea typeface="Arial"/>
                  <a:cs typeface="Arial"/>
                  <a:sym typeface="Arial"/>
                </a:rPr>
                <a:t>Fine-tuning адаптує моделі під ваші задачі.</a:t>
              </a:r>
              <a:endParaRPr b="0" i="0" sz="1900" u="none" cap="none" strike="noStrike">
                <a:solidFill>
                  <a:schemeClr val="dk1"/>
                </a:solidFill>
                <a:latin typeface="Arial"/>
                <a:ea typeface="Arial"/>
                <a:cs typeface="Arial"/>
                <a:sym typeface="Arial"/>
              </a:endParaRPr>
            </a:p>
          </p:txBody>
        </p:sp>
        <p:cxnSp>
          <p:nvCxnSpPr>
            <p:cNvPr id="779" name="Google Shape;779;p58"/>
            <p:cNvCxnSpPr/>
            <p:nvPr/>
          </p:nvCxnSpPr>
          <p:spPr>
            <a:xfrm>
              <a:off x="0" y="3308164"/>
              <a:ext cx="6364224" cy="0"/>
            </a:xfrm>
            <a:prstGeom prst="straightConnector1">
              <a:avLst/>
            </a:prstGeom>
            <a:solidFill>
              <a:srgbClr val="2BA471"/>
            </a:solidFill>
            <a:ln cap="flat" cmpd="sng" w="19050">
              <a:solidFill>
                <a:srgbClr val="2BA471"/>
              </a:solidFill>
              <a:prstDash val="solid"/>
              <a:miter lim="800000"/>
              <a:headEnd len="sm" w="sm" type="none"/>
              <a:tailEnd len="sm" w="sm" type="none"/>
            </a:ln>
          </p:spPr>
        </p:cxnSp>
        <p:sp>
          <p:nvSpPr>
            <p:cNvPr id="780" name="Google Shape;780;p58"/>
            <p:cNvSpPr/>
            <p:nvPr/>
          </p:nvSpPr>
          <p:spPr>
            <a:xfrm>
              <a:off x="0" y="3308164"/>
              <a:ext cx="6364224" cy="110249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81" name="Google Shape;781;p58"/>
            <p:cNvSpPr txBox="1"/>
            <p:nvPr/>
          </p:nvSpPr>
          <p:spPr>
            <a:xfrm>
              <a:off x="0" y="3308164"/>
              <a:ext cx="6364224" cy="1102497"/>
            </a:xfrm>
            <a:prstGeom prst="rect">
              <a:avLst/>
            </a:prstGeom>
            <a:noFill/>
            <a:ln>
              <a:noFill/>
            </a:ln>
          </p:spPr>
          <p:txBody>
            <a:bodyPr anchorCtr="0" anchor="t" bIns="85725" lIns="85725" spcFirstLastPara="1" rIns="85725" wrap="square" tIns="85725">
              <a:noAutofit/>
            </a:bodyPr>
            <a:lstStyle/>
            <a:p>
              <a:pPr indent="0" lvl="0" marL="0" marR="0" rtl="0" algn="l">
                <a:lnSpc>
                  <a:spcPct val="90000"/>
                </a:lnSpc>
                <a:spcBef>
                  <a:spcPts val="0"/>
                </a:spcBef>
                <a:spcAft>
                  <a:spcPts val="0"/>
                </a:spcAft>
                <a:buClr>
                  <a:schemeClr val="dk1"/>
                </a:buClr>
                <a:buSzPts val="2300"/>
                <a:buFont typeface="Arial"/>
                <a:buNone/>
              </a:pPr>
              <a:r>
                <a:rPr b="0" i="0" lang="uk" sz="1900" u="none" cap="none" strike="noStrike">
                  <a:solidFill>
                    <a:schemeClr val="dk1"/>
                  </a:solidFill>
                  <a:latin typeface="Arial"/>
                  <a:ea typeface="Arial"/>
                  <a:cs typeface="Arial"/>
                  <a:sym typeface="Arial"/>
                </a:rPr>
                <a:t>Промптинг – ключ до ефективного використання.</a:t>
              </a:r>
              <a:endParaRPr b="0" i="0" sz="1900" u="none" cap="none" strike="noStrike">
                <a:solidFill>
                  <a:schemeClr val="dk1"/>
                </a:solidFill>
                <a:latin typeface="Arial"/>
                <a:ea typeface="Arial"/>
                <a:cs typeface="Arial"/>
                <a:sym typeface="Arial"/>
              </a:endParaRPr>
            </a:p>
          </p:txBody>
        </p:sp>
        <p:cxnSp>
          <p:nvCxnSpPr>
            <p:cNvPr id="782" name="Google Shape;782;p58"/>
            <p:cNvCxnSpPr/>
            <p:nvPr/>
          </p:nvCxnSpPr>
          <p:spPr>
            <a:xfrm>
              <a:off x="0" y="4410661"/>
              <a:ext cx="6364224" cy="0"/>
            </a:xfrm>
            <a:prstGeom prst="straightConnector1">
              <a:avLst/>
            </a:prstGeom>
            <a:solidFill>
              <a:srgbClr val="4CA62C"/>
            </a:solidFill>
            <a:ln cap="flat" cmpd="sng" w="19050">
              <a:solidFill>
                <a:srgbClr val="4CA62C"/>
              </a:solidFill>
              <a:prstDash val="solid"/>
              <a:miter lim="800000"/>
              <a:headEnd len="sm" w="sm" type="none"/>
              <a:tailEnd len="sm" w="sm" type="none"/>
            </a:ln>
          </p:spPr>
        </p:cxnSp>
        <p:sp>
          <p:nvSpPr>
            <p:cNvPr id="783" name="Google Shape;783;p58"/>
            <p:cNvSpPr/>
            <p:nvPr/>
          </p:nvSpPr>
          <p:spPr>
            <a:xfrm>
              <a:off x="0" y="4410661"/>
              <a:ext cx="6364224" cy="1102497"/>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84" name="Google Shape;784;p58"/>
            <p:cNvSpPr txBox="1"/>
            <p:nvPr/>
          </p:nvSpPr>
          <p:spPr>
            <a:xfrm>
              <a:off x="0" y="4410661"/>
              <a:ext cx="6364224" cy="1102497"/>
            </a:xfrm>
            <a:prstGeom prst="rect">
              <a:avLst/>
            </a:prstGeom>
            <a:noFill/>
            <a:ln>
              <a:noFill/>
            </a:ln>
          </p:spPr>
          <p:txBody>
            <a:bodyPr anchorCtr="0" anchor="t" bIns="85725" lIns="85725" spcFirstLastPara="1" rIns="85725" wrap="square" tIns="85725">
              <a:noAutofit/>
            </a:bodyPr>
            <a:lstStyle/>
            <a:p>
              <a:pPr indent="0" lvl="0" marL="0" marR="0" rtl="0" algn="l">
                <a:lnSpc>
                  <a:spcPct val="90000"/>
                </a:lnSpc>
                <a:spcBef>
                  <a:spcPts val="0"/>
                </a:spcBef>
                <a:spcAft>
                  <a:spcPts val="0"/>
                </a:spcAft>
                <a:buClr>
                  <a:schemeClr val="dk1"/>
                </a:buClr>
                <a:buSzPts val="2300"/>
                <a:buFont typeface="Arial"/>
                <a:buNone/>
              </a:pPr>
              <a:r>
                <a:rPr b="0" i="0" lang="uk" sz="1900" u="none" cap="none" strike="noStrike">
                  <a:solidFill>
                    <a:schemeClr val="dk1"/>
                  </a:solidFill>
                  <a:latin typeface="Arial"/>
                  <a:ea typeface="Arial"/>
                  <a:cs typeface="Arial"/>
                  <a:sym typeface="Arial"/>
                </a:rPr>
                <a:t>Відкриті моделі (LLaMA) дозволяють локальний запуск.</a:t>
              </a:r>
              <a:endParaRPr b="0" i="0" sz="1900" u="none" cap="none" strike="noStrike">
                <a:solidFill>
                  <a:schemeClr val="dk1"/>
                </a:solidFill>
                <a:latin typeface="Arial"/>
                <a:ea typeface="Arial"/>
                <a:cs typeface="Arial"/>
                <a:sym typeface="Arial"/>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8" name="Shape 788"/>
        <p:cNvGrpSpPr/>
        <p:nvPr/>
      </p:nvGrpSpPr>
      <p:grpSpPr>
        <a:xfrm>
          <a:off x="0" y="0"/>
          <a:ext cx="0" cy="0"/>
          <a:chOff x="0" y="0"/>
          <a:chExt cx="0" cy="0"/>
        </a:xfrm>
      </p:grpSpPr>
      <p:sp>
        <p:nvSpPr>
          <p:cNvPr id="789" name="Google Shape;789;p59"/>
          <p:cNvSpPr/>
          <p:nvPr/>
        </p:nvSpPr>
        <p:spPr>
          <a:xfrm>
            <a:off x="0" y="0"/>
            <a:ext cx="9141714"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90" name="Google Shape;790;p59"/>
          <p:cNvSpPr txBox="1"/>
          <p:nvPr>
            <p:ph type="title"/>
          </p:nvPr>
        </p:nvSpPr>
        <p:spPr>
          <a:xfrm>
            <a:off x="628650" y="338536"/>
            <a:ext cx="7884414" cy="3049905"/>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5000"/>
              <a:buFont typeface="Play"/>
              <a:buNone/>
            </a:pPr>
            <a:r>
              <a:rPr b="1" lang="uk" sz="5000">
                <a:solidFill>
                  <a:schemeClr val="dk1"/>
                </a:solidFill>
                <a:latin typeface="Play"/>
                <a:ea typeface="Play"/>
                <a:cs typeface="Play"/>
                <a:sym typeface="Play"/>
              </a:rPr>
              <a:t>Дякую за увагу!</a:t>
            </a:r>
            <a:endParaRPr sz="5000">
              <a:solidFill>
                <a:schemeClr val="dk1"/>
              </a:solidFill>
              <a:latin typeface="Play"/>
              <a:ea typeface="Play"/>
              <a:cs typeface="Play"/>
              <a:sym typeface="Play"/>
            </a:endParaRPr>
          </a:p>
        </p:txBody>
      </p:sp>
      <p:sp>
        <p:nvSpPr>
          <p:cNvPr id="791" name="Google Shape;791;p59"/>
          <p:cNvSpPr txBox="1"/>
          <p:nvPr>
            <p:ph idx="1" type="body"/>
          </p:nvPr>
        </p:nvSpPr>
        <p:spPr>
          <a:xfrm>
            <a:off x="628649" y="3737457"/>
            <a:ext cx="7884414" cy="84501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1800"/>
              <a:buNone/>
            </a:pPr>
            <a:r>
              <a:rPr lang="uk" sz="1800">
                <a:solidFill>
                  <a:schemeClr val="dk1"/>
                </a:solidFill>
                <a:latin typeface="Arial"/>
                <a:ea typeface="Arial"/>
                <a:cs typeface="Arial"/>
                <a:sym typeface="Arial"/>
              </a:rPr>
              <a:t>Питання?</a:t>
            </a:r>
            <a:endParaRPr/>
          </a:p>
        </p:txBody>
      </p:sp>
      <p:sp>
        <p:nvSpPr>
          <p:cNvPr id="792" name="Google Shape;792;p59"/>
          <p:cNvSpPr/>
          <p:nvPr/>
        </p:nvSpPr>
        <p:spPr>
          <a:xfrm>
            <a:off x="628650" y="3538946"/>
            <a:ext cx="4057650" cy="13716"/>
          </a:xfrm>
          <a:custGeom>
            <a:rect b="b" l="l" r="r" t="t"/>
            <a:pathLst>
              <a:path extrusionOk="0" fill="none" h="18288" w="541020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extrusionOk="0" h="18288" w="541020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Тема Office">
  <a:themeElements>
    <a:clrScheme name="Офіс">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