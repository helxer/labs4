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6858000" cy="9144000"/>
  <p:embeddedFontLst>
    <p:embeddedFont>
      <p:font typeface="Lustria"/>
      <p:regular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AE290C-3DA2-45E9-825C-7475DCF8FD03}">
  <a:tblStyle styleId="{4DAE290C-3DA2-45E9-825C-7475DCF8FD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45504E-DC6F-4E9B-825A-0BB746E211D9}" styleName="Table_1">
    <a:wholeTbl>
      <a:tcTxStyle b="off" i="off">
        <a:font>
          <a:latin typeface="Calisto MT"/>
          <a:ea typeface="Calisto MT"/>
          <a:cs typeface="Calisto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ustria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1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5604551" y="871758"/>
            <a:ext cx="6049185" cy="3871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n-US"/>
              <a:t>ФІЛОСОФІЯ INFRASTRUCTURE AS CODE: TERRAFORM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5619964" y="4785543"/>
            <a:ext cx="5322013" cy="10056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Лекція 5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1" l="30700" r="19345" t="0"/>
          <a:stretch/>
        </p:blipFill>
        <p:spPr>
          <a:xfrm>
            <a:off x="1" y="10"/>
            <a:ext cx="4876799" cy="68579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3"/>
          <p:cNvCxnSpPr/>
          <p:nvPr/>
        </p:nvCxnSpPr>
        <p:spPr>
          <a:xfrm>
            <a:off x="5723776" y="723900"/>
            <a:ext cx="5706224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13"/>
          <p:cNvCxnSpPr/>
          <p:nvPr/>
        </p:nvCxnSpPr>
        <p:spPr>
          <a:xfrm>
            <a:off x="5723776" y="6134100"/>
            <a:ext cx="566812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704088" y="555712"/>
            <a:ext cx="3721629" cy="561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None/>
            </a:pPr>
            <a:r>
              <a:rPr b="1" lang="en-US" sz="3400"/>
              <a:t>ПРОБЛЕМА: РУЧНЕ НАЛАШТУВАННЯ ІНФРАСТРУКТУРИ</a:t>
            </a:r>
            <a:endParaRPr sz="3400"/>
          </a:p>
        </p:txBody>
      </p:sp>
      <p:cxnSp>
        <p:nvCxnSpPr>
          <p:cNvPr id="98" name="Google Shape;98;p14"/>
          <p:cNvCxnSpPr/>
          <p:nvPr/>
        </p:nvCxnSpPr>
        <p:spPr>
          <a:xfrm rot="10800000">
            <a:off x="4876800" y="723900"/>
            <a:ext cx="0" cy="544948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9" name="Google Shape;99;p14"/>
          <p:cNvGrpSpPr/>
          <p:nvPr/>
        </p:nvGrpSpPr>
        <p:grpSpPr>
          <a:xfrm>
            <a:off x="5576419" y="3368485"/>
            <a:ext cx="5920256" cy="2804898"/>
            <a:chOff x="0" y="0"/>
            <a:chExt cx="5920256" cy="2804898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0" y="0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A1A8C2"/>
                </a:gs>
                <a:gs pos="50000">
                  <a:srgbClr val="929DBC"/>
                </a:gs>
                <a:gs pos="100000">
                  <a:srgbClr val="7E89A7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01" name="Google Shape;101;p14"/>
            <p:cNvSpPr/>
            <p:nvPr/>
          </p:nvSpPr>
          <p:spPr>
            <a:xfrm>
              <a:off x="0" y="0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0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Ручне налаштування (кліки в UI, SSH, консоль) → джерело помилок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0" y="701224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04" name="Google Shape;104;p14"/>
            <p:cNvSpPr/>
            <p:nvPr/>
          </p:nvSpPr>
          <p:spPr>
            <a:xfrm>
              <a:off x="0" y="70122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70122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Складність відтворення середовища (dev/stage/prod)</a:t>
              </a:r>
              <a:endParaRPr/>
            </a:p>
          </p:txBody>
        </p:sp>
        <p:cxnSp>
          <p:nvCxnSpPr>
            <p:cNvPr id="106" name="Google Shape;106;p14"/>
            <p:cNvCxnSpPr/>
            <p:nvPr/>
          </p:nvCxnSpPr>
          <p:spPr>
            <a:xfrm>
              <a:off x="0" y="1402449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8D7E98"/>
                </a:gs>
                <a:gs pos="50000">
                  <a:srgbClr val="7E6C8C"/>
                </a:gs>
                <a:gs pos="100000">
                  <a:srgbClr val="6F5D7D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07" name="Google Shape;107;p14"/>
            <p:cNvSpPr/>
            <p:nvPr/>
          </p:nvSpPr>
          <p:spPr>
            <a:xfrm>
              <a:off x="0" y="1402449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1402449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Відсутність історії змін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09" name="Google Shape;109;p14"/>
            <p:cNvCxnSpPr/>
            <p:nvPr/>
          </p:nvCxnSpPr>
          <p:spPr>
            <a:xfrm>
              <a:off x="0" y="2103674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DEA59B"/>
                </a:gs>
                <a:gs pos="50000">
                  <a:srgbClr val="DD978B"/>
                </a:gs>
                <a:gs pos="100000">
                  <a:srgbClr val="C88175"/>
                </a:gs>
              </a:gsLst>
              <a:lin ang="5400000" scaled="0"/>
            </a:gradFill>
            <a:ln cap="flat" cmpd="sng" w="9525">
              <a:solidFill>
                <a:srgbClr val="DA9A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10" name="Google Shape;110;p14"/>
            <p:cNvSpPr/>
            <p:nvPr/>
          </p:nvSpPr>
          <p:spPr>
            <a:xfrm>
              <a:off x="0" y="210367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0" y="210367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«Антипатерн» для сучасних DevOps-практик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DAM vs Cloud Storage: Why It's Not the Same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350" y="228488"/>
            <a:ext cx="5176018" cy="291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700087" y="909637"/>
            <a:ext cx="6082549" cy="92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1" lang="en-US" sz="3700"/>
              <a:t>ЩО ТАКЕ INFRASTRUCTURE AS CODE (IAC)?</a:t>
            </a:r>
            <a:endParaRPr sz="3700"/>
          </a:p>
        </p:txBody>
      </p:sp>
      <p:cxnSp>
        <p:nvCxnSpPr>
          <p:cNvPr id="119" name="Google Shape;119;p15"/>
          <p:cNvCxnSpPr/>
          <p:nvPr/>
        </p:nvCxnSpPr>
        <p:spPr>
          <a:xfrm>
            <a:off x="800100" y="722376"/>
            <a:ext cx="5715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itOps: Managing🤹‍♂️ Infrastructure 🏗️as Code🧑‍💻 with Git | by Israel |  Medium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3022" y="672027"/>
            <a:ext cx="5086126" cy="25430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121" name="Google Shape;121;p15"/>
          <p:cNvCxnSpPr/>
          <p:nvPr/>
        </p:nvCxnSpPr>
        <p:spPr>
          <a:xfrm>
            <a:off x="800100" y="6138546"/>
            <a:ext cx="571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nfrastructure as Code (IaC) vs Infrastructure from Code (IfC): Navigating  Modern Infrastructure Management | by Moonishaider | Medium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675" y="3429000"/>
            <a:ext cx="5221473" cy="25193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123" name="Google Shape;123;p15"/>
          <p:cNvGrpSpPr/>
          <p:nvPr/>
        </p:nvGrpSpPr>
        <p:grpSpPr>
          <a:xfrm>
            <a:off x="700088" y="2237064"/>
            <a:ext cx="5958216" cy="3709482"/>
            <a:chOff x="0" y="1813"/>
            <a:chExt cx="5958216" cy="3709482"/>
          </a:xfrm>
        </p:grpSpPr>
        <p:cxnSp>
          <p:nvCxnSpPr>
            <p:cNvPr id="124" name="Google Shape;124;p15"/>
            <p:cNvCxnSpPr/>
            <p:nvPr/>
          </p:nvCxnSpPr>
          <p:spPr>
            <a:xfrm>
              <a:off x="0" y="1813"/>
              <a:ext cx="5958216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" name="Google Shape;125;p15"/>
            <p:cNvSpPr/>
            <p:nvPr/>
          </p:nvSpPr>
          <p:spPr>
            <a:xfrm>
              <a:off x="0" y="1813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0" y="1813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Управління інфраструктурою (сервери, мережі, сховища) через текстові файли (код)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27" name="Google Shape;127;p15"/>
            <p:cNvCxnSpPr/>
            <p:nvPr/>
          </p:nvCxnSpPr>
          <p:spPr>
            <a:xfrm>
              <a:off x="0" y="1238307"/>
              <a:ext cx="5958216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8" name="Google Shape;128;p15"/>
            <p:cNvSpPr/>
            <p:nvPr/>
          </p:nvSpPr>
          <p:spPr>
            <a:xfrm>
              <a:off x="0" y="1238307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0" y="1238307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Підхід, аналогічний розробці ПЗ: версіонування, рев’ю, автоматизація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30" name="Google Shape;130;p15"/>
            <p:cNvCxnSpPr/>
            <p:nvPr/>
          </p:nvCxnSpPr>
          <p:spPr>
            <a:xfrm>
              <a:off x="0" y="2474801"/>
              <a:ext cx="5958216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15"/>
            <p:cNvSpPr/>
            <p:nvPr/>
          </p:nvSpPr>
          <p:spPr>
            <a:xfrm>
              <a:off x="0" y="2474801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0" y="2474801"/>
              <a:ext cx="5958216" cy="1236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Інструменти: Terraform, AWS CloudFormation, Pulumi, Ansible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8" name="Google Shape;138;p16"/>
          <p:cNvSpPr txBox="1"/>
          <p:nvPr>
            <p:ph type="title"/>
          </p:nvPr>
        </p:nvSpPr>
        <p:spPr>
          <a:xfrm>
            <a:off x="704088" y="914400"/>
            <a:ext cx="10798176" cy="105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ЧОМУ IAC – ЦЕ СУЧАСНИЙ СТАНДАРТ?</a:t>
            </a:r>
            <a:endParaRPr/>
          </a:p>
        </p:txBody>
      </p:sp>
      <p:cxnSp>
        <p:nvCxnSpPr>
          <p:cNvPr id="139" name="Google Shape;139;p16"/>
          <p:cNvCxnSpPr/>
          <p:nvPr/>
        </p:nvCxnSpPr>
        <p:spPr>
          <a:xfrm>
            <a:off x="800100" y="723900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0" name="Google Shape;140;p16"/>
          <p:cNvGrpSpPr/>
          <p:nvPr/>
        </p:nvGrpSpPr>
        <p:grpSpPr>
          <a:xfrm>
            <a:off x="800311" y="2510245"/>
            <a:ext cx="10882394" cy="3079922"/>
            <a:chOff x="212" y="543931"/>
            <a:chExt cx="10882394" cy="3079922"/>
          </a:xfrm>
        </p:grpSpPr>
        <p:sp>
          <p:nvSpPr>
            <p:cNvPr id="141" name="Google Shape;141;p16"/>
            <p:cNvSpPr/>
            <p:nvPr/>
          </p:nvSpPr>
          <p:spPr>
            <a:xfrm>
              <a:off x="212" y="543931"/>
              <a:ext cx="2566602" cy="3079922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12" y="1775900"/>
              <a:ext cx="2566602" cy="1847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3500" spcFirstLastPara="1" rIns="2535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Відтворюваність (one-click environment)</a:t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212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212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3500" spcFirstLastPara="1" rIns="25350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Lustria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01</a:t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2772143" y="543931"/>
              <a:ext cx="2566602" cy="3079922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2772143" y="1775900"/>
              <a:ext cx="2566602" cy="1847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3500" spcFirstLastPara="1" rIns="2535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Контроль версій (історія змін, відкат)</a:t>
              </a:r>
              <a:endParaRPr b="0" i="0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2772143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2772143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3500" spcFirstLastPara="1" rIns="25350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Lustria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02</a:t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544073" y="543931"/>
              <a:ext cx="2566602" cy="3079922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5544073" y="1775900"/>
              <a:ext cx="2566602" cy="1847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3500" spcFirstLastPara="1" rIns="2535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Автоматизація (CI/CD)</a:t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5544073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5544073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3500" spcFirstLastPara="1" rIns="25350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Lustria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03</a:t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8316004" y="543931"/>
              <a:ext cx="2566602" cy="3079922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8316004" y="1775900"/>
              <a:ext cx="2566602" cy="1847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3500" spcFirstLastPara="1" rIns="2535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Спільна робота (pull requests, peer review)</a:t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8316004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8316004" y="543931"/>
              <a:ext cx="2566602" cy="1231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253500" spcFirstLastPara="1" rIns="25350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Lustria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04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2" name="Google Shape;162;p17"/>
          <p:cNvSpPr txBox="1"/>
          <p:nvPr>
            <p:ph type="title"/>
          </p:nvPr>
        </p:nvSpPr>
        <p:spPr>
          <a:xfrm>
            <a:off x="704088" y="792657"/>
            <a:ext cx="10687812" cy="79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МІСЦЕ TERRAFORM У СВІТІ IAC</a:t>
            </a:r>
            <a:endParaRPr/>
          </a:p>
        </p:txBody>
      </p:sp>
      <p:cxnSp>
        <p:nvCxnSpPr>
          <p:cNvPr id="163" name="Google Shape;163;p17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ffortless Cloud Deployment: Terraform on AWS, GCP, and Azure | by Master  raj | Medium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1960701"/>
            <a:ext cx="6072188" cy="377993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165" name="Google Shape;165;p17"/>
          <p:cNvCxnSpPr/>
          <p:nvPr/>
        </p:nvCxnSpPr>
        <p:spPr>
          <a:xfrm>
            <a:off x="809065" y="6145599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6" name="Google Shape;166;p17"/>
          <p:cNvGrpSpPr/>
          <p:nvPr/>
        </p:nvGrpSpPr>
        <p:grpSpPr>
          <a:xfrm>
            <a:off x="7200900" y="1714681"/>
            <a:ext cx="4443109" cy="4271977"/>
            <a:chOff x="0" y="2087"/>
            <a:chExt cx="4443109" cy="4271977"/>
          </a:xfrm>
        </p:grpSpPr>
        <p:cxnSp>
          <p:nvCxnSpPr>
            <p:cNvPr id="167" name="Google Shape;167;p17"/>
            <p:cNvCxnSpPr/>
            <p:nvPr/>
          </p:nvCxnSpPr>
          <p:spPr>
            <a:xfrm>
              <a:off x="0" y="2087"/>
              <a:ext cx="4443109" cy="0"/>
            </a:xfrm>
            <a:prstGeom prst="straightConnector1">
              <a:avLst/>
            </a:prstGeom>
            <a:gradFill>
              <a:gsLst>
                <a:gs pos="0">
                  <a:srgbClr val="836276">
                    <a:alpha val="90196"/>
                  </a:srgbClr>
                </a:gs>
                <a:gs pos="50000">
                  <a:srgbClr val="754664">
                    <a:alpha val="90196"/>
                  </a:srgbClr>
                </a:gs>
                <a:gs pos="100000">
                  <a:srgbClr val="683D58">
                    <a:alpha val="90196"/>
                  </a:srgbClr>
                </a:gs>
              </a:gsLst>
              <a:lin ang="5400000" scaled="0"/>
            </a:gradFill>
            <a:ln cap="flat" cmpd="sng" w="9525">
              <a:solidFill>
                <a:srgbClr val="734A64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68" name="Google Shape;168;p17"/>
            <p:cNvSpPr/>
            <p:nvPr/>
          </p:nvSpPr>
          <p:spPr>
            <a:xfrm>
              <a:off x="0" y="2087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0" y="2087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stri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від HashiCorp – найпопулярніший інструмент декларативної оркестрації</a:t>
              </a:r>
              <a:endParaRPr b="0" i="0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70" name="Google Shape;170;p17"/>
            <p:cNvCxnSpPr/>
            <p:nvPr/>
          </p:nvCxnSpPr>
          <p:spPr>
            <a:xfrm>
              <a:off x="0" y="1426080"/>
              <a:ext cx="4443109" cy="0"/>
            </a:xfrm>
            <a:prstGeom prst="straightConnector1">
              <a:avLst/>
            </a:prstGeom>
            <a:gradFill>
              <a:gsLst>
                <a:gs pos="0">
                  <a:srgbClr val="836276">
                    <a:alpha val="70196"/>
                  </a:srgbClr>
                </a:gs>
                <a:gs pos="50000">
                  <a:srgbClr val="754664">
                    <a:alpha val="70196"/>
                  </a:srgbClr>
                </a:gs>
                <a:gs pos="100000">
                  <a:srgbClr val="683D58">
                    <a:alpha val="70196"/>
                  </a:srgbClr>
                </a:gs>
              </a:gsLst>
              <a:lin ang="5400000" scaled="0"/>
            </a:gradFill>
            <a:ln cap="flat" cmpd="sng" w="9525">
              <a:solidFill>
                <a:srgbClr val="734A64">
                  <a:alpha val="7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71" name="Google Shape;171;p17"/>
            <p:cNvSpPr/>
            <p:nvPr/>
          </p:nvSpPr>
          <p:spPr>
            <a:xfrm>
              <a:off x="0" y="1426080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0" y="1426080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stri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Підтримує більшість хмар (AWS, Azure, GCP) та on‑prem рішень</a:t>
              </a:r>
              <a:endParaRPr b="0" i="0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0" y="2850072"/>
              <a:ext cx="4443109" cy="0"/>
            </a:xfrm>
            <a:prstGeom prst="straightConnector1">
              <a:avLst/>
            </a:prstGeom>
            <a:gradFill>
              <a:gsLst>
                <a:gs pos="0">
                  <a:srgbClr val="836276">
                    <a:alpha val="50196"/>
                  </a:srgbClr>
                </a:gs>
                <a:gs pos="50000">
                  <a:srgbClr val="754664">
                    <a:alpha val="50196"/>
                  </a:srgbClr>
                </a:gs>
                <a:gs pos="100000">
                  <a:srgbClr val="683D58">
                    <a:alpha val="50196"/>
                  </a:srgbClr>
                </a:gs>
              </a:gsLst>
              <a:lin ang="5400000" scaled="0"/>
            </a:gradFill>
            <a:ln cap="flat" cmpd="sng" w="9525">
              <a:solidFill>
                <a:srgbClr val="734A64">
                  <a:alpha val="5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74" name="Google Shape;174;p17"/>
            <p:cNvSpPr/>
            <p:nvPr/>
          </p:nvSpPr>
          <p:spPr>
            <a:xfrm>
              <a:off x="0" y="2850072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0" y="2850072"/>
              <a:ext cx="4443109" cy="1423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stri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Використовує власну мову HCL (HashiCorp Configuration Language)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ДЕКЛАРАТИВНИЙ ПІДХІД TERRAFORM</a:t>
            </a:r>
            <a:endParaRPr/>
          </a:p>
        </p:txBody>
      </p:sp>
      <p:grpSp>
        <p:nvGrpSpPr>
          <p:cNvPr id="181" name="Google Shape;181;p18"/>
          <p:cNvGrpSpPr/>
          <p:nvPr/>
        </p:nvGrpSpPr>
        <p:grpSpPr>
          <a:xfrm>
            <a:off x="700635" y="2404360"/>
            <a:ext cx="11196293" cy="3332162"/>
            <a:chOff x="0" y="1628"/>
            <a:chExt cx="11196293" cy="3332162"/>
          </a:xfrm>
        </p:grpSpPr>
        <p:cxnSp>
          <p:nvCxnSpPr>
            <p:cNvPr id="182" name="Google Shape;182;p18"/>
            <p:cNvCxnSpPr/>
            <p:nvPr/>
          </p:nvCxnSpPr>
          <p:spPr>
            <a:xfrm>
              <a:off x="0" y="1628"/>
              <a:ext cx="11196293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83" name="Google Shape;183;p18"/>
            <p:cNvSpPr/>
            <p:nvPr/>
          </p:nvSpPr>
          <p:spPr>
            <a:xfrm>
              <a:off x="0" y="1628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0" y="1628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Lustria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Імперативний: «створи VM, потім налаштуй мережу, потім додай диск»</a:t>
              </a:r>
              <a:endParaRPr b="0" i="0" sz="3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85" name="Google Shape;185;p18"/>
            <p:cNvCxnSpPr/>
            <p:nvPr/>
          </p:nvCxnSpPr>
          <p:spPr>
            <a:xfrm>
              <a:off x="0" y="1112349"/>
              <a:ext cx="11196293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86" name="Google Shape;186;p18"/>
            <p:cNvSpPr/>
            <p:nvPr/>
          </p:nvSpPr>
          <p:spPr>
            <a:xfrm>
              <a:off x="0" y="1112349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0" y="1112349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Lustria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Декларативний: «ось кінцевий стан інфраструктури – досягни його»</a:t>
              </a:r>
              <a:endParaRPr b="0" i="0" sz="3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88" name="Google Shape;188;p18"/>
            <p:cNvCxnSpPr/>
            <p:nvPr/>
          </p:nvCxnSpPr>
          <p:spPr>
            <a:xfrm>
              <a:off x="0" y="2223070"/>
              <a:ext cx="11196293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189" name="Google Shape;189;p18"/>
            <p:cNvSpPr/>
            <p:nvPr/>
          </p:nvSpPr>
          <p:spPr>
            <a:xfrm>
              <a:off x="0" y="2223070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0" y="2223070"/>
              <a:ext cx="11196293" cy="111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Lustria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сам визначає порядок дій та залежності</a:t>
              </a:r>
              <a:endParaRPr b="0" i="0" sz="3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6" name="Google Shape;196;p19"/>
          <p:cNvSpPr txBox="1"/>
          <p:nvPr>
            <p:ph type="title"/>
          </p:nvPr>
        </p:nvSpPr>
        <p:spPr>
          <a:xfrm>
            <a:off x="704088" y="914400"/>
            <a:ext cx="10687812" cy="79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ЩО ТАКЕ ПРОВАЙДЕР (PROVIDER)?</a:t>
            </a:r>
            <a:endParaRPr/>
          </a:p>
        </p:txBody>
      </p:sp>
      <p:cxnSp>
        <p:nvCxnSpPr>
          <p:cNvPr id="197" name="Google Shape;197;p19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What is Terraform Cloud? Complete Terraform Tutorial [New]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698" y="1707159"/>
            <a:ext cx="7038579" cy="395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19"/>
          <p:cNvCxnSpPr/>
          <p:nvPr/>
        </p:nvCxnSpPr>
        <p:spPr>
          <a:xfrm>
            <a:off x="809065" y="6145599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00" name="Google Shape;200;p19"/>
          <p:cNvGrpSpPr/>
          <p:nvPr/>
        </p:nvGrpSpPr>
        <p:grpSpPr>
          <a:xfrm>
            <a:off x="7475974" y="1798533"/>
            <a:ext cx="4411225" cy="3776456"/>
            <a:chOff x="0" y="1845"/>
            <a:chExt cx="4411225" cy="3776456"/>
          </a:xfrm>
        </p:grpSpPr>
        <p:cxnSp>
          <p:nvCxnSpPr>
            <p:cNvPr id="201" name="Google Shape;201;p19"/>
            <p:cNvCxnSpPr/>
            <p:nvPr/>
          </p:nvCxnSpPr>
          <p:spPr>
            <a:xfrm>
              <a:off x="0" y="1845"/>
              <a:ext cx="4411225" cy="0"/>
            </a:xfrm>
            <a:prstGeom prst="straightConnector1">
              <a:avLst/>
            </a:prstGeom>
            <a:gradFill>
              <a:gsLst>
                <a:gs pos="0">
                  <a:srgbClr val="A1A8C2"/>
                </a:gs>
                <a:gs pos="50000">
                  <a:srgbClr val="929DBC"/>
                </a:gs>
                <a:gs pos="100000">
                  <a:srgbClr val="7E89A7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02" name="Google Shape;202;p19"/>
            <p:cNvSpPr/>
            <p:nvPr/>
          </p:nvSpPr>
          <p:spPr>
            <a:xfrm>
              <a:off x="0" y="1845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0" y="1845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Провайдер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– це плагін, що забезпечує взаємодію з API (AWS, Azure, Kubernetes тощо)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04" name="Google Shape;204;p19"/>
            <p:cNvCxnSpPr/>
            <p:nvPr/>
          </p:nvCxnSpPr>
          <p:spPr>
            <a:xfrm>
              <a:off x="0" y="1260664"/>
              <a:ext cx="4411225" cy="0"/>
            </a:xfrm>
            <a:prstGeom prst="straightConnector1">
              <a:avLst/>
            </a:prstGeom>
            <a:gradFill>
              <a:gsLst>
                <a:gs pos="0">
                  <a:srgbClr val="828CAA"/>
                </a:gs>
                <a:gs pos="50000">
                  <a:srgbClr val="6F7DA3"/>
                </a:gs>
                <a:gs pos="100000">
                  <a:srgbClr val="5F6C91"/>
                </a:gs>
              </a:gsLst>
              <a:lin ang="5400000" scaled="0"/>
            </a:gradFill>
            <a:ln cap="flat" cmpd="sng" w="9525">
              <a:solidFill>
                <a:srgbClr val="727FA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05" name="Google Shape;205;p19"/>
            <p:cNvSpPr/>
            <p:nvPr/>
          </p:nvSpPr>
          <p:spPr>
            <a:xfrm>
              <a:off x="0" y="1260664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0" y="1260664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Визначає типи ресурсів (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resource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) та джерела даних (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data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)</a:t>
              </a:r>
              <a:endParaRPr/>
            </a:p>
          </p:txBody>
        </p:sp>
        <p:cxnSp>
          <p:nvCxnSpPr>
            <p:cNvPr id="207" name="Google Shape;207;p19"/>
            <p:cNvCxnSpPr/>
            <p:nvPr/>
          </p:nvCxnSpPr>
          <p:spPr>
            <a:xfrm>
              <a:off x="0" y="2519483"/>
              <a:ext cx="4411225" cy="0"/>
            </a:xfrm>
            <a:prstGeom prst="straightConnector1">
              <a:avLst/>
            </a:prstGeom>
            <a:gradFill>
              <a:gsLst>
                <a:gs pos="0">
                  <a:srgbClr val="6D768D"/>
                </a:gs>
                <a:gs pos="50000">
                  <a:srgbClr val="566480"/>
                </a:gs>
                <a:gs pos="100000">
                  <a:srgbClr val="4B5672"/>
                </a:gs>
              </a:gsLst>
              <a:lin ang="5400000" scaled="0"/>
            </a:gradFill>
            <a:ln cap="flat" cmpd="sng" w="9525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08" name="Google Shape;208;p19"/>
            <p:cNvSpPr/>
            <p:nvPr/>
          </p:nvSpPr>
          <p:spPr>
            <a:xfrm>
              <a:off x="0" y="2519483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0" y="2519483"/>
              <a:ext cx="4411225" cy="125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Приклад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: aws_instance, azurerm_virtual_machine, google_compute_instance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20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20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17" name="Google Shape;217;p20"/>
          <p:cNvSpPr txBox="1"/>
          <p:nvPr>
            <p:ph type="title"/>
          </p:nvPr>
        </p:nvSpPr>
        <p:spPr>
          <a:xfrm>
            <a:off x="3113405" y="5825013"/>
            <a:ext cx="5965190" cy="746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None/>
            </a:pPr>
            <a:r>
              <a:rPr b="1" lang="en-US" sz="3100"/>
              <a:t>МОВА HCL: БАЗОВА СТРУКТУРА</a:t>
            </a:r>
            <a:endParaRPr sz="3100"/>
          </a:p>
        </p:txBody>
      </p:sp>
      <p:cxnSp>
        <p:nvCxnSpPr>
          <p:cNvPr id="218" name="Google Shape;218;p20"/>
          <p:cNvCxnSpPr/>
          <p:nvPr/>
        </p:nvCxnSpPr>
        <p:spPr>
          <a:xfrm>
            <a:off x="1969770" y="5719083"/>
            <a:ext cx="82296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19" name="Google Shape;219;p20"/>
          <p:cNvGraphicFramePr/>
          <p:nvPr/>
        </p:nvGraphicFramePr>
        <p:xfrm>
          <a:off x="1969770" y="89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{4DAE290C-3DA2-45E9-825C-7475DCF8FD03}</a:tableStyleId>
              </a:tblPr>
              <a:tblGrid>
                <a:gridCol w="2188500"/>
                <a:gridCol w="3019400"/>
                <a:gridCol w="3044550"/>
              </a:tblGrid>
              <a:tr h="60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Блок</a:t>
                      </a:r>
                      <a:endParaRPr/>
                    </a:p>
                  </a:txBody>
                  <a:tcPr marT="27875" marB="209150" marR="185900" marL="976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Призначення</a:t>
                      </a:r>
                      <a:endParaRPr/>
                    </a:p>
                  </a:txBody>
                  <a:tcPr marT="27875" marB="209150" marR="185900" marL="976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Приклад</a:t>
                      </a:r>
                      <a:endParaRPr/>
                    </a:p>
                  </a:txBody>
                  <a:tcPr marT="27875" marB="209150" marR="185900" marL="976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terraform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Налаштування Terraform (версія, бекенд)</a:t>
                      </a:r>
                      <a:endParaRPr/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required_version = "&gt;= 1.0"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39425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provider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Конфігурація провайдера</a:t>
                      </a:r>
                      <a:endParaRPr/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region = "us-east-1"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39425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91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resource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Опис ресурсу (що створюємо)</a:t>
                      </a:r>
                      <a:endParaRPr/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aws_instance "web"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39425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Вхідні змінні</a:t>
                      </a:r>
                      <a:endParaRPr/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instance_type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39425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Вихідні значення</a:t>
                      </a:r>
                      <a:endParaRPr/>
                    </a:p>
                  </a:txBody>
                  <a:tcPr marT="27875" marB="209150" marR="185900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public_ip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875" marB="209150" marR="139425" marL="97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21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21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7830051" y="1743263"/>
            <a:ext cx="3975869" cy="27686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Open Sans"/>
              <a:buNone/>
            </a:pPr>
            <a:r>
              <a:rPr b="1" lang="en-US" sz="4300"/>
              <a:t>ПРИКЛАД: БАЗОВА КОНФІГУРАЦІЯ</a:t>
            </a:r>
            <a:endParaRPr sz="4300"/>
          </a:p>
        </p:txBody>
      </p:sp>
      <p:pic>
        <p:nvPicPr>
          <p:cNvPr id="228" name="Google Shape;22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892" y="802640"/>
            <a:ext cx="5406844" cy="49864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21"/>
          <p:cNvCxnSpPr/>
          <p:nvPr/>
        </p:nvCxnSpPr>
        <p:spPr>
          <a:xfrm>
            <a:off x="7960299" y="4789617"/>
            <a:ext cx="1704841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2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22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" name="Google Shape;237;p22"/>
          <p:cNvSpPr txBox="1"/>
          <p:nvPr>
            <p:ph type="title"/>
          </p:nvPr>
        </p:nvSpPr>
        <p:spPr>
          <a:xfrm>
            <a:off x="7830051" y="1743263"/>
            <a:ext cx="3975869" cy="27686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b="1" lang="en-US" sz="3600"/>
              <a:t>ЗМІННІ (VARIABLES): ПАРАМЕТРИЗАЦІЯ КОНФІГУРАЦІЇ</a:t>
            </a:r>
            <a:endParaRPr sz="3600"/>
          </a:p>
        </p:txBody>
      </p:sp>
      <p:sp>
        <p:nvSpPr>
          <p:cNvPr id="238" name="Google Shape;238;p22"/>
          <p:cNvSpPr txBox="1"/>
          <p:nvPr/>
        </p:nvSpPr>
        <p:spPr>
          <a:xfrm>
            <a:off x="7727182" y="5067363"/>
            <a:ext cx="4612194" cy="714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Використання: terraform apply -var="instance_type=t3.medium"</a:t>
            </a:r>
            <a:endParaRPr/>
          </a:p>
        </p:txBody>
      </p:sp>
      <p:pic>
        <p:nvPicPr>
          <p:cNvPr id="239" name="Google Shape;23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" y="1715350"/>
            <a:ext cx="7097056" cy="40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2"/>
          <p:cNvCxnSpPr/>
          <p:nvPr/>
        </p:nvCxnSpPr>
        <p:spPr>
          <a:xfrm>
            <a:off x="7960299" y="4789617"/>
            <a:ext cx="1704841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6" name="Google Shape;246;p23"/>
          <p:cNvSpPr txBox="1"/>
          <p:nvPr>
            <p:ph type="title"/>
          </p:nvPr>
        </p:nvSpPr>
        <p:spPr>
          <a:xfrm>
            <a:off x="281123" y="4521411"/>
            <a:ext cx="4217725" cy="1612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None/>
            </a:pPr>
            <a:r>
              <a:rPr b="1" lang="en-US" sz="3100"/>
              <a:t>ВИХІДНІ ЗНАЧЕННЯ (OUTPUTS): ОТРИМАННЯ ДАНИХ</a:t>
            </a:r>
            <a:endParaRPr sz="3100"/>
          </a:p>
        </p:txBody>
      </p:sp>
      <p:pic>
        <p:nvPicPr>
          <p:cNvPr id="247" name="Google Shape;24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3134" r="9473" t="0"/>
          <a:stretch/>
        </p:blipFill>
        <p:spPr>
          <a:xfrm>
            <a:off x="800100" y="717656"/>
            <a:ext cx="10591800" cy="308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23"/>
          <p:cNvCxnSpPr/>
          <p:nvPr/>
        </p:nvCxnSpPr>
        <p:spPr>
          <a:xfrm flipH="1" rot="10800000">
            <a:off x="4876800" y="4114590"/>
            <a:ext cx="9818" cy="201951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3"/>
          <p:cNvSpPr txBox="1"/>
          <p:nvPr/>
        </p:nvSpPr>
        <p:spPr>
          <a:xfrm>
            <a:off x="5340884" y="4763575"/>
            <a:ext cx="6135924" cy="11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Після apply Terraform покаже значення</a:t>
            </a:r>
            <a:endParaRPr b="0" i="0" sz="18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Можна використовувати в CI/CD, інших модулях</a:t>
            </a:r>
            <a:endParaRPr b="0" i="0" sz="18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5880661" y="841156"/>
            <a:ext cx="6137168" cy="13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РЕСУРСИ ТА ЗАЛЕЖНОСТІ</a:t>
            </a:r>
            <a:endParaRPr/>
          </a:p>
        </p:txBody>
      </p:sp>
      <p:pic>
        <p:nvPicPr>
          <p:cNvPr descr="How to Use a Dependency Graph to Analyze...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54412"/>
            <a:ext cx="5466126" cy="490708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257" name="Google Shape;257;p24"/>
          <p:cNvCxnSpPr/>
          <p:nvPr/>
        </p:nvCxnSpPr>
        <p:spPr>
          <a:xfrm>
            <a:off x="5880661" y="723900"/>
            <a:ext cx="16002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8" name="Google Shape;258;p24"/>
          <p:cNvGrpSpPr/>
          <p:nvPr/>
        </p:nvGrpSpPr>
        <p:grpSpPr>
          <a:xfrm>
            <a:off x="5904716" y="2278369"/>
            <a:ext cx="5848694" cy="3881233"/>
            <a:chOff x="0" y="1896"/>
            <a:chExt cx="5848694" cy="3881233"/>
          </a:xfrm>
        </p:grpSpPr>
        <p:cxnSp>
          <p:nvCxnSpPr>
            <p:cNvPr id="259" name="Google Shape;259;p24"/>
            <p:cNvCxnSpPr/>
            <p:nvPr/>
          </p:nvCxnSpPr>
          <p:spPr>
            <a:xfrm>
              <a:off x="0" y="1896"/>
              <a:ext cx="5848694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0" name="Google Shape;260;p24"/>
            <p:cNvSpPr/>
            <p:nvPr/>
          </p:nvSpPr>
          <p:spPr>
            <a:xfrm>
              <a:off x="0" y="1896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0" y="1896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автоматично визначає залежності через посилання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62" name="Google Shape;262;p24"/>
            <p:cNvCxnSpPr/>
            <p:nvPr/>
          </p:nvCxnSpPr>
          <p:spPr>
            <a:xfrm>
              <a:off x="0" y="1295641"/>
              <a:ext cx="5848694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3" name="Google Shape;263;p24"/>
            <p:cNvSpPr/>
            <p:nvPr/>
          </p:nvSpPr>
          <p:spPr>
            <a:xfrm>
              <a:off x="0" y="1295641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0" y="1295641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Приклад: security_group створюється перед instance</a:t>
              </a:r>
              <a:endParaRPr/>
            </a:p>
          </p:txBody>
        </p:sp>
        <p:cxnSp>
          <p:nvCxnSpPr>
            <p:cNvPr id="265" name="Google Shape;265;p24"/>
            <p:cNvCxnSpPr/>
            <p:nvPr/>
          </p:nvCxnSpPr>
          <p:spPr>
            <a:xfrm>
              <a:off x="0" y="2589385"/>
              <a:ext cx="5848694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24"/>
            <p:cNvSpPr/>
            <p:nvPr/>
          </p:nvSpPr>
          <p:spPr>
            <a:xfrm>
              <a:off x="0" y="2589385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0" y="2589385"/>
              <a:ext cx="5848694" cy="1293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Явне керування: depends_on = [aws_security_group.sg]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3" name="Google Shape;273;p25"/>
          <p:cNvSpPr txBox="1"/>
          <p:nvPr>
            <p:ph type="title"/>
          </p:nvPr>
        </p:nvSpPr>
        <p:spPr>
          <a:xfrm>
            <a:off x="476352" y="864237"/>
            <a:ext cx="640080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МОДУЛІ – ПОВТОРНЕ ВИКОРИСТАННЯ КОДУ</a:t>
            </a:r>
            <a:endParaRPr/>
          </a:p>
        </p:txBody>
      </p:sp>
      <p:cxnSp>
        <p:nvCxnSpPr>
          <p:cNvPr id="274" name="Google Shape;274;p25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nput &amp; Output Modules of a PLC – Types &amp; Applications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350328"/>
            <a:ext cx="6025135" cy="415734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276" name="Google Shape;276;p25"/>
          <p:cNvCxnSpPr/>
          <p:nvPr/>
        </p:nvCxnSpPr>
        <p:spPr>
          <a:xfrm>
            <a:off x="809065" y="6145599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77" name="Google Shape;277;p25"/>
          <p:cNvGrpSpPr/>
          <p:nvPr/>
        </p:nvGrpSpPr>
        <p:grpSpPr>
          <a:xfrm>
            <a:off x="476352" y="2313941"/>
            <a:ext cx="5395912" cy="3632646"/>
            <a:chOff x="0" y="1775"/>
            <a:chExt cx="5395912" cy="3632646"/>
          </a:xfrm>
        </p:grpSpPr>
        <p:cxnSp>
          <p:nvCxnSpPr>
            <p:cNvPr id="278" name="Google Shape;278;p25"/>
            <p:cNvCxnSpPr/>
            <p:nvPr/>
          </p:nvCxnSpPr>
          <p:spPr>
            <a:xfrm>
              <a:off x="0" y="1775"/>
              <a:ext cx="5395912" cy="0"/>
            </a:xfrm>
            <a:prstGeom prst="straightConnector1">
              <a:avLst/>
            </a:prstGeom>
            <a:gradFill>
              <a:gsLst>
                <a:gs pos="0">
                  <a:srgbClr val="A1A8C2"/>
                </a:gs>
                <a:gs pos="50000">
                  <a:srgbClr val="929DBC"/>
                </a:gs>
                <a:gs pos="100000">
                  <a:srgbClr val="7E89A7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79" name="Google Shape;279;p25"/>
            <p:cNvSpPr/>
            <p:nvPr/>
          </p:nvSpPr>
          <p:spPr>
            <a:xfrm>
              <a:off x="0" y="1775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5"/>
            <p:cNvSpPr txBox="1"/>
            <p:nvPr/>
          </p:nvSpPr>
          <p:spPr>
            <a:xfrm>
              <a:off x="0" y="1775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Модуль – це контейнер для ресурсів, що використовуються разом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81" name="Google Shape;281;p25"/>
            <p:cNvCxnSpPr/>
            <p:nvPr/>
          </p:nvCxnSpPr>
          <p:spPr>
            <a:xfrm>
              <a:off x="0" y="1212657"/>
              <a:ext cx="5395912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82" name="Google Shape;282;p25"/>
            <p:cNvSpPr/>
            <p:nvPr/>
          </p:nvSpPr>
          <p:spPr>
            <a:xfrm>
              <a:off x="0" y="1212657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5"/>
            <p:cNvSpPr txBox="1"/>
            <p:nvPr/>
          </p:nvSpPr>
          <p:spPr>
            <a:xfrm>
              <a:off x="0" y="1212657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Можна використовувати готові модулі (Terraform Registry)</a:t>
              </a:r>
              <a:endParaRPr/>
            </a:p>
          </p:txBody>
        </p:sp>
        <p:cxnSp>
          <p:nvCxnSpPr>
            <p:cNvPr id="284" name="Google Shape;284;p25"/>
            <p:cNvCxnSpPr/>
            <p:nvPr/>
          </p:nvCxnSpPr>
          <p:spPr>
            <a:xfrm>
              <a:off x="0" y="2423539"/>
              <a:ext cx="5395912" cy="0"/>
            </a:xfrm>
            <a:prstGeom prst="straightConnector1">
              <a:avLst/>
            </a:prstGeom>
            <a:gradFill>
              <a:gsLst>
                <a:gs pos="0">
                  <a:srgbClr val="8D7E98"/>
                </a:gs>
                <a:gs pos="50000">
                  <a:srgbClr val="7E6C8C"/>
                </a:gs>
                <a:gs pos="100000">
                  <a:srgbClr val="6F5D7D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285" name="Google Shape;285;p25"/>
            <p:cNvSpPr/>
            <p:nvPr/>
          </p:nvSpPr>
          <p:spPr>
            <a:xfrm>
              <a:off x="0" y="2423539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0" y="2423539"/>
              <a:ext cx="5395912" cy="1210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Приклад: модуль VPC, модуль кластера Kubernetes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2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26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4" name="Google Shape;294;p26"/>
          <p:cNvSpPr txBox="1"/>
          <p:nvPr>
            <p:ph type="title"/>
          </p:nvPr>
        </p:nvSpPr>
        <p:spPr>
          <a:xfrm>
            <a:off x="8138159" y="1177348"/>
            <a:ext cx="3330906" cy="3441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1" lang="en-US" sz="3300"/>
              <a:t>ПРИКЛАД ВИКОРИСТАННЯ МОДУЛЯ (AWS VPC)</a:t>
            </a:r>
            <a:endParaRPr sz="3300"/>
          </a:p>
        </p:txBody>
      </p:sp>
      <p:cxnSp>
        <p:nvCxnSpPr>
          <p:cNvPr id="295" name="Google Shape;295;p2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Зображення, що містить текст, знімок екрана, монітор, Шрифт&#10;&#10;Вміст на основі ШІ може бути неправильним." id="296" name="Google Shape;29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935" y="1783119"/>
            <a:ext cx="7179970" cy="32957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6"/>
          <p:cNvCxnSpPr/>
          <p:nvPr/>
        </p:nvCxnSpPr>
        <p:spPr>
          <a:xfrm>
            <a:off x="800100" y="6134885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3" name="Google Shape;303;p27"/>
          <p:cNvSpPr txBox="1"/>
          <p:nvPr>
            <p:ph type="title"/>
          </p:nvPr>
        </p:nvSpPr>
        <p:spPr>
          <a:xfrm>
            <a:off x="704088" y="555712"/>
            <a:ext cx="3721629" cy="561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ЖИТТЄВИЙ ЦИКЛ TERRAFORM (ТРИ ОСНОВНІ КОМАНДИ)</a:t>
            </a:r>
            <a:endParaRPr/>
          </a:p>
        </p:txBody>
      </p:sp>
      <p:cxnSp>
        <p:nvCxnSpPr>
          <p:cNvPr id="304" name="Google Shape;304;p27"/>
          <p:cNvCxnSpPr/>
          <p:nvPr/>
        </p:nvCxnSpPr>
        <p:spPr>
          <a:xfrm rot="10800000">
            <a:off x="4876800" y="723900"/>
            <a:ext cx="0" cy="544948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rraform Architecture and Components through diagram - DevOpsSchool.com" id="305" name="Google Shape;305;p27"/>
          <p:cNvPicPr preferRelativeResize="0"/>
          <p:nvPr/>
        </p:nvPicPr>
        <p:blipFill rotWithShape="1">
          <a:blip r:embed="rId3">
            <a:alphaModFix/>
          </a:blip>
          <a:srcRect b="4447" l="0" r="-1" t="0"/>
          <a:stretch/>
        </p:blipFill>
        <p:spPr>
          <a:xfrm>
            <a:off x="5502395" y="322579"/>
            <a:ext cx="6064011" cy="27233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7"/>
          <p:cNvGrpSpPr/>
          <p:nvPr/>
        </p:nvGrpSpPr>
        <p:grpSpPr>
          <a:xfrm>
            <a:off x="5576419" y="3369854"/>
            <a:ext cx="5920256" cy="2802160"/>
            <a:chOff x="0" y="1369"/>
            <a:chExt cx="5920256" cy="2802160"/>
          </a:xfrm>
        </p:grpSpPr>
        <p:cxnSp>
          <p:nvCxnSpPr>
            <p:cNvPr id="307" name="Google Shape;307;p27"/>
            <p:cNvCxnSpPr/>
            <p:nvPr/>
          </p:nvCxnSpPr>
          <p:spPr>
            <a:xfrm>
              <a:off x="0" y="1369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8" name="Google Shape;308;p27"/>
            <p:cNvSpPr/>
            <p:nvPr/>
          </p:nvSpPr>
          <p:spPr>
            <a:xfrm>
              <a:off x="0" y="1369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 txBox="1"/>
            <p:nvPr/>
          </p:nvSpPr>
          <p:spPr>
            <a:xfrm>
              <a:off x="0" y="1369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init – ініціалізація (завантаження провайдерів, модулів)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10" name="Google Shape;310;p27"/>
            <p:cNvCxnSpPr/>
            <p:nvPr/>
          </p:nvCxnSpPr>
          <p:spPr>
            <a:xfrm>
              <a:off x="0" y="935422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1" name="Google Shape;311;p27"/>
            <p:cNvSpPr/>
            <p:nvPr/>
          </p:nvSpPr>
          <p:spPr>
            <a:xfrm>
              <a:off x="0" y="935422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0" y="935422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plan – показує, що буде змінено (план)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13" name="Google Shape;313;p27"/>
            <p:cNvCxnSpPr/>
            <p:nvPr/>
          </p:nvCxnSpPr>
          <p:spPr>
            <a:xfrm>
              <a:off x="0" y="1869476"/>
              <a:ext cx="592025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4" name="Google Shape;314;p27"/>
            <p:cNvSpPr/>
            <p:nvPr/>
          </p:nvSpPr>
          <p:spPr>
            <a:xfrm>
              <a:off x="0" y="1869476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 txBox="1"/>
            <p:nvPr/>
          </p:nvSpPr>
          <p:spPr>
            <a:xfrm>
              <a:off x="0" y="1869476"/>
              <a:ext cx="5920256" cy="934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apply – застосовує зміни (створює, оновлює, видаляє ресурси)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1" name="Google Shape;321;p28"/>
          <p:cNvSpPr txBox="1"/>
          <p:nvPr>
            <p:ph type="title"/>
          </p:nvPr>
        </p:nvSpPr>
        <p:spPr>
          <a:xfrm>
            <a:off x="528800" y="555712"/>
            <a:ext cx="4001695" cy="561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TERRAFORM INIT: ПІДГОТОВКА РОБОЧОГО СЕРЕДОВИЩА</a:t>
            </a:r>
            <a:endParaRPr/>
          </a:p>
        </p:txBody>
      </p:sp>
      <p:cxnSp>
        <p:nvCxnSpPr>
          <p:cNvPr id="322" name="Google Shape;322;p28"/>
          <p:cNvCxnSpPr/>
          <p:nvPr/>
        </p:nvCxnSpPr>
        <p:spPr>
          <a:xfrm rot="10800000">
            <a:off x="4876800" y="723900"/>
            <a:ext cx="0" cy="544948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rraform Init - Command Overview with Examples" id="323" name="Google Shape;323;p28"/>
          <p:cNvPicPr preferRelativeResize="0"/>
          <p:nvPr/>
        </p:nvPicPr>
        <p:blipFill rotWithShape="1">
          <a:blip r:embed="rId3">
            <a:alphaModFix/>
          </a:blip>
          <a:srcRect b="11551" l="0" r="4" t="3369"/>
          <a:stretch/>
        </p:blipFill>
        <p:spPr>
          <a:xfrm>
            <a:off x="5401110" y="304529"/>
            <a:ext cx="6262090" cy="28122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8"/>
          <p:cNvGrpSpPr/>
          <p:nvPr/>
        </p:nvGrpSpPr>
        <p:grpSpPr>
          <a:xfrm>
            <a:off x="5576419" y="3368485"/>
            <a:ext cx="5920256" cy="2804898"/>
            <a:chOff x="0" y="0"/>
            <a:chExt cx="5920256" cy="2804898"/>
          </a:xfrm>
        </p:grpSpPr>
        <p:cxnSp>
          <p:nvCxnSpPr>
            <p:cNvPr id="325" name="Google Shape;325;p28"/>
            <p:cNvCxnSpPr/>
            <p:nvPr/>
          </p:nvCxnSpPr>
          <p:spPr>
            <a:xfrm>
              <a:off x="0" y="0"/>
              <a:ext cx="5920256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6" name="Google Shape;326;p28"/>
            <p:cNvSpPr/>
            <p:nvPr/>
          </p:nvSpPr>
          <p:spPr>
            <a:xfrm>
              <a:off x="0" y="0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8"/>
            <p:cNvSpPr txBox="1"/>
            <p:nvPr/>
          </p:nvSpPr>
          <p:spPr>
            <a:xfrm>
              <a:off x="0" y="0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Завантажує необхідні провайдери (з Terraform Registry)</a:t>
              </a:r>
              <a:endParaRPr/>
            </a:p>
          </p:txBody>
        </p:sp>
        <p:cxnSp>
          <p:nvCxnSpPr>
            <p:cNvPr id="328" name="Google Shape;328;p28"/>
            <p:cNvCxnSpPr/>
            <p:nvPr/>
          </p:nvCxnSpPr>
          <p:spPr>
            <a:xfrm>
              <a:off x="0" y="701224"/>
              <a:ext cx="5920256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" name="Google Shape;329;p28"/>
            <p:cNvSpPr/>
            <p:nvPr/>
          </p:nvSpPr>
          <p:spPr>
            <a:xfrm>
              <a:off x="0" y="70122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8"/>
            <p:cNvSpPr txBox="1"/>
            <p:nvPr/>
          </p:nvSpPr>
          <p:spPr>
            <a:xfrm>
              <a:off x="0" y="70122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Ініціалізує бекенд (де зберігати файл стану)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31" name="Google Shape;331;p28"/>
            <p:cNvCxnSpPr/>
            <p:nvPr/>
          </p:nvCxnSpPr>
          <p:spPr>
            <a:xfrm>
              <a:off x="0" y="1402449"/>
              <a:ext cx="5920256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2" name="Google Shape;332;p28"/>
            <p:cNvSpPr/>
            <p:nvPr/>
          </p:nvSpPr>
          <p:spPr>
            <a:xfrm>
              <a:off x="0" y="1402449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 txBox="1"/>
            <p:nvPr/>
          </p:nvSpPr>
          <p:spPr>
            <a:xfrm>
              <a:off x="0" y="1402449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Завантажує модулі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34" name="Google Shape;334;p28"/>
            <p:cNvCxnSpPr/>
            <p:nvPr/>
          </p:nvCxnSpPr>
          <p:spPr>
            <a:xfrm>
              <a:off x="0" y="2103674"/>
              <a:ext cx="5920256" cy="0"/>
            </a:xfrm>
            <a:prstGeom prst="straightConnector1">
              <a:avLst/>
            </a:prstGeom>
            <a:solidFill>
              <a:srgbClr val="DA9A8F"/>
            </a:solidFill>
            <a:ln cap="flat" cmpd="sng" w="12700">
              <a:solidFill>
                <a:srgbClr val="DA9A8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5" name="Google Shape;335;p28"/>
            <p:cNvSpPr/>
            <p:nvPr/>
          </p:nvSpPr>
          <p:spPr>
            <a:xfrm>
              <a:off x="0" y="210367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 txBox="1"/>
            <p:nvPr/>
          </p:nvSpPr>
          <p:spPr>
            <a:xfrm>
              <a:off x="0" y="2103674"/>
              <a:ext cx="5920256" cy="701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Виконується один раз на початку роботи з конфігурацією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2" name="Google Shape;342;p29"/>
          <p:cNvSpPr txBox="1"/>
          <p:nvPr>
            <p:ph type="title"/>
          </p:nvPr>
        </p:nvSpPr>
        <p:spPr>
          <a:xfrm>
            <a:off x="704088" y="914400"/>
            <a:ext cx="10780776" cy="11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pen Sans"/>
              <a:buNone/>
            </a:pPr>
            <a:r>
              <a:rPr b="1" lang="en-US" sz="3700"/>
              <a:t>TERRAFORM PLAN: ПЕРЕВІРКА БЕЗ ВНЕСЕННЯ ЗМІН</a:t>
            </a:r>
            <a:endParaRPr sz="3700"/>
          </a:p>
        </p:txBody>
      </p:sp>
      <p:cxnSp>
        <p:nvCxnSpPr>
          <p:cNvPr id="343" name="Google Shape;343;p29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nhance Terraform Final Plan Output in GitHub Actions" id="344" name="Google Shape;3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660" y="1824491"/>
            <a:ext cx="5660110" cy="442903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345" name="Google Shape;345;p29"/>
          <p:cNvGrpSpPr/>
          <p:nvPr/>
        </p:nvGrpSpPr>
        <p:grpSpPr>
          <a:xfrm>
            <a:off x="6664960" y="2348803"/>
            <a:ext cx="4819903" cy="3771769"/>
            <a:chOff x="0" y="1843"/>
            <a:chExt cx="4819903" cy="3771769"/>
          </a:xfrm>
        </p:grpSpPr>
        <p:cxnSp>
          <p:nvCxnSpPr>
            <p:cNvPr id="346" name="Google Shape;346;p29"/>
            <p:cNvCxnSpPr/>
            <p:nvPr/>
          </p:nvCxnSpPr>
          <p:spPr>
            <a:xfrm>
              <a:off x="0" y="1843"/>
              <a:ext cx="4819903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7" name="Google Shape;347;p29"/>
            <p:cNvSpPr/>
            <p:nvPr/>
          </p:nvSpPr>
          <p:spPr>
            <a:xfrm>
              <a:off x="0" y="1843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9"/>
            <p:cNvSpPr txBox="1"/>
            <p:nvPr/>
          </p:nvSpPr>
          <p:spPr>
            <a:xfrm>
              <a:off x="0" y="1843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Показує детальний план: які ресурси будуть створені, змінені, видалені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49" name="Google Shape;349;p29"/>
            <p:cNvCxnSpPr/>
            <p:nvPr/>
          </p:nvCxnSpPr>
          <p:spPr>
            <a:xfrm>
              <a:off x="0" y="1259099"/>
              <a:ext cx="4819903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0" name="Google Shape;350;p29"/>
            <p:cNvSpPr/>
            <p:nvPr/>
          </p:nvSpPr>
          <p:spPr>
            <a:xfrm>
              <a:off x="0" y="1259099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 txBox="1"/>
            <p:nvPr/>
          </p:nvSpPr>
          <p:spPr>
            <a:xfrm>
              <a:off x="0" y="1259099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Безпечний спосіб перевірити, що станеться після apply</a:t>
              </a:r>
              <a:endParaRPr/>
            </a:p>
          </p:txBody>
        </p:sp>
        <p:cxnSp>
          <p:nvCxnSpPr>
            <p:cNvPr id="352" name="Google Shape;352;p29"/>
            <p:cNvCxnSpPr/>
            <p:nvPr/>
          </p:nvCxnSpPr>
          <p:spPr>
            <a:xfrm>
              <a:off x="0" y="2516356"/>
              <a:ext cx="4819903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3" name="Google Shape;353;p29"/>
            <p:cNvSpPr/>
            <p:nvPr/>
          </p:nvSpPr>
          <p:spPr>
            <a:xfrm>
              <a:off x="0" y="2516356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 txBox="1"/>
            <p:nvPr/>
          </p:nvSpPr>
          <p:spPr>
            <a:xfrm>
              <a:off x="0" y="2516356"/>
              <a:ext cx="4819903" cy="125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Використовується в CI/CD для перевірки перед злиттям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60" name="Google Shape;360;p30"/>
          <p:cNvSpPr txBox="1"/>
          <p:nvPr>
            <p:ph type="title"/>
          </p:nvPr>
        </p:nvSpPr>
        <p:spPr>
          <a:xfrm>
            <a:off x="704088" y="914400"/>
            <a:ext cx="519588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TERRAFORM APPLY: ВТІЛЕННЯ ЗМІН</a:t>
            </a:r>
            <a:endParaRPr/>
          </a:p>
        </p:txBody>
      </p:sp>
      <p:cxnSp>
        <p:nvCxnSpPr>
          <p:cNvPr id="361" name="Google Shape;361;p30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uide to Terraform's Plan and AWS VPC Creation Workflow" id="362" name="Google Shape;362;p30"/>
          <p:cNvPicPr preferRelativeResize="0"/>
          <p:nvPr/>
        </p:nvPicPr>
        <p:blipFill rotWithShape="1">
          <a:blip r:embed="rId3">
            <a:alphaModFix/>
          </a:blip>
          <a:srcRect b="-3" l="0" r="18179" t="0"/>
          <a:stretch/>
        </p:blipFill>
        <p:spPr>
          <a:xfrm>
            <a:off x="5898235" y="53048"/>
            <a:ext cx="6295508" cy="675190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363" name="Google Shape;363;p30"/>
          <p:cNvGrpSpPr/>
          <p:nvPr/>
        </p:nvGrpSpPr>
        <p:grpSpPr>
          <a:xfrm>
            <a:off x="700603" y="2425078"/>
            <a:ext cx="5195889" cy="3928081"/>
            <a:chOff x="0" y="1919"/>
            <a:chExt cx="5195889" cy="3928081"/>
          </a:xfrm>
        </p:grpSpPr>
        <p:cxnSp>
          <p:nvCxnSpPr>
            <p:cNvPr id="364" name="Google Shape;364;p30"/>
            <p:cNvCxnSpPr/>
            <p:nvPr/>
          </p:nvCxnSpPr>
          <p:spPr>
            <a:xfrm>
              <a:off x="0" y="1919"/>
              <a:ext cx="5195889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5" name="Google Shape;365;p30"/>
            <p:cNvSpPr/>
            <p:nvPr/>
          </p:nvSpPr>
          <p:spPr>
            <a:xfrm>
              <a:off x="0" y="1919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0"/>
            <p:cNvSpPr txBox="1"/>
            <p:nvPr/>
          </p:nvSpPr>
          <p:spPr>
            <a:xfrm>
              <a:off x="0" y="1919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Застосовує план (створює/оновлює/видаляє ресурси)</a:t>
              </a:r>
              <a:endParaRPr b="0" i="0" sz="2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67" name="Google Shape;367;p30"/>
            <p:cNvCxnSpPr/>
            <p:nvPr/>
          </p:nvCxnSpPr>
          <p:spPr>
            <a:xfrm>
              <a:off x="0" y="1311279"/>
              <a:ext cx="5195889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8" name="Google Shape;368;p30"/>
            <p:cNvSpPr/>
            <p:nvPr/>
          </p:nvSpPr>
          <p:spPr>
            <a:xfrm>
              <a:off x="0" y="1311279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 txBox="1"/>
            <p:nvPr/>
          </p:nvSpPr>
          <p:spPr>
            <a:xfrm>
              <a:off x="0" y="1311279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Перед застосуванням можна підтвердити дію</a:t>
              </a:r>
              <a:endParaRPr b="0" i="0" sz="2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70" name="Google Shape;370;p30"/>
            <p:cNvCxnSpPr/>
            <p:nvPr/>
          </p:nvCxnSpPr>
          <p:spPr>
            <a:xfrm>
              <a:off x="0" y="2620640"/>
              <a:ext cx="5195889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1" name="Google Shape;371;p30"/>
            <p:cNvSpPr/>
            <p:nvPr/>
          </p:nvSpPr>
          <p:spPr>
            <a:xfrm>
              <a:off x="0" y="2620640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 txBox="1"/>
            <p:nvPr/>
          </p:nvSpPr>
          <p:spPr>
            <a:xfrm>
              <a:off x="0" y="2620640"/>
              <a:ext cx="5195889" cy="1309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Оновлює файл стану (tfstate)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8" name="Google Shape;378;p31"/>
          <p:cNvSpPr txBox="1"/>
          <p:nvPr>
            <p:ph type="title"/>
          </p:nvPr>
        </p:nvSpPr>
        <p:spPr>
          <a:xfrm>
            <a:off x="700087" y="909638"/>
            <a:ext cx="10691813" cy="115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ДОДАТКОВІ КОМАНДИ (ТАБЛИЦЯ)</a:t>
            </a:r>
            <a:endParaRPr/>
          </a:p>
        </p:txBody>
      </p:sp>
      <p:cxnSp>
        <p:nvCxnSpPr>
          <p:cNvPr id="379" name="Google Shape;379;p31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31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81" name="Google Shape;381;p31"/>
          <p:cNvGraphicFramePr/>
          <p:nvPr/>
        </p:nvGraphicFramePr>
        <p:xfrm>
          <a:off x="621457" y="1955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{1D45504E-DC6F-4E9B-825A-0BB746E211D9}</a:tableStyleId>
              </a:tblPr>
              <a:tblGrid>
                <a:gridCol w="3477900"/>
                <a:gridCol w="7213925"/>
              </a:tblGrid>
              <a:tr h="6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stria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Команда</a:t>
                      </a:r>
                      <a:endParaRPr b="1" sz="2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Lustria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Призначення</a:t>
                      </a:r>
                      <a:endParaRPr b="1" sz="2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terraform destroy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Видалити всю інфраструктуру, описану в конфігурації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242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terraform fmt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Відформатувати файли HCL у канонічному стилі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242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terraform validate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Перевірити синтаксис та внутрішню узгодженість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242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terraform refresh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Оновити файл стану реальним станом ресурсів (рідко використовується)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242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terraform output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656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stria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Показати вихідні значення (outputs)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000" marB="187575" marR="124200" marL="87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87" name="Google Shape;387;p32"/>
          <p:cNvSpPr txBox="1"/>
          <p:nvPr>
            <p:ph type="title"/>
          </p:nvPr>
        </p:nvSpPr>
        <p:spPr>
          <a:xfrm>
            <a:off x="221767" y="904353"/>
            <a:ext cx="3546365" cy="222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b="1" lang="en-US" sz="3200"/>
              <a:t>ПРИКЛАД РОБОЧОГО ПРОЦЕСУ (ПОКРОКОВО)</a:t>
            </a:r>
            <a:endParaRPr sz="3200"/>
          </a:p>
        </p:txBody>
      </p:sp>
      <p:cxnSp>
        <p:nvCxnSpPr>
          <p:cNvPr id="388" name="Google Shape;388;p32"/>
          <p:cNvCxnSpPr/>
          <p:nvPr/>
        </p:nvCxnSpPr>
        <p:spPr>
          <a:xfrm>
            <a:off x="800100" y="723900"/>
            <a:ext cx="1524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89" name="Google Shape;389;p32"/>
          <p:cNvGrpSpPr/>
          <p:nvPr/>
        </p:nvGrpSpPr>
        <p:grpSpPr>
          <a:xfrm>
            <a:off x="3242340" y="827867"/>
            <a:ext cx="8818959" cy="5760361"/>
            <a:chOff x="6771" y="103967"/>
            <a:chExt cx="8818959" cy="5760361"/>
          </a:xfrm>
        </p:grpSpPr>
        <p:sp>
          <p:nvSpPr>
            <p:cNvPr id="390" name="Google Shape;390;p32"/>
            <p:cNvSpPr/>
            <p:nvPr/>
          </p:nvSpPr>
          <p:spPr>
            <a:xfrm>
              <a:off x="2553803" y="822897"/>
              <a:ext cx="555631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2"/>
            <p:cNvSpPr txBox="1"/>
            <p:nvPr/>
          </p:nvSpPr>
          <p:spPr>
            <a:xfrm>
              <a:off x="2816963" y="865686"/>
              <a:ext cx="29311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6771" y="103967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2"/>
            <p:cNvSpPr txBox="1"/>
            <p:nvPr/>
          </p:nvSpPr>
          <p:spPr>
            <a:xfrm>
              <a:off x="6771" y="103967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Пишемо файл main.tf</a:t>
              </a: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5688867" y="822897"/>
              <a:ext cx="555631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2"/>
            <p:cNvSpPr txBox="1"/>
            <p:nvPr/>
          </p:nvSpPr>
          <p:spPr>
            <a:xfrm>
              <a:off x="5952027" y="865686"/>
              <a:ext cx="29311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3141834" y="103967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2"/>
            <p:cNvSpPr txBox="1"/>
            <p:nvPr/>
          </p:nvSpPr>
          <p:spPr>
            <a:xfrm>
              <a:off x="3141834" y="103967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init</a:t>
              </a:r>
              <a:endParaRPr/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1281187" y="1631467"/>
              <a:ext cx="6270127" cy="55563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3693"/>
                  </a:lnTo>
                  <a:lnTo>
                    <a:pt x="0" y="63693"/>
                  </a:lnTo>
                  <a:lnTo>
                    <a:pt x="0" y="12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2"/>
            <p:cNvSpPr txBox="1"/>
            <p:nvPr/>
          </p:nvSpPr>
          <p:spPr>
            <a:xfrm>
              <a:off x="4258814" y="1906351"/>
              <a:ext cx="314873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6276898" y="103967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2"/>
            <p:cNvSpPr txBox="1"/>
            <p:nvPr/>
          </p:nvSpPr>
          <p:spPr>
            <a:xfrm>
              <a:off x="6276898" y="103967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plan → перевіряємо план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553803" y="2938428"/>
              <a:ext cx="555631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2"/>
            <p:cNvSpPr txBox="1"/>
            <p:nvPr/>
          </p:nvSpPr>
          <p:spPr>
            <a:xfrm>
              <a:off x="2816963" y="2981217"/>
              <a:ext cx="29311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6771" y="2219498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2"/>
            <p:cNvSpPr txBox="1"/>
            <p:nvPr/>
          </p:nvSpPr>
          <p:spPr>
            <a:xfrm>
              <a:off x="6771" y="2219498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apply → створюємо інфраструктуру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5688867" y="2938428"/>
              <a:ext cx="555631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5952027" y="2981217"/>
              <a:ext cx="29311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3141834" y="2219498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2"/>
            <p:cNvSpPr txBox="1"/>
            <p:nvPr/>
          </p:nvSpPr>
          <p:spPr>
            <a:xfrm>
              <a:off x="3141834" y="2219498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Змінюємо конфігурацію 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(наприклад, збільшуємо кількість інстансів)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1281187" y="3746998"/>
              <a:ext cx="6270127" cy="55563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3693"/>
                  </a:lnTo>
                  <a:lnTo>
                    <a:pt x="0" y="63693"/>
                  </a:lnTo>
                  <a:lnTo>
                    <a:pt x="0" y="12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2"/>
            <p:cNvSpPr txBox="1"/>
            <p:nvPr/>
          </p:nvSpPr>
          <p:spPr>
            <a:xfrm>
              <a:off x="4258814" y="4021882"/>
              <a:ext cx="314873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6276898" y="2219498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2"/>
            <p:cNvSpPr txBox="1"/>
            <p:nvPr/>
          </p:nvSpPr>
          <p:spPr>
            <a:xfrm>
              <a:off x="6276898" y="2219498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plan → бачимо зміни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2553803" y="5053959"/>
              <a:ext cx="555631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med" w="med" type="stealth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2"/>
            <p:cNvSpPr txBox="1"/>
            <p:nvPr/>
          </p:nvSpPr>
          <p:spPr>
            <a:xfrm>
              <a:off x="2816963" y="5096748"/>
              <a:ext cx="29311" cy="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Lustr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6771" y="4335029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2"/>
            <p:cNvSpPr txBox="1"/>
            <p:nvPr/>
          </p:nvSpPr>
          <p:spPr>
            <a:xfrm>
              <a:off x="6771" y="4335029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apply → застосовуємо зміни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3141834" y="4335029"/>
              <a:ext cx="2548832" cy="1529299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2"/>
            <p:cNvSpPr txBox="1"/>
            <p:nvPr/>
          </p:nvSpPr>
          <p:spPr>
            <a:xfrm>
              <a:off x="3141834" y="4335029"/>
              <a:ext cx="2548832" cy="152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075" lIns="124875" spcFirstLastPara="1" rIns="124875" wrap="square" tIns="131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terraform destroy → видаляємо все</a:t>
              </a:r>
              <a:endPara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5" name="Google Shape;425;p33"/>
          <p:cNvSpPr txBox="1"/>
          <p:nvPr>
            <p:ph type="title"/>
          </p:nvPr>
        </p:nvSpPr>
        <p:spPr>
          <a:xfrm>
            <a:off x="704089" y="914400"/>
            <a:ext cx="345384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None/>
            </a:pPr>
            <a:r>
              <a:rPr b="1" lang="en-US" sz="3100"/>
              <a:t>ДЕМОНСТРАЦІЯ: СТВОРЕННЯ EC2 В AWS (ПРИКЛАД)</a:t>
            </a:r>
            <a:endParaRPr sz="3100"/>
          </a:p>
        </p:txBody>
      </p:sp>
      <p:cxnSp>
        <p:nvCxnSpPr>
          <p:cNvPr id="426" name="Google Shape;426;p33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33"/>
          <p:cNvCxnSpPr/>
          <p:nvPr/>
        </p:nvCxnSpPr>
        <p:spPr>
          <a:xfrm>
            <a:off x="809065" y="2497143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How to Launch an EC2 Instance in AWS | by Akinlolu Gbemisola John  (G-oracle) | AWS in Plain English" id="428" name="Google Shape;428;p33"/>
          <p:cNvPicPr preferRelativeResize="0"/>
          <p:nvPr/>
        </p:nvPicPr>
        <p:blipFill rotWithShape="1">
          <a:blip r:embed="rId3">
            <a:alphaModFix/>
          </a:blip>
          <a:srcRect b="6321" l="0" r="0" t="745"/>
          <a:stretch/>
        </p:blipFill>
        <p:spPr>
          <a:xfrm>
            <a:off x="20" y="2863970"/>
            <a:ext cx="12191980" cy="3994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p33"/>
          <p:cNvGrpSpPr/>
          <p:nvPr/>
        </p:nvGrpSpPr>
        <p:grpSpPr>
          <a:xfrm>
            <a:off x="4862022" y="1015649"/>
            <a:ext cx="6614592" cy="1361125"/>
            <a:chOff x="0" y="665"/>
            <a:chExt cx="6614592" cy="1361125"/>
          </a:xfrm>
        </p:grpSpPr>
        <p:cxnSp>
          <p:nvCxnSpPr>
            <p:cNvPr id="430" name="Google Shape;430;p33"/>
            <p:cNvCxnSpPr/>
            <p:nvPr/>
          </p:nvCxnSpPr>
          <p:spPr>
            <a:xfrm>
              <a:off x="0" y="665"/>
              <a:ext cx="6614592" cy="0"/>
            </a:xfrm>
            <a:prstGeom prst="straightConnector1">
              <a:avLst/>
            </a:prstGeom>
            <a:gradFill>
              <a:gsLst>
                <a:gs pos="0">
                  <a:srgbClr val="DEA59B"/>
                </a:gs>
                <a:gs pos="50000">
                  <a:srgbClr val="DD978B"/>
                </a:gs>
                <a:gs pos="100000">
                  <a:srgbClr val="C88175"/>
                </a:gs>
              </a:gsLst>
              <a:lin ang="5400000" scaled="0"/>
            </a:gradFill>
            <a:ln cap="flat" cmpd="sng" w="9525">
              <a:solidFill>
                <a:srgbClr val="DA9A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31" name="Google Shape;431;p33"/>
            <p:cNvSpPr/>
            <p:nvPr/>
          </p:nvSpPr>
          <p:spPr>
            <a:xfrm>
              <a:off x="0" y="665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3"/>
            <p:cNvSpPr txBox="1"/>
            <p:nvPr/>
          </p:nvSpPr>
          <p:spPr>
            <a:xfrm>
              <a:off x="0" y="665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Використовуємо конфігурацію з попередніх слайдів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433" name="Google Shape;433;p33"/>
            <p:cNvCxnSpPr/>
            <p:nvPr/>
          </p:nvCxnSpPr>
          <p:spPr>
            <a:xfrm>
              <a:off x="0" y="454373"/>
              <a:ext cx="6614592" cy="0"/>
            </a:xfrm>
            <a:prstGeom prst="straightConnector1">
              <a:avLst/>
            </a:prstGeom>
            <a:gradFill>
              <a:gsLst>
                <a:gs pos="0">
                  <a:srgbClr val="9FD2C7"/>
                </a:gs>
                <a:gs pos="50000">
                  <a:srgbClr val="8FCFC2"/>
                </a:gs>
                <a:gs pos="100000">
                  <a:srgbClr val="7BB9AD"/>
                </a:gs>
              </a:gsLst>
              <a:lin ang="5400000" scaled="0"/>
            </a:gradFill>
            <a:ln cap="flat" cmpd="sng" w="9525">
              <a:solidFill>
                <a:srgbClr val="93CDC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34" name="Google Shape;434;p33"/>
            <p:cNvSpPr/>
            <p:nvPr/>
          </p:nvSpPr>
          <p:spPr>
            <a:xfrm>
              <a:off x="0" y="454373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3"/>
            <p:cNvSpPr txBox="1"/>
            <p:nvPr/>
          </p:nvSpPr>
          <p:spPr>
            <a:xfrm>
              <a:off x="0" y="454373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Показуємо init, plan, apply</a:t>
              </a:r>
              <a:endParaRPr/>
            </a:p>
          </p:txBody>
        </p:sp>
        <p:cxnSp>
          <p:nvCxnSpPr>
            <p:cNvPr id="436" name="Google Shape;436;p33"/>
            <p:cNvCxnSpPr/>
            <p:nvPr/>
          </p:nvCxnSpPr>
          <p:spPr>
            <a:xfrm>
              <a:off x="0" y="908082"/>
              <a:ext cx="6614592" cy="0"/>
            </a:xfrm>
            <a:prstGeom prst="straightConnector1">
              <a:avLst/>
            </a:prstGeom>
            <a:gradFill>
              <a:gsLst>
                <a:gs pos="0">
                  <a:srgbClr val="C6A4B9"/>
                </a:gs>
                <a:gs pos="50000">
                  <a:srgbClr val="C197B0"/>
                </a:gs>
                <a:gs pos="100000">
                  <a:srgbClr val="AD829B"/>
                </a:gs>
              </a:gsLst>
              <a:lin ang="5400000" scaled="0"/>
            </a:gradFill>
            <a:ln cap="flat" cmpd="sng" w="9525">
              <a:solidFill>
                <a:srgbClr val="C099B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37" name="Google Shape;437;p33"/>
            <p:cNvSpPr/>
            <p:nvPr/>
          </p:nvSpPr>
          <p:spPr>
            <a:xfrm>
              <a:off x="0" y="908082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3"/>
            <p:cNvSpPr txBox="1"/>
            <p:nvPr/>
          </p:nvSpPr>
          <p:spPr>
            <a:xfrm>
              <a:off x="0" y="908082"/>
              <a:ext cx="6614592" cy="453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Результат: інстанс з'являється в AWS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4" name="Google Shape;444;p34"/>
          <p:cNvSpPr txBox="1"/>
          <p:nvPr>
            <p:ph type="title"/>
          </p:nvPr>
        </p:nvSpPr>
        <p:spPr>
          <a:xfrm>
            <a:off x="111235" y="872543"/>
            <a:ext cx="4681829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1" lang="en-US" sz="3300"/>
              <a:t>ДЕМОНСТРАЦІЯ: ЗМІНА ІНФРАСТРУКТУРИ</a:t>
            </a:r>
            <a:endParaRPr sz="3300"/>
          </a:p>
        </p:txBody>
      </p:sp>
      <p:cxnSp>
        <p:nvCxnSpPr>
          <p:cNvPr id="445" name="Google Shape;445;p34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et started with the AgentCore CLI - Amazon Bedrock AgentCore" id="446" name="Google Shape;446;p34"/>
          <p:cNvPicPr preferRelativeResize="0"/>
          <p:nvPr/>
        </p:nvPicPr>
        <p:blipFill rotWithShape="1">
          <a:blip r:embed="rId3">
            <a:alphaModFix/>
          </a:blip>
          <a:srcRect b="2" l="0" r="18808" t="0"/>
          <a:stretch/>
        </p:blipFill>
        <p:spPr>
          <a:xfrm>
            <a:off x="5143892" y="722376"/>
            <a:ext cx="6495042" cy="541964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447" name="Google Shape;447;p34"/>
          <p:cNvGrpSpPr/>
          <p:nvPr/>
        </p:nvGrpSpPr>
        <p:grpSpPr>
          <a:xfrm>
            <a:off x="212637" y="2816879"/>
            <a:ext cx="4782664" cy="2266480"/>
            <a:chOff x="0" y="1107"/>
            <a:chExt cx="4782664" cy="2266480"/>
          </a:xfrm>
        </p:grpSpPr>
        <p:cxnSp>
          <p:nvCxnSpPr>
            <p:cNvPr id="448" name="Google Shape;448;p34"/>
            <p:cNvCxnSpPr/>
            <p:nvPr/>
          </p:nvCxnSpPr>
          <p:spPr>
            <a:xfrm>
              <a:off x="0" y="1107"/>
              <a:ext cx="478266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9" name="Google Shape;449;p34"/>
            <p:cNvSpPr/>
            <p:nvPr/>
          </p:nvSpPr>
          <p:spPr>
            <a:xfrm>
              <a:off x="0" y="1107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4"/>
            <p:cNvSpPr txBox="1"/>
            <p:nvPr/>
          </p:nvSpPr>
          <p:spPr>
            <a:xfrm>
              <a:off x="0" y="1107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Змінюємо instance_type = "t3.micro"</a:t>
              </a:r>
              <a:endParaRPr/>
            </a:p>
          </p:txBody>
        </p:sp>
        <p:cxnSp>
          <p:nvCxnSpPr>
            <p:cNvPr id="451" name="Google Shape;451;p34"/>
            <p:cNvCxnSpPr/>
            <p:nvPr/>
          </p:nvCxnSpPr>
          <p:spPr>
            <a:xfrm>
              <a:off x="0" y="756600"/>
              <a:ext cx="478266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2" name="Google Shape;452;p34"/>
            <p:cNvSpPr/>
            <p:nvPr/>
          </p:nvSpPr>
          <p:spPr>
            <a:xfrm>
              <a:off x="0" y="756600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4"/>
            <p:cNvSpPr txBox="1"/>
            <p:nvPr/>
          </p:nvSpPr>
          <p:spPr>
            <a:xfrm>
              <a:off x="0" y="756600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plan показує, що інстанс буде замінено (destroy + create)</a:t>
              </a:r>
              <a:endParaRPr/>
            </a:p>
          </p:txBody>
        </p:sp>
        <p:cxnSp>
          <p:nvCxnSpPr>
            <p:cNvPr id="454" name="Google Shape;454;p34"/>
            <p:cNvCxnSpPr/>
            <p:nvPr/>
          </p:nvCxnSpPr>
          <p:spPr>
            <a:xfrm>
              <a:off x="0" y="1512094"/>
              <a:ext cx="478266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5" name="Google Shape;455;p34"/>
            <p:cNvSpPr/>
            <p:nvPr/>
          </p:nvSpPr>
          <p:spPr>
            <a:xfrm>
              <a:off x="0" y="1512094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4"/>
            <p:cNvSpPr txBox="1"/>
            <p:nvPr/>
          </p:nvSpPr>
          <p:spPr>
            <a:xfrm>
              <a:off x="0" y="1512094"/>
              <a:ext cx="4782664" cy="755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apply виконує заміну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62" name="Google Shape;462;p35"/>
          <p:cNvSpPr txBox="1"/>
          <p:nvPr>
            <p:ph type="title"/>
          </p:nvPr>
        </p:nvSpPr>
        <p:spPr>
          <a:xfrm>
            <a:off x="705612" y="854648"/>
            <a:ext cx="10780776" cy="11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ЩО ТАКЕ ФАЙЛ СТАНУ (TERRAFORM.TFSTATE)?</a:t>
            </a:r>
            <a:endParaRPr/>
          </a:p>
        </p:txBody>
      </p:sp>
      <p:cxnSp>
        <p:nvCxnSpPr>
          <p:cNvPr id="463" name="Google Shape;463;p35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derstanding Terraform State: The Backbone of Infrastructure as Code | by  Major Mbandi | Medium" id="464" name="Google Shape;4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19" y="1902586"/>
            <a:ext cx="6967268" cy="404101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465" name="Google Shape;465;p35"/>
          <p:cNvGrpSpPr/>
          <p:nvPr/>
        </p:nvGrpSpPr>
        <p:grpSpPr>
          <a:xfrm>
            <a:off x="7714106" y="2076811"/>
            <a:ext cx="4208931" cy="4037067"/>
            <a:chOff x="0" y="1973"/>
            <a:chExt cx="4208931" cy="4037067"/>
          </a:xfrm>
        </p:grpSpPr>
        <p:cxnSp>
          <p:nvCxnSpPr>
            <p:cNvPr id="466" name="Google Shape;466;p35"/>
            <p:cNvCxnSpPr/>
            <p:nvPr/>
          </p:nvCxnSpPr>
          <p:spPr>
            <a:xfrm>
              <a:off x="0" y="1973"/>
              <a:ext cx="4208931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67" name="Google Shape;467;p35"/>
            <p:cNvSpPr/>
            <p:nvPr/>
          </p:nvSpPr>
          <p:spPr>
            <a:xfrm>
              <a:off x="0" y="1973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5"/>
            <p:cNvSpPr txBox="1"/>
            <p:nvPr/>
          </p:nvSpPr>
          <p:spPr>
            <a:xfrm>
              <a:off x="0" y="1973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Файл, де Terraform зберігає маппінг між конфігурацією та реальними ресурсами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469" name="Google Shape;469;p35"/>
            <p:cNvCxnSpPr/>
            <p:nvPr/>
          </p:nvCxnSpPr>
          <p:spPr>
            <a:xfrm>
              <a:off x="0" y="1347662"/>
              <a:ext cx="4208931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70" name="Google Shape;470;p35"/>
            <p:cNvSpPr/>
            <p:nvPr/>
          </p:nvSpPr>
          <p:spPr>
            <a:xfrm>
              <a:off x="0" y="1347662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5"/>
            <p:cNvSpPr txBox="1"/>
            <p:nvPr/>
          </p:nvSpPr>
          <p:spPr>
            <a:xfrm>
              <a:off x="0" y="1347662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Містить метадані: ID ресурсів, атрибути, залежності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472" name="Google Shape;472;p35"/>
            <p:cNvCxnSpPr/>
            <p:nvPr/>
          </p:nvCxnSpPr>
          <p:spPr>
            <a:xfrm>
              <a:off x="0" y="2693351"/>
              <a:ext cx="4208931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473" name="Google Shape;473;p35"/>
            <p:cNvSpPr/>
            <p:nvPr/>
          </p:nvSpPr>
          <p:spPr>
            <a:xfrm>
              <a:off x="0" y="2693351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5"/>
            <p:cNvSpPr txBox="1"/>
            <p:nvPr/>
          </p:nvSpPr>
          <p:spPr>
            <a:xfrm>
              <a:off x="0" y="2693351"/>
              <a:ext cx="4208931" cy="1345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ustria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Єдине джерело правди про стан інфраструктури</a:t>
              </a:r>
              <a:endParaRPr b="0" i="0" sz="2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9" name="Google Shape;479;p3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36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2" name="Google Shape;482;p36"/>
          <p:cNvSpPr txBox="1"/>
          <p:nvPr>
            <p:ph type="title"/>
          </p:nvPr>
        </p:nvSpPr>
        <p:spPr>
          <a:xfrm>
            <a:off x="269843" y="971876"/>
            <a:ext cx="3544556" cy="2457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СТРУКТУРА ФАЙЛУ СТАНУ (ПРИКЛАД)</a:t>
            </a:r>
            <a:endParaRPr/>
          </a:p>
        </p:txBody>
      </p:sp>
      <p:cxnSp>
        <p:nvCxnSpPr>
          <p:cNvPr id="483" name="Google Shape;483;p36"/>
          <p:cNvCxnSpPr/>
          <p:nvPr/>
        </p:nvCxnSpPr>
        <p:spPr>
          <a:xfrm>
            <a:off x="800100" y="723900"/>
            <a:ext cx="13716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Зображення, що містить текст, знімок екрана&#10;&#10;Вміст на основі ШІ може бути неправильним." id="484" name="Google Shape;484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4242" y="723901"/>
            <a:ext cx="7262014" cy="54102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90" name="Google Shape;490;p37"/>
          <p:cNvSpPr txBox="1"/>
          <p:nvPr>
            <p:ph type="title"/>
          </p:nvPr>
        </p:nvSpPr>
        <p:spPr>
          <a:xfrm>
            <a:off x="700087" y="909638"/>
            <a:ext cx="10691813" cy="115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ЧОМУ ФАЙЛ СТАНУ ВАЖЛИВИЙ?</a:t>
            </a:r>
            <a:endParaRPr/>
          </a:p>
        </p:txBody>
      </p:sp>
      <p:cxnSp>
        <p:nvCxnSpPr>
          <p:cNvPr id="491" name="Google Shape;491;p37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37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93" name="Google Shape;493;p37"/>
          <p:cNvGrpSpPr/>
          <p:nvPr/>
        </p:nvGrpSpPr>
        <p:grpSpPr>
          <a:xfrm>
            <a:off x="700088" y="2222500"/>
            <a:ext cx="10691811" cy="3740150"/>
            <a:chOff x="0" y="0"/>
            <a:chExt cx="10691811" cy="3740150"/>
          </a:xfrm>
        </p:grpSpPr>
        <p:sp>
          <p:nvSpPr>
            <p:cNvPr id="494" name="Google Shape;494;p37"/>
            <p:cNvSpPr/>
            <p:nvPr/>
          </p:nvSpPr>
          <p:spPr>
            <a:xfrm>
              <a:off x="0" y="0"/>
              <a:ext cx="3341191" cy="3740150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 txBox="1"/>
            <p:nvPr/>
          </p:nvSpPr>
          <p:spPr>
            <a:xfrm>
              <a:off x="0" y="1421257"/>
              <a:ext cx="3341191" cy="2244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0475" spcFirstLastPara="1" rIns="2604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Без нього Terraform не знає, які ресурси вже створені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1109573" y="374014"/>
              <a:ext cx="1122045" cy="1122045"/>
            </a:xfrm>
            <a:prstGeom prst="ellipse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 txBox="1"/>
            <p:nvPr/>
          </p:nvSpPr>
          <p:spPr>
            <a:xfrm>
              <a:off x="1273893" y="538334"/>
              <a:ext cx="793405" cy="793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7475" spcFirstLastPara="1" rIns="87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ustria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</a:t>
              </a: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0" y="3740078"/>
              <a:ext cx="3341191" cy="72"/>
            </a:xfrm>
            <a:prstGeom prst="rect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3675310" y="0"/>
              <a:ext cx="3341191" cy="3740150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7"/>
            <p:cNvSpPr txBox="1"/>
            <p:nvPr/>
          </p:nvSpPr>
          <p:spPr>
            <a:xfrm>
              <a:off x="3675310" y="1421257"/>
              <a:ext cx="3341191" cy="2244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0475" spcFirstLastPara="1" rIns="2604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Дозволяє оновлювати та видаляти ресурси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784883" y="374014"/>
              <a:ext cx="1122045" cy="1122045"/>
            </a:xfrm>
            <a:prstGeom prst="ellipse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7"/>
            <p:cNvSpPr txBox="1"/>
            <p:nvPr/>
          </p:nvSpPr>
          <p:spPr>
            <a:xfrm>
              <a:off x="4949203" y="538334"/>
              <a:ext cx="793405" cy="793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7475" spcFirstLastPara="1" rIns="87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ustria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</a:t>
              </a: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3675310" y="3740078"/>
              <a:ext cx="3341191" cy="72"/>
            </a:xfrm>
            <a:prstGeom prst="rect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7350620" y="0"/>
              <a:ext cx="3341191" cy="3740150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7"/>
            <p:cNvSpPr txBox="1"/>
            <p:nvPr/>
          </p:nvSpPr>
          <p:spPr>
            <a:xfrm>
              <a:off x="7350620" y="1421257"/>
              <a:ext cx="3341191" cy="2244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60475" spcFirstLastPara="1" rIns="2604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ustria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Містить чутливі дані (паролі, ключі) → потрібен захист</a:t>
              </a:r>
              <a:endParaRPr b="0" i="0" sz="2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8460193" y="374014"/>
              <a:ext cx="1122045" cy="1122045"/>
            </a:xfrm>
            <a:prstGeom prst="ellipse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7"/>
            <p:cNvSpPr txBox="1"/>
            <p:nvPr/>
          </p:nvSpPr>
          <p:spPr>
            <a:xfrm>
              <a:off x="8624513" y="538334"/>
              <a:ext cx="793405" cy="793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7475" spcFirstLastPara="1" rIns="87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Lustria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</a:t>
              </a: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7350620" y="3740078"/>
              <a:ext cx="3341191" cy="72"/>
            </a:xfrm>
            <a:prstGeom prst="rect">
              <a:avLst/>
            </a:prstGeom>
            <a:solidFill>
              <a:srgbClr val="1B1B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14" name="Google Shape;514;p38"/>
          <p:cNvSpPr txBox="1"/>
          <p:nvPr>
            <p:ph type="title"/>
          </p:nvPr>
        </p:nvSpPr>
        <p:spPr>
          <a:xfrm>
            <a:off x="5742672" y="909638"/>
            <a:ext cx="5848694" cy="13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pen Sans"/>
              <a:buNone/>
            </a:pPr>
            <a:r>
              <a:rPr b="1" lang="en-US" sz="3700"/>
              <a:t>ПРОБЛЕМИ ЛОКАЛЬНОГО ФАЙЛУ СТАНУ</a:t>
            </a:r>
            <a:endParaRPr sz="3700"/>
          </a:p>
        </p:txBody>
      </p:sp>
      <p:pic>
        <p:nvPicPr>
          <p:cNvPr descr="Rope Pull Two People Pulling Opposite Directions Stock Illustrations – 10  Rope Pull Two People Pulling Opposite Directions Stock Illustrations,  Vectors &amp; Clipart - Dreamstime" id="515" name="Google Shape;51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555" y="1688033"/>
            <a:ext cx="5707585" cy="42806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" name="Google Shape;516;p38"/>
          <p:cNvCxnSpPr/>
          <p:nvPr/>
        </p:nvCxnSpPr>
        <p:spPr>
          <a:xfrm>
            <a:off x="5880661" y="723900"/>
            <a:ext cx="16002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17" name="Google Shape;517;p38"/>
          <p:cNvGrpSpPr/>
          <p:nvPr/>
        </p:nvGrpSpPr>
        <p:grpSpPr>
          <a:xfrm>
            <a:off x="5968168" y="2415428"/>
            <a:ext cx="5848694" cy="4073815"/>
            <a:chOff x="0" y="1991"/>
            <a:chExt cx="5848694" cy="4073815"/>
          </a:xfrm>
        </p:grpSpPr>
        <p:cxnSp>
          <p:nvCxnSpPr>
            <p:cNvPr id="518" name="Google Shape;518;p38"/>
            <p:cNvCxnSpPr/>
            <p:nvPr/>
          </p:nvCxnSpPr>
          <p:spPr>
            <a:xfrm>
              <a:off x="0" y="1991"/>
              <a:ext cx="584869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9" name="Google Shape;519;p38"/>
            <p:cNvSpPr/>
            <p:nvPr/>
          </p:nvSpPr>
          <p:spPr>
            <a:xfrm>
              <a:off x="0" y="1991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8"/>
            <p:cNvSpPr txBox="1"/>
            <p:nvPr/>
          </p:nvSpPr>
          <p:spPr>
            <a:xfrm>
              <a:off x="0" y="1991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Lustria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 командній роботі – конфлікти (локальні файли не синхронізуються)</a:t>
              </a:r>
              <a:endParaRPr b="0" i="0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21" name="Google Shape;521;p38"/>
            <p:cNvCxnSpPr/>
            <p:nvPr/>
          </p:nvCxnSpPr>
          <p:spPr>
            <a:xfrm>
              <a:off x="0" y="1359929"/>
              <a:ext cx="584869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2" name="Google Shape;522;p38"/>
            <p:cNvSpPr/>
            <p:nvPr/>
          </p:nvSpPr>
          <p:spPr>
            <a:xfrm>
              <a:off x="0" y="1359929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8"/>
            <p:cNvSpPr txBox="1"/>
            <p:nvPr/>
          </p:nvSpPr>
          <p:spPr>
            <a:xfrm>
              <a:off x="0" y="1359929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Lustria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Втрата файлу → втрата контролю над інфраструктурою</a:t>
              </a:r>
              <a:endParaRPr b="0" i="0" sz="2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24" name="Google Shape;524;p38"/>
            <p:cNvCxnSpPr/>
            <p:nvPr/>
          </p:nvCxnSpPr>
          <p:spPr>
            <a:xfrm>
              <a:off x="0" y="2717868"/>
              <a:ext cx="5848694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5" name="Google Shape;525;p38"/>
            <p:cNvSpPr/>
            <p:nvPr/>
          </p:nvSpPr>
          <p:spPr>
            <a:xfrm>
              <a:off x="0" y="2717868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8"/>
            <p:cNvSpPr txBox="1"/>
            <p:nvPr/>
          </p:nvSpPr>
          <p:spPr>
            <a:xfrm>
              <a:off x="0" y="2717868"/>
              <a:ext cx="5848694" cy="1357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Lustria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Безпека: чутливі дані в plain text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РІШЕННЯ: ВІДДАЛЕНИЙ БЕКЕНД (BACKEND)</a:t>
            </a:r>
            <a:endParaRPr/>
          </a:p>
        </p:txBody>
      </p:sp>
      <p:grpSp>
        <p:nvGrpSpPr>
          <p:cNvPr id="532" name="Google Shape;532;p39"/>
          <p:cNvGrpSpPr/>
          <p:nvPr/>
        </p:nvGrpSpPr>
        <p:grpSpPr>
          <a:xfrm>
            <a:off x="700635" y="2223678"/>
            <a:ext cx="10691265" cy="3736523"/>
            <a:chOff x="0" y="1686"/>
            <a:chExt cx="10691265" cy="3736523"/>
          </a:xfrm>
        </p:grpSpPr>
        <p:sp>
          <p:nvSpPr>
            <p:cNvPr id="533" name="Google Shape;533;p39"/>
            <p:cNvSpPr/>
            <p:nvPr/>
          </p:nvSpPr>
          <p:spPr>
            <a:xfrm>
              <a:off x="0" y="2257225"/>
              <a:ext cx="10691265" cy="1480984"/>
            </a:xfrm>
            <a:prstGeom prst="rect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9"/>
            <p:cNvSpPr txBox="1"/>
            <p:nvPr/>
          </p:nvSpPr>
          <p:spPr>
            <a:xfrm>
              <a:off x="0" y="2257225"/>
              <a:ext cx="10691265" cy="14809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9125" lIns="199125" spcFirstLastPara="1" rIns="199125" wrap="square" tIns="199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Lustria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Забезпечує: спільний доступ, блокування (locking), безпеку</a:t>
              </a:r>
              <a:endParaRPr b="0" i="0" sz="2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35" name="Google Shape;535;p39"/>
            <p:cNvSpPr/>
            <p:nvPr/>
          </p:nvSpPr>
          <p:spPr>
            <a:xfrm rot="10800000">
              <a:off x="0" y="1686"/>
              <a:ext cx="10691265" cy="2277753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9"/>
            <p:cNvSpPr txBox="1"/>
            <p:nvPr/>
          </p:nvSpPr>
          <p:spPr>
            <a:xfrm>
              <a:off x="0" y="1686"/>
              <a:ext cx="10691265" cy="799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9125" lIns="199125" spcFirstLastPara="1" rIns="199125" wrap="square" tIns="199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Lustria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Зберігання стану у віддаленому сховищі:</a:t>
              </a:r>
              <a:endParaRPr b="0" i="0" sz="2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5220" y="801177"/>
              <a:ext cx="3560274" cy="681048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9"/>
            <p:cNvSpPr txBox="1"/>
            <p:nvPr/>
          </p:nvSpPr>
          <p:spPr>
            <a:xfrm>
              <a:off x="5220" y="801177"/>
              <a:ext cx="3560274" cy="681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163575" spcFirstLastPara="1" rIns="163575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Lustria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AWS S3 (з DynamoDB для блокування)</a:t>
              </a:r>
              <a:endParaRPr b="0" i="0" sz="2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3565495" y="801177"/>
              <a:ext cx="3560274" cy="681048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9"/>
            <p:cNvSpPr txBox="1"/>
            <p:nvPr/>
          </p:nvSpPr>
          <p:spPr>
            <a:xfrm>
              <a:off x="3565495" y="801177"/>
              <a:ext cx="3560274" cy="681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163575" spcFirstLastPara="1" rIns="163575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Lustria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Azure Storage</a:t>
              </a: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7125769" y="801177"/>
              <a:ext cx="3560274" cy="681048"/>
            </a:xfrm>
            <a:prstGeom prst="rect">
              <a:avLst/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9"/>
            <p:cNvSpPr txBox="1"/>
            <p:nvPr/>
          </p:nvSpPr>
          <p:spPr>
            <a:xfrm>
              <a:off x="7125769" y="801177"/>
              <a:ext cx="3560274" cy="681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00" lIns="163575" spcFirstLastPara="1" rIns="163575" wrap="square" tIns="2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Lustria"/>
                <a:buNone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Cloud / Enterprise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p40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40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9" name="Google Shape;549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50" name="Google Shape;550;p40"/>
          <p:cNvSpPr txBox="1"/>
          <p:nvPr>
            <p:ph type="title"/>
          </p:nvPr>
        </p:nvSpPr>
        <p:spPr>
          <a:xfrm>
            <a:off x="8399165" y="1361440"/>
            <a:ext cx="3638760" cy="2694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pen Sans"/>
              <a:buNone/>
            </a:pPr>
            <a:r>
              <a:rPr b="1" lang="en-US" sz="3700"/>
              <a:t>ПРИКЛАД КОНФІГУРАЦІЇ БЕКЕНДУ (AWS S3)</a:t>
            </a:r>
            <a:endParaRPr sz="3700"/>
          </a:p>
        </p:txBody>
      </p:sp>
      <p:pic>
        <p:nvPicPr>
          <p:cNvPr descr="Зображення, що містить текст, знімок екрана, програмне забезпечення, монітор&#10;&#10;Вміст на основі ШІ може бути неправильним." id="551" name="Google Shape;551;p40"/>
          <p:cNvPicPr preferRelativeResize="0"/>
          <p:nvPr/>
        </p:nvPicPr>
        <p:blipFill rotWithShape="1">
          <a:blip r:embed="rId3">
            <a:alphaModFix/>
          </a:blip>
          <a:srcRect b="20165" l="0" r="2" t="3662"/>
          <a:stretch/>
        </p:blipFill>
        <p:spPr>
          <a:xfrm>
            <a:off x="497261" y="2339443"/>
            <a:ext cx="7478918" cy="2179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40"/>
          <p:cNvCxnSpPr/>
          <p:nvPr/>
        </p:nvCxnSpPr>
        <p:spPr>
          <a:xfrm rot="10800000">
            <a:off x="8182959" y="662940"/>
            <a:ext cx="0" cy="553212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58" name="Google Shape;558;p41"/>
          <p:cNvSpPr txBox="1"/>
          <p:nvPr>
            <p:ph type="title"/>
          </p:nvPr>
        </p:nvSpPr>
        <p:spPr>
          <a:xfrm>
            <a:off x="715383" y="818388"/>
            <a:ext cx="413921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1" lang="en-US" sz="3300"/>
              <a:t>BEST PRACTICES: РОБОТА ЗІ СТАНОМ</a:t>
            </a:r>
            <a:endParaRPr sz="3300"/>
          </a:p>
        </p:txBody>
      </p:sp>
      <p:cxnSp>
        <p:nvCxnSpPr>
          <p:cNvPr id="559" name="Google Shape;559;p41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loud Security Images – Browse 1,433,554 Stock Photos, Vectors, and Video |  Adobe Stock" id="560" name="Google Shape;560;p41"/>
          <p:cNvPicPr preferRelativeResize="0"/>
          <p:nvPr/>
        </p:nvPicPr>
        <p:blipFill rotWithShape="1">
          <a:blip r:embed="rId3">
            <a:alphaModFix/>
          </a:blip>
          <a:srcRect b="-1" l="10608" r="14190" t="0"/>
          <a:stretch/>
        </p:blipFill>
        <p:spPr>
          <a:xfrm>
            <a:off x="4981575" y="735286"/>
            <a:ext cx="6495042" cy="5419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1" name="Google Shape;561;p41"/>
          <p:cNvGrpSpPr/>
          <p:nvPr/>
        </p:nvGrpSpPr>
        <p:grpSpPr>
          <a:xfrm>
            <a:off x="715383" y="2160027"/>
            <a:ext cx="3788468" cy="3994412"/>
            <a:chOff x="0" y="487"/>
            <a:chExt cx="3788468" cy="3994412"/>
          </a:xfrm>
        </p:grpSpPr>
        <p:cxnSp>
          <p:nvCxnSpPr>
            <p:cNvPr id="562" name="Google Shape;562;p41"/>
            <p:cNvCxnSpPr/>
            <p:nvPr/>
          </p:nvCxnSpPr>
          <p:spPr>
            <a:xfrm>
              <a:off x="0" y="487"/>
              <a:ext cx="3788468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63" name="Google Shape;563;p41"/>
            <p:cNvSpPr/>
            <p:nvPr/>
          </p:nvSpPr>
          <p:spPr>
            <a:xfrm>
              <a:off x="0" y="487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1"/>
            <p:cNvSpPr txBox="1"/>
            <p:nvPr/>
          </p:nvSpPr>
          <p:spPr>
            <a:xfrm>
              <a:off x="0" y="487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Ніколи не редагувати файл стану вручну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65" name="Google Shape;565;p41"/>
            <p:cNvCxnSpPr/>
            <p:nvPr/>
          </p:nvCxnSpPr>
          <p:spPr>
            <a:xfrm>
              <a:off x="0" y="799370"/>
              <a:ext cx="3788468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66" name="Google Shape;566;p41"/>
            <p:cNvSpPr/>
            <p:nvPr/>
          </p:nvSpPr>
          <p:spPr>
            <a:xfrm>
              <a:off x="0" y="799370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1"/>
            <p:cNvSpPr txBox="1"/>
            <p:nvPr/>
          </p:nvSpPr>
          <p:spPr>
            <a:xfrm>
              <a:off x="0" y="799370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Використовувати віддалений бекенд для команд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68" name="Google Shape;568;p41"/>
            <p:cNvCxnSpPr/>
            <p:nvPr/>
          </p:nvCxnSpPr>
          <p:spPr>
            <a:xfrm>
              <a:off x="0" y="1598252"/>
              <a:ext cx="3788468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69" name="Google Shape;569;p41"/>
            <p:cNvSpPr/>
            <p:nvPr/>
          </p:nvSpPr>
          <p:spPr>
            <a:xfrm>
              <a:off x="0" y="1598252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1"/>
            <p:cNvSpPr txBox="1"/>
            <p:nvPr/>
          </p:nvSpPr>
          <p:spPr>
            <a:xfrm>
              <a:off x="0" y="1598252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Шифрувати state (S3 SSE, KMS)</a:t>
              </a:r>
              <a:endParaRPr/>
            </a:p>
          </p:txBody>
        </p:sp>
        <p:cxnSp>
          <p:nvCxnSpPr>
            <p:cNvPr id="571" name="Google Shape;571;p41"/>
            <p:cNvCxnSpPr/>
            <p:nvPr/>
          </p:nvCxnSpPr>
          <p:spPr>
            <a:xfrm>
              <a:off x="0" y="2397135"/>
              <a:ext cx="3788468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72" name="Google Shape;572;p41"/>
            <p:cNvSpPr/>
            <p:nvPr/>
          </p:nvSpPr>
          <p:spPr>
            <a:xfrm>
              <a:off x="0" y="2397135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1"/>
            <p:cNvSpPr txBox="1"/>
            <p:nvPr/>
          </p:nvSpPr>
          <p:spPr>
            <a:xfrm>
              <a:off x="0" y="2397135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Використовувати Git тільки для конфігурації, не для state</a:t>
              </a:r>
              <a:endParaRPr/>
            </a:p>
          </p:txBody>
        </p:sp>
        <p:cxnSp>
          <p:nvCxnSpPr>
            <p:cNvPr id="574" name="Google Shape;574;p41"/>
            <p:cNvCxnSpPr/>
            <p:nvPr/>
          </p:nvCxnSpPr>
          <p:spPr>
            <a:xfrm>
              <a:off x="0" y="3196017"/>
              <a:ext cx="3788468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75" name="Google Shape;575;p41"/>
            <p:cNvSpPr/>
            <p:nvPr/>
          </p:nvSpPr>
          <p:spPr>
            <a:xfrm>
              <a:off x="0" y="3196017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1"/>
            <p:cNvSpPr txBox="1"/>
            <p:nvPr/>
          </p:nvSpPr>
          <p:spPr>
            <a:xfrm>
              <a:off x="0" y="3196017"/>
              <a:ext cx="3788468" cy="798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Розділяти state на різні середовища (dev, prod)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82" name="Google Shape;582;p42"/>
          <p:cNvSpPr txBox="1"/>
          <p:nvPr>
            <p:ph type="title"/>
          </p:nvPr>
        </p:nvSpPr>
        <p:spPr>
          <a:xfrm>
            <a:off x="704089" y="914400"/>
            <a:ext cx="345384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None/>
            </a:pPr>
            <a:r>
              <a:rPr b="1" lang="en-US" sz="3100"/>
              <a:t> DATA SOURCES – ОТРИМАННЯ ІНФОРМАЦІЇ</a:t>
            </a:r>
            <a:endParaRPr sz="3100"/>
          </a:p>
        </p:txBody>
      </p:sp>
      <p:cxnSp>
        <p:nvCxnSpPr>
          <p:cNvPr id="583" name="Google Shape;583;p42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42"/>
          <p:cNvCxnSpPr/>
          <p:nvPr/>
        </p:nvCxnSpPr>
        <p:spPr>
          <a:xfrm>
            <a:off x="809065" y="2497143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 id="585" name="Google Shape;585;p42"/>
          <p:cNvPicPr preferRelativeResize="0"/>
          <p:nvPr/>
        </p:nvPicPr>
        <p:blipFill rotWithShape="1">
          <a:blip r:embed="rId3">
            <a:alphaModFix/>
          </a:blip>
          <a:srcRect b="0" l="0" r="0" t="3649"/>
          <a:stretch/>
        </p:blipFill>
        <p:spPr>
          <a:xfrm>
            <a:off x="20" y="2863970"/>
            <a:ext cx="12191980" cy="3994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6" name="Google Shape;586;p42"/>
          <p:cNvGrpSpPr/>
          <p:nvPr/>
        </p:nvGrpSpPr>
        <p:grpSpPr>
          <a:xfrm>
            <a:off x="4862022" y="1014984"/>
            <a:ext cx="6614592" cy="1362454"/>
            <a:chOff x="0" y="0"/>
            <a:chExt cx="6614592" cy="1362454"/>
          </a:xfrm>
        </p:grpSpPr>
        <p:cxnSp>
          <p:nvCxnSpPr>
            <p:cNvPr id="587" name="Google Shape;587;p42"/>
            <p:cNvCxnSpPr/>
            <p:nvPr/>
          </p:nvCxnSpPr>
          <p:spPr>
            <a:xfrm>
              <a:off x="0" y="0"/>
              <a:ext cx="6614592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88" name="Google Shape;588;p42"/>
            <p:cNvSpPr/>
            <p:nvPr/>
          </p:nvSpPr>
          <p:spPr>
            <a:xfrm>
              <a:off x="0" y="0"/>
              <a:ext cx="6614592" cy="681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2"/>
            <p:cNvSpPr txBox="1"/>
            <p:nvPr/>
          </p:nvSpPr>
          <p:spPr>
            <a:xfrm>
              <a:off x="0" y="0"/>
              <a:ext cx="6614592" cy="681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Data sources дозволяють отримувати дані з існуючих ресурсів (не керованих Terraform)</a:t>
              </a:r>
              <a:endParaRPr/>
            </a:p>
          </p:txBody>
        </p:sp>
        <p:cxnSp>
          <p:nvCxnSpPr>
            <p:cNvPr id="590" name="Google Shape;590;p42"/>
            <p:cNvCxnSpPr/>
            <p:nvPr/>
          </p:nvCxnSpPr>
          <p:spPr>
            <a:xfrm>
              <a:off x="0" y="681227"/>
              <a:ext cx="6614592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591" name="Google Shape;591;p42"/>
            <p:cNvSpPr/>
            <p:nvPr/>
          </p:nvSpPr>
          <p:spPr>
            <a:xfrm>
              <a:off x="0" y="681227"/>
              <a:ext cx="6614592" cy="681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2"/>
            <p:cNvSpPr txBox="1"/>
            <p:nvPr/>
          </p:nvSpPr>
          <p:spPr>
            <a:xfrm>
              <a:off x="0" y="681227"/>
              <a:ext cx="6614592" cy="681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Приклад: отримати останній AMI для Ubuntu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98" name="Google Shape;598;p43"/>
          <p:cNvSpPr txBox="1"/>
          <p:nvPr>
            <p:ph type="title"/>
          </p:nvPr>
        </p:nvSpPr>
        <p:spPr>
          <a:xfrm>
            <a:off x="704088" y="914400"/>
            <a:ext cx="4068879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1" lang="en-US" sz="3300"/>
              <a:t>ЦИКЛ FOR_EACH ТА COUNT – МАСШТАБУВАННЯ</a:t>
            </a:r>
            <a:endParaRPr sz="3300"/>
          </a:p>
        </p:txBody>
      </p:sp>
      <p:cxnSp>
        <p:nvCxnSpPr>
          <p:cNvPr id="599" name="Google Shape;599;p43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Зображення, що містить текст, знімок екрана, програмне забезпечення, Шрифт&#10;&#10;Вміст на основі ШІ може бути неправильним." id="600" name="Google Shape;600;p43"/>
          <p:cNvPicPr preferRelativeResize="0"/>
          <p:nvPr/>
        </p:nvPicPr>
        <p:blipFill rotWithShape="1">
          <a:blip r:embed="rId3">
            <a:alphaModFix/>
          </a:blip>
          <a:srcRect b="-1" l="1914" r="16755" t="0"/>
          <a:stretch/>
        </p:blipFill>
        <p:spPr>
          <a:xfrm>
            <a:off x="5159600" y="735285"/>
            <a:ext cx="6495042" cy="5419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1" name="Google Shape;601;p43"/>
          <p:cNvGrpSpPr/>
          <p:nvPr/>
        </p:nvGrpSpPr>
        <p:grpSpPr>
          <a:xfrm>
            <a:off x="704088" y="3175278"/>
            <a:ext cx="3918154" cy="2979648"/>
            <a:chOff x="0" y="0"/>
            <a:chExt cx="3918154" cy="2979648"/>
          </a:xfrm>
        </p:grpSpPr>
        <p:cxnSp>
          <p:nvCxnSpPr>
            <p:cNvPr id="602" name="Google Shape;602;p43"/>
            <p:cNvCxnSpPr/>
            <p:nvPr/>
          </p:nvCxnSpPr>
          <p:spPr>
            <a:xfrm>
              <a:off x="0" y="0"/>
              <a:ext cx="3918154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03" name="Google Shape;603;p43"/>
            <p:cNvSpPr/>
            <p:nvPr/>
          </p:nvSpPr>
          <p:spPr>
            <a:xfrm>
              <a:off x="0" y="0"/>
              <a:ext cx="3918154" cy="1489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3"/>
            <p:cNvSpPr txBox="1"/>
            <p:nvPr/>
          </p:nvSpPr>
          <p:spPr>
            <a:xfrm>
              <a:off x="0" y="0"/>
              <a:ext cx="3918154" cy="1489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Lustria"/>
                <a:buNone/>
              </a:pPr>
              <a:r>
                <a:rPr b="1" i="0" lang="en-US" sz="3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count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 – створити кілька копій ресурсу (список)</a:t>
              </a:r>
              <a:endParaRPr b="0" i="0" sz="3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605" name="Google Shape;605;p43"/>
            <p:cNvCxnSpPr/>
            <p:nvPr/>
          </p:nvCxnSpPr>
          <p:spPr>
            <a:xfrm>
              <a:off x="0" y="1489824"/>
              <a:ext cx="3918154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06" name="Google Shape;606;p43"/>
            <p:cNvSpPr/>
            <p:nvPr/>
          </p:nvSpPr>
          <p:spPr>
            <a:xfrm>
              <a:off x="0" y="1489824"/>
              <a:ext cx="3918154" cy="1489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3"/>
            <p:cNvSpPr txBox="1"/>
            <p:nvPr/>
          </p:nvSpPr>
          <p:spPr>
            <a:xfrm>
              <a:off x="0" y="1489824"/>
              <a:ext cx="3918154" cy="1489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Lustria"/>
                <a:buNone/>
              </a:pPr>
              <a:r>
                <a:rPr b="1" i="0" lang="en-US" sz="3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for_each 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– створити ресурси на основі map (більш гнучкий)</a:t>
              </a:r>
              <a:endParaRPr b="0" i="0" sz="3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13" name="Google Shape;613;p44"/>
          <p:cNvSpPr txBox="1"/>
          <p:nvPr>
            <p:ph type="title"/>
          </p:nvPr>
        </p:nvSpPr>
        <p:spPr>
          <a:xfrm>
            <a:off x="704088" y="914400"/>
            <a:ext cx="10780776" cy="11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pen Sans"/>
              <a:buNone/>
            </a:pPr>
            <a:r>
              <a:rPr b="1" lang="en-US" sz="3700"/>
              <a:t>ПРИКЛАД: СТВОРЕННЯ VPC З ПІДМЕРЕЖАМИ (КОМБІНАЦІЯ РЕСУРСІВ)</a:t>
            </a:r>
            <a:endParaRPr sz="3700"/>
          </a:p>
        </p:txBody>
      </p:sp>
      <p:cxnSp>
        <p:nvCxnSpPr>
          <p:cNvPr id="614" name="Google Shape;614;p44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15" name="Google Shape;615;p44"/>
          <p:cNvGrpSpPr/>
          <p:nvPr/>
        </p:nvGrpSpPr>
        <p:grpSpPr>
          <a:xfrm>
            <a:off x="7410927" y="2354601"/>
            <a:ext cx="4280342" cy="3743324"/>
            <a:chOff x="0" y="0"/>
            <a:chExt cx="4280342" cy="3743324"/>
          </a:xfrm>
        </p:grpSpPr>
        <p:cxnSp>
          <p:nvCxnSpPr>
            <p:cNvPr id="616" name="Google Shape;616;p44"/>
            <p:cNvCxnSpPr/>
            <p:nvPr/>
          </p:nvCxnSpPr>
          <p:spPr>
            <a:xfrm>
              <a:off x="0" y="0"/>
              <a:ext cx="4280342" cy="0"/>
            </a:xfrm>
            <a:prstGeom prst="straightConnector1">
              <a:avLst/>
            </a:prstGeom>
            <a:gradFill>
              <a:gsLst>
                <a:gs pos="0">
                  <a:srgbClr val="C8A5BA"/>
                </a:gs>
                <a:gs pos="50000">
                  <a:srgbClr val="C497B1"/>
                </a:gs>
                <a:gs pos="100000">
                  <a:srgbClr val="AF829C"/>
                </a:gs>
              </a:gsLst>
              <a:lin ang="5400000" scaled="0"/>
            </a:gradFill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17" name="Google Shape;617;p44"/>
            <p:cNvSpPr/>
            <p:nvPr/>
          </p:nvSpPr>
          <p:spPr>
            <a:xfrm>
              <a:off x="0" y="0"/>
              <a:ext cx="4280342" cy="1871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4"/>
            <p:cNvSpPr txBox="1"/>
            <p:nvPr/>
          </p:nvSpPr>
          <p:spPr>
            <a:xfrm>
              <a:off x="0" y="0"/>
              <a:ext cx="4280342" cy="1871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stri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Ресурси: aws_vpc, aws_subnet, aws_internet_gateway, aws_route_table, aws_security_group</a:t>
              </a:r>
              <a:endParaRPr b="0" i="0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619" name="Google Shape;619;p44"/>
            <p:cNvCxnSpPr/>
            <p:nvPr/>
          </p:nvCxnSpPr>
          <p:spPr>
            <a:xfrm>
              <a:off x="0" y="1871662"/>
              <a:ext cx="4280342" cy="0"/>
            </a:xfrm>
            <a:prstGeom prst="straightConnector1">
              <a:avLst/>
            </a:prstGeom>
            <a:gradFill>
              <a:gsLst>
                <a:gs pos="0">
                  <a:srgbClr val="C8A5BA"/>
                </a:gs>
                <a:gs pos="50000">
                  <a:srgbClr val="C497B1"/>
                </a:gs>
                <a:gs pos="100000">
                  <a:srgbClr val="AF829C"/>
                </a:gs>
              </a:gsLst>
              <a:lin ang="5400000" scaled="0"/>
            </a:gradFill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20" name="Google Shape;620;p44"/>
            <p:cNvSpPr/>
            <p:nvPr/>
          </p:nvSpPr>
          <p:spPr>
            <a:xfrm>
              <a:off x="0" y="1871662"/>
              <a:ext cx="4280342" cy="1871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4"/>
            <p:cNvSpPr txBox="1"/>
            <p:nvPr/>
          </p:nvSpPr>
          <p:spPr>
            <a:xfrm>
              <a:off x="0" y="1871662"/>
              <a:ext cx="4280342" cy="1871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stri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автоматично обчислює залежності</a:t>
              </a:r>
              <a:endParaRPr b="0" i="0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How to Build a VPC in AWS. An easy way to getting started with AWS… | by  Sadha Moodley | AWS in Plain English" id="622" name="Google Shape;62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2332861"/>
            <a:ext cx="6105525" cy="37433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28" name="Google Shape;628;p45"/>
          <p:cNvSpPr txBox="1"/>
          <p:nvPr>
            <p:ph type="title"/>
          </p:nvPr>
        </p:nvSpPr>
        <p:spPr>
          <a:xfrm>
            <a:off x="704089" y="914400"/>
            <a:ext cx="345384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b="1" lang="en-US" sz="2500"/>
              <a:t>ПРИКЛАД: НАЛАШТУВАННЯ KUBERNETES КЛАСТЕРА В AWS (EKS)</a:t>
            </a:r>
            <a:endParaRPr sz="2500"/>
          </a:p>
        </p:txBody>
      </p:sp>
      <p:cxnSp>
        <p:nvCxnSpPr>
          <p:cNvPr id="629" name="Google Shape;629;p45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45"/>
          <p:cNvCxnSpPr/>
          <p:nvPr/>
        </p:nvCxnSpPr>
        <p:spPr>
          <a:xfrm>
            <a:off x="809065" y="2497143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Build EKS cluster with Terraform. A simple infrastructure-as-code way… | by  Nico Singh | ITNEXT" id="631" name="Google Shape;631;p45"/>
          <p:cNvPicPr preferRelativeResize="0"/>
          <p:nvPr/>
        </p:nvPicPr>
        <p:blipFill rotWithShape="1">
          <a:blip r:embed="rId3">
            <a:alphaModFix/>
          </a:blip>
          <a:srcRect b="14548" l="0" r="0" t="23053"/>
          <a:stretch/>
        </p:blipFill>
        <p:spPr>
          <a:xfrm>
            <a:off x="20" y="2863970"/>
            <a:ext cx="12191980" cy="3994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2" name="Google Shape;632;p45"/>
          <p:cNvGrpSpPr/>
          <p:nvPr/>
        </p:nvGrpSpPr>
        <p:grpSpPr>
          <a:xfrm>
            <a:off x="4481565" y="844411"/>
            <a:ext cx="7576457" cy="1651921"/>
            <a:chOff x="0" y="807"/>
            <a:chExt cx="7576457" cy="1651921"/>
          </a:xfrm>
        </p:grpSpPr>
        <p:cxnSp>
          <p:nvCxnSpPr>
            <p:cNvPr id="633" name="Google Shape;633;p45"/>
            <p:cNvCxnSpPr/>
            <p:nvPr/>
          </p:nvCxnSpPr>
          <p:spPr>
            <a:xfrm>
              <a:off x="0" y="807"/>
              <a:ext cx="7576457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34" name="Google Shape;634;p45"/>
            <p:cNvSpPr/>
            <p:nvPr/>
          </p:nvSpPr>
          <p:spPr>
            <a:xfrm>
              <a:off x="0" y="807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5"/>
            <p:cNvSpPr txBox="1"/>
            <p:nvPr/>
          </p:nvSpPr>
          <p:spPr>
            <a:xfrm>
              <a:off x="0" y="807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Використання модуля Terraform для EKS</a:t>
              </a:r>
              <a:endParaRPr/>
            </a:p>
          </p:txBody>
        </p:sp>
        <p:cxnSp>
          <p:nvCxnSpPr>
            <p:cNvPr id="636" name="Google Shape;636;p45"/>
            <p:cNvCxnSpPr/>
            <p:nvPr/>
          </p:nvCxnSpPr>
          <p:spPr>
            <a:xfrm>
              <a:off x="0" y="551447"/>
              <a:ext cx="7576457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37" name="Google Shape;637;p45"/>
            <p:cNvSpPr/>
            <p:nvPr/>
          </p:nvSpPr>
          <p:spPr>
            <a:xfrm>
              <a:off x="0" y="551447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5"/>
            <p:cNvSpPr txBox="1"/>
            <p:nvPr/>
          </p:nvSpPr>
          <p:spPr>
            <a:xfrm>
              <a:off x="0" y="551447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Одночасно створюються: VPC, IAM roles, EKS cluster, worker nodes</a:t>
              </a:r>
              <a:endParaRPr/>
            </a:p>
          </p:txBody>
        </p:sp>
        <p:cxnSp>
          <p:nvCxnSpPr>
            <p:cNvPr id="639" name="Google Shape;639;p45"/>
            <p:cNvCxnSpPr/>
            <p:nvPr/>
          </p:nvCxnSpPr>
          <p:spPr>
            <a:xfrm>
              <a:off x="0" y="1102088"/>
              <a:ext cx="7576457" cy="0"/>
            </a:xfrm>
            <a:prstGeom prst="straightConnector1">
              <a:avLst/>
            </a:prstGeom>
            <a:gradFill>
              <a:gsLst>
                <a:gs pos="0">
                  <a:srgbClr val="6D788E"/>
                </a:gs>
                <a:gs pos="50000">
                  <a:srgbClr val="556683"/>
                </a:gs>
                <a:gs pos="100000">
                  <a:srgbClr val="4B5874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40" name="Google Shape;640;p45"/>
            <p:cNvSpPr/>
            <p:nvPr/>
          </p:nvSpPr>
          <p:spPr>
            <a:xfrm>
              <a:off x="0" y="1102088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5"/>
            <p:cNvSpPr txBox="1"/>
            <p:nvPr/>
          </p:nvSpPr>
          <p:spPr>
            <a:xfrm>
              <a:off x="0" y="1102088"/>
              <a:ext cx="7576457" cy="55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ustri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Використовується kubernetes провайдер для розгортання додатків після створення кластера</a:t>
              </a:r>
              <a:endPara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p4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46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649" name="Google Shape;649;p46"/>
          <p:cNvCxnSpPr/>
          <p:nvPr/>
        </p:nvCxnSpPr>
        <p:spPr>
          <a:xfrm>
            <a:off x="800100" y="723900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Build EKS cluster with Terraform. A simple infrastructure-as-code way… | by  Nico Singh | ITNEXT" id="650" name="Google Shape;650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420" l="0" r="1" t="11924"/>
          <a:stretch/>
        </p:blipFill>
        <p:spPr>
          <a:xfrm>
            <a:off x="-278331" y="914400"/>
            <a:ext cx="13208716" cy="587053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651" name="Google Shape;651;p46"/>
          <p:cNvCxnSpPr/>
          <p:nvPr/>
        </p:nvCxnSpPr>
        <p:spPr>
          <a:xfrm>
            <a:off x="800100" y="6134100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57" name="Google Shape;657;p47"/>
          <p:cNvSpPr txBox="1"/>
          <p:nvPr>
            <p:ph type="title"/>
          </p:nvPr>
        </p:nvSpPr>
        <p:spPr>
          <a:xfrm>
            <a:off x="704088" y="914400"/>
            <a:ext cx="3660776" cy="440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None/>
            </a:pPr>
            <a:r>
              <a:rPr b="1" lang="en-US" sz="3100"/>
              <a:t>TERRAFORM ТА CI/CD (GITOPS ДЛЯ ІНФРАСТРУКТУРИ)</a:t>
            </a:r>
            <a:endParaRPr sz="3100"/>
          </a:p>
        </p:txBody>
      </p:sp>
      <p:cxnSp>
        <p:nvCxnSpPr>
          <p:cNvPr id="658" name="Google Shape;658;p47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47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60" name="Google Shape;660;p47"/>
          <p:cNvGrpSpPr/>
          <p:nvPr/>
        </p:nvGrpSpPr>
        <p:grpSpPr>
          <a:xfrm>
            <a:off x="4906136" y="1212716"/>
            <a:ext cx="6581776" cy="4724398"/>
            <a:chOff x="0" y="0"/>
            <a:chExt cx="6581776" cy="4724398"/>
          </a:xfrm>
        </p:grpSpPr>
        <p:cxnSp>
          <p:nvCxnSpPr>
            <p:cNvPr id="661" name="Google Shape;661;p47"/>
            <p:cNvCxnSpPr/>
            <p:nvPr/>
          </p:nvCxnSpPr>
          <p:spPr>
            <a:xfrm>
              <a:off x="0" y="0"/>
              <a:ext cx="658177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62" name="Google Shape;662;p47"/>
            <p:cNvSpPr/>
            <p:nvPr/>
          </p:nvSpPr>
          <p:spPr>
            <a:xfrm>
              <a:off x="0" y="0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7"/>
            <p:cNvSpPr txBox="1"/>
            <p:nvPr/>
          </p:nvSpPr>
          <p:spPr>
            <a:xfrm>
              <a:off x="0" y="0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Зберігаємо конфігурацію в Git</a:t>
              </a:r>
              <a:endParaRPr/>
            </a:p>
          </p:txBody>
        </p:sp>
        <p:cxnSp>
          <p:nvCxnSpPr>
            <p:cNvPr id="664" name="Google Shape;664;p47"/>
            <p:cNvCxnSpPr/>
            <p:nvPr/>
          </p:nvCxnSpPr>
          <p:spPr>
            <a:xfrm>
              <a:off x="0" y="1181100"/>
              <a:ext cx="658177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65" name="Google Shape;665;p47"/>
            <p:cNvSpPr/>
            <p:nvPr/>
          </p:nvSpPr>
          <p:spPr>
            <a:xfrm>
              <a:off x="0" y="11810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7"/>
            <p:cNvSpPr txBox="1"/>
            <p:nvPr/>
          </p:nvSpPr>
          <p:spPr>
            <a:xfrm>
              <a:off x="0" y="11810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CI/CD пайплайн (GitHub Actions, GitLab CI) запускає terraform plan на PR</a:t>
              </a:r>
              <a:endParaRPr/>
            </a:p>
          </p:txBody>
        </p:sp>
        <p:cxnSp>
          <p:nvCxnSpPr>
            <p:cNvPr id="667" name="Google Shape;667;p47"/>
            <p:cNvCxnSpPr/>
            <p:nvPr/>
          </p:nvCxnSpPr>
          <p:spPr>
            <a:xfrm>
              <a:off x="0" y="2362200"/>
              <a:ext cx="658177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68" name="Google Shape;668;p47"/>
            <p:cNvSpPr/>
            <p:nvPr/>
          </p:nvSpPr>
          <p:spPr>
            <a:xfrm>
              <a:off x="0" y="23621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7"/>
            <p:cNvSpPr txBox="1"/>
            <p:nvPr/>
          </p:nvSpPr>
          <p:spPr>
            <a:xfrm>
              <a:off x="0" y="23621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Після злиття – terraform apply автоматично</a:t>
              </a:r>
              <a:endParaRPr b="0" i="0" sz="2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670" name="Google Shape;670;p47"/>
            <p:cNvCxnSpPr/>
            <p:nvPr/>
          </p:nvCxnSpPr>
          <p:spPr>
            <a:xfrm>
              <a:off x="0" y="3543299"/>
              <a:ext cx="6581776" cy="0"/>
            </a:xfrm>
            <a:prstGeom prst="straightConnector1">
              <a:avLst/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671" name="Google Shape;671;p47"/>
            <p:cNvSpPr/>
            <p:nvPr/>
          </p:nvSpPr>
          <p:spPr>
            <a:xfrm>
              <a:off x="0" y="35432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7"/>
            <p:cNvSpPr txBox="1"/>
            <p:nvPr/>
          </p:nvSpPr>
          <p:spPr>
            <a:xfrm>
              <a:off x="0" y="3543299"/>
              <a:ext cx="6581776" cy="118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Lustria"/>
                <a:buNone/>
              </a:pPr>
              <a:r>
                <a:rPr b="0" i="0" lang="en-US" sz="2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Приклад: Atlantis, Terraform Cloud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78" name="Google Shape;678;p48"/>
          <p:cNvSpPr txBox="1"/>
          <p:nvPr>
            <p:ph type="title"/>
          </p:nvPr>
        </p:nvSpPr>
        <p:spPr>
          <a:xfrm>
            <a:off x="704088" y="914400"/>
            <a:ext cx="3660776" cy="440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None/>
            </a:pPr>
            <a:r>
              <a:rPr b="1" lang="en-US" sz="3400"/>
              <a:t>ПОРІВНЯННЯ TERRAFORM З ІНШИМИ ІНСТРУМЕНТАМИ</a:t>
            </a:r>
            <a:endParaRPr sz="3400"/>
          </a:p>
        </p:txBody>
      </p:sp>
      <p:cxnSp>
        <p:nvCxnSpPr>
          <p:cNvPr id="679" name="Google Shape;679;p48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0" name="Google Shape;680;p48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81" name="Google Shape;681;p48"/>
          <p:cNvGraphicFramePr/>
          <p:nvPr/>
        </p:nvGraphicFramePr>
        <p:xfrm>
          <a:off x="5096906" y="1066801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  <a:tableStyleId>{4DAE290C-3DA2-45E9-825C-7475DCF8FD03}</a:tableStyleId>
              </a:tblPr>
              <a:tblGrid>
                <a:gridCol w="1917275"/>
                <a:gridCol w="1963800"/>
                <a:gridCol w="2260475"/>
              </a:tblGrid>
              <a:tr h="61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ІНСТРУМЕНТ</a:t>
                      </a:r>
                      <a:endParaRPr/>
                    </a:p>
                  </a:txBody>
                  <a:tcPr marT="161850" marB="161850" marR="161850" marL="161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ПІДХІД</a:t>
                      </a:r>
                      <a:endParaRPr/>
                    </a:p>
                  </a:txBody>
                  <a:tcPr marT="161850" marB="161850" marR="161850" marL="161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ОСОБЛИВОСТІ</a:t>
                      </a:r>
                      <a:endParaRPr/>
                    </a:p>
                  </a:txBody>
                  <a:tcPr marT="161850" marB="161850" marR="161850" marL="161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Terraform</a:t>
                      </a:r>
                      <a:endParaRPr/>
                    </a:p>
                  </a:txBody>
                  <a:tcPr marT="76750" marB="107900" marR="122800" marL="9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Декларативний (HCL)</a:t>
                      </a:r>
                      <a:endParaRPr/>
                    </a:p>
                  </a:txBody>
                  <a:tcPr marT="76750" marB="107900" marR="1228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Провайдери для всіх хмар, управління станом</a:t>
                      </a:r>
                      <a:endParaRPr/>
                    </a:p>
                  </a:txBody>
                  <a:tcPr marT="76750" marB="107900" marR="921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7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AWS CloudFormation</a:t>
                      </a:r>
                      <a:endParaRPr/>
                    </a:p>
                  </a:txBody>
                  <a:tcPr marT="76750" marB="107900" marR="122800" marL="9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Декларативний (YAML/JSON)</a:t>
                      </a:r>
                      <a:endParaRPr/>
                    </a:p>
                  </a:txBody>
                  <a:tcPr marT="76750" marB="107900" marR="1228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Прив'язка до AWS, менш гнучкий</a:t>
                      </a:r>
                      <a:endParaRPr/>
                    </a:p>
                  </a:txBody>
                  <a:tcPr marT="76750" marB="107900" marR="921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02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Pulumi</a:t>
                      </a:r>
                      <a:endParaRPr/>
                    </a:p>
                  </a:txBody>
                  <a:tcPr marT="76750" marB="107900" marR="122800" marL="9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Імперативний (Python, TypeScript)</a:t>
                      </a:r>
                      <a:endParaRPr/>
                    </a:p>
                  </a:txBody>
                  <a:tcPr marT="76750" marB="107900" marR="1228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Використання звичайних мов програмування</a:t>
                      </a:r>
                      <a:endParaRPr/>
                    </a:p>
                  </a:txBody>
                  <a:tcPr marT="76750" marB="107900" marR="921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2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Ansible</a:t>
                      </a:r>
                      <a:endParaRPr/>
                    </a:p>
                  </a:txBody>
                  <a:tcPr marT="76750" marB="107900" marR="122800" marL="9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Імперативний (YAML)</a:t>
                      </a:r>
                      <a:endParaRPr/>
                    </a:p>
                  </a:txBody>
                  <a:tcPr marT="76750" marB="107900" marR="1228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Більше для конфігурації, але є модулі для провізіонінгу</a:t>
                      </a:r>
                      <a:endParaRPr b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750" marB="107900" marR="92100" marL="1228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87" name="Google Shape;687;p49"/>
          <p:cNvSpPr txBox="1"/>
          <p:nvPr>
            <p:ph type="title"/>
          </p:nvPr>
        </p:nvSpPr>
        <p:spPr>
          <a:xfrm>
            <a:off x="700087" y="909638"/>
            <a:ext cx="10691813" cy="115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ВИСНОВКИ ТА ПІДСУМКИ</a:t>
            </a:r>
            <a:endParaRPr/>
          </a:p>
        </p:txBody>
      </p:sp>
      <p:cxnSp>
        <p:nvCxnSpPr>
          <p:cNvPr id="688" name="Google Shape;688;p49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9" name="Google Shape;689;p49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90" name="Google Shape;690;p49"/>
          <p:cNvGrpSpPr/>
          <p:nvPr/>
        </p:nvGrpSpPr>
        <p:grpSpPr>
          <a:xfrm>
            <a:off x="700088" y="2222500"/>
            <a:ext cx="10691811" cy="3740149"/>
            <a:chOff x="0" y="0"/>
            <a:chExt cx="10691811" cy="3740149"/>
          </a:xfrm>
        </p:grpSpPr>
        <p:sp>
          <p:nvSpPr>
            <p:cNvPr id="691" name="Google Shape;691;p49"/>
            <p:cNvSpPr/>
            <p:nvPr/>
          </p:nvSpPr>
          <p:spPr>
            <a:xfrm>
              <a:off x="0" y="0"/>
              <a:ext cx="8232695" cy="67322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9"/>
            <p:cNvSpPr txBox="1"/>
            <p:nvPr/>
          </p:nvSpPr>
          <p:spPr>
            <a:xfrm>
              <a:off x="19718" y="19718"/>
              <a:ext cx="7427463" cy="633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Декларативний опис інфраструктури (передбачуваність)</a:t>
              </a:r>
              <a:endParaRPr b="0" i="0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693" name="Google Shape;693;p49"/>
            <p:cNvSpPr/>
            <p:nvPr/>
          </p:nvSpPr>
          <p:spPr>
            <a:xfrm>
              <a:off x="614779" y="766730"/>
              <a:ext cx="8232695" cy="67322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9"/>
            <p:cNvSpPr txBox="1"/>
            <p:nvPr/>
          </p:nvSpPr>
          <p:spPr>
            <a:xfrm>
              <a:off x="634497" y="786448"/>
              <a:ext cx="7140882" cy="633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Підтримка мультихмар та гібридних середовищ</a:t>
              </a:r>
              <a:endParaRPr b="0" i="0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695" name="Google Shape;695;p49"/>
            <p:cNvSpPr/>
            <p:nvPr/>
          </p:nvSpPr>
          <p:spPr>
            <a:xfrm>
              <a:off x="1229558" y="1533461"/>
              <a:ext cx="8232695" cy="67322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9"/>
            <p:cNvSpPr txBox="1"/>
            <p:nvPr/>
          </p:nvSpPr>
          <p:spPr>
            <a:xfrm>
              <a:off x="1249276" y="1553179"/>
              <a:ext cx="7140882" cy="633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Керування станом (tracking)</a:t>
              </a:r>
              <a:endParaRPr/>
            </a:p>
          </p:txBody>
        </p:sp>
        <p:sp>
          <p:nvSpPr>
            <p:cNvPr id="697" name="Google Shape;697;p49"/>
            <p:cNvSpPr/>
            <p:nvPr/>
          </p:nvSpPr>
          <p:spPr>
            <a:xfrm>
              <a:off x="1844337" y="2300192"/>
              <a:ext cx="8232695" cy="67322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9"/>
            <p:cNvSpPr txBox="1"/>
            <p:nvPr/>
          </p:nvSpPr>
          <p:spPr>
            <a:xfrm>
              <a:off x="1864055" y="2319910"/>
              <a:ext cx="7140882" cy="633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Можливість версіонувати інфраструктуру (Git)</a:t>
              </a:r>
              <a:endParaRPr/>
            </a:p>
          </p:txBody>
        </p:sp>
        <p:sp>
          <p:nvSpPr>
            <p:cNvPr id="699" name="Google Shape;699;p49"/>
            <p:cNvSpPr/>
            <p:nvPr/>
          </p:nvSpPr>
          <p:spPr>
            <a:xfrm>
              <a:off x="2459116" y="3066922"/>
              <a:ext cx="8232695" cy="67322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9"/>
            <p:cNvSpPr txBox="1"/>
            <p:nvPr/>
          </p:nvSpPr>
          <p:spPr>
            <a:xfrm>
              <a:off x="2478834" y="3086640"/>
              <a:ext cx="7140882" cy="633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Велика екосистема модулів</a:t>
              </a:r>
              <a:endParaRPr b="0" i="0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701" name="Google Shape;701;p49"/>
            <p:cNvSpPr/>
            <p:nvPr/>
          </p:nvSpPr>
          <p:spPr>
            <a:xfrm>
              <a:off x="7795097" y="491829"/>
              <a:ext cx="437597" cy="437597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9"/>
            <p:cNvSpPr txBox="1"/>
            <p:nvPr/>
          </p:nvSpPr>
          <p:spPr>
            <a:xfrm>
              <a:off x="7893556" y="491829"/>
              <a:ext cx="240679" cy="32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703" name="Google Shape;703;p49"/>
            <p:cNvSpPr/>
            <p:nvPr/>
          </p:nvSpPr>
          <p:spPr>
            <a:xfrm>
              <a:off x="8409876" y="1258560"/>
              <a:ext cx="437597" cy="437597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9"/>
            <p:cNvSpPr txBox="1"/>
            <p:nvPr/>
          </p:nvSpPr>
          <p:spPr>
            <a:xfrm>
              <a:off x="8508335" y="1258560"/>
              <a:ext cx="240679" cy="32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9024656" y="2014070"/>
              <a:ext cx="437597" cy="437597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9"/>
            <p:cNvSpPr txBox="1"/>
            <p:nvPr/>
          </p:nvSpPr>
          <p:spPr>
            <a:xfrm>
              <a:off x="9123115" y="2014070"/>
              <a:ext cx="240679" cy="32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9639435" y="2788281"/>
              <a:ext cx="437597" cy="437597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CACC">
                <a:alpha val="90196"/>
              </a:srgbClr>
            </a:solidFill>
            <a:ln cap="flat" cmpd="sng" w="9525">
              <a:solidFill>
                <a:srgbClr val="CACA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9"/>
            <p:cNvSpPr txBox="1"/>
            <p:nvPr/>
          </p:nvSpPr>
          <p:spPr>
            <a:xfrm>
              <a:off x="9737894" y="2788281"/>
              <a:ext cx="240679" cy="32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714" name="Google Shape;714;p50"/>
          <p:cNvSpPr txBox="1"/>
          <p:nvPr>
            <p:ph type="title"/>
          </p:nvPr>
        </p:nvSpPr>
        <p:spPr>
          <a:xfrm>
            <a:off x="704088" y="914400"/>
            <a:ext cx="3799763" cy="121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1" lang="en-US" sz="3300"/>
              <a:t>РОЛЬ АДМІНІСТРАТОРА У 2026 РОЦІ</a:t>
            </a:r>
            <a:endParaRPr sz="3300"/>
          </a:p>
        </p:txBody>
      </p:sp>
      <p:cxnSp>
        <p:nvCxnSpPr>
          <p:cNvPr id="715" name="Google Shape;715;p50"/>
          <p:cNvCxnSpPr/>
          <p:nvPr/>
        </p:nvCxnSpPr>
        <p:spPr>
          <a:xfrm>
            <a:off x="804672" y="722376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Что означает end? | Англо-русский словарь Lingoland" id="716" name="Google Shape;716;p50"/>
          <p:cNvPicPr preferRelativeResize="0"/>
          <p:nvPr/>
        </p:nvPicPr>
        <p:blipFill rotWithShape="1">
          <a:blip r:embed="rId3">
            <a:alphaModFix/>
          </a:blip>
          <a:srcRect b="-1" l="9962" r="10042" t="0"/>
          <a:stretch/>
        </p:blipFill>
        <p:spPr>
          <a:xfrm>
            <a:off x="4981575" y="735286"/>
            <a:ext cx="6495042" cy="5419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50"/>
          <p:cNvGrpSpPr/>
          <p:nvPr/>
        </p:nvGrpSpPr>
        <p:grpSpPr>
          <a:xfrm>
            <a:off x="704088" y="2387600"/>
            <a:ext cx="3799763" cy="3767327"/>
            <a:chOff x="0" y="0"/>
            <a:chExt cx="3799763" cy="3767327"/>
          </a:xfrm>
        </p:grpSpPr>
        <p:cxnSp>
          <p:nvCxnSpPr>
            <p:cNvPr id="718" name="Google Shape;718;p50"/>
            <p:cNvCxnSpPr/>
            <p:nvPr/>
          </p:nvCxnSpPr>
          <p:spPr>
            <a:xfrm>
              <a:off x="0" y="0"/>
              <a:ext cx="3799763" cy="0"/>
            </a:xfrm>
            <a:prstGeom prst="straightConnector1">
              <a:avLst/>
            </a:prstGeom>
            <a:gradFill>
              <a:gsLst>
                <a:gs pos="0">
                  <a:srgbClr val="A1A8C2"/>
                </a:gs>
                <a:gs pos="50000">
                  <a:srgbClr val="929DBC"/>
                </a:gs>
                <a:gs pos="100000">
                  <a:srgbClr val="7E89A7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719" name="Google Shape;719;p50"/>
            <p:cNvSpPr/>
            <p:nvPr/>
          </p:nvSpPr>
          <p:spPr>
            <a:xfrm>
              <a:off x="0" y="0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50"/>
            <p:cNvSpPr txBox="1"/>
            <p:nvPr/>
          </p:nvSpPr>
          <p:spPr>
            <a:xfrm>
              <a:off x="0" y="0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Адміністратор – це розробник інфраструктури</a:t>
              </a:r>
              <a:endParaRPr b="0" i="0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21" name="Google Shape;721;p50"/>
            <p:cNvCxnSpPr/>
            <p:nvPr/>
          </p:nvCxnSpPr>
          <p:spPr>
            <a:xfrm>
              <a:off x="0" y="941832"/>
              <a:ext cx="3799763" cy="0"/>
            </a:xfrm>
            <a:prstGeom prst="straightConnector1">
              <a:avLst/>
            </a:prstGeom>
            <a:gradFill>
              <a:gsLst>
                <a:gs pos="0">
                  <a:srgbClr val="8C95B1"/>
                </a:gs>
                <a:gs pos="50000">
                  <a:srgbClr val="7B87AB"/>
                </a:gs>
                <a:gs pos="100000">
                  <a:srgbClr val="6A7598"/>
                </a:gs>
              </a:gsLst>
              <a:lin ang="5400000" scaled="0"/>
            </a:gradFill>
            <a:ln cap="flat" cmpd="sng" w="9525">
              <a:solidFill>
                <a:srgbClr val="7E89A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722" name="Google Shape;722;p50"/>
            <p:cNvSpPr/>
            <p:nvPr/>
          </p:nvSpPr>
          <p:spPr>
            <a:xfrm>
              <a:off x="0" y="941832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0"/>
            <p:cNvSpPr txBox="1"/>
            <p:nvPr/>
          </p:nvSpPr>
          <p:spPr>
            <a:xfrm>
              <a:off x="0" y="941832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Замість кліків у консолі – написання коду (HCL)</a:t>
              </a:r>
              <a:endParaRPr/>
            </a:p>
          </p:txBody>
        </p:sp>
        <p:cxnSp>
          <p:nvCxnSpPr>
            <p:cNvPr id="724" name="Google Shape;724;p50"/>
            <p:cNvCxnSpPr/>
            <p:nvPr/>
          </p:nvCxnSpPr>
          <p:spPr>
            <a:xfrm>
              <a:off x="0" y="1883664"/>
              <a:ext cx="3799763" cy="0"/>
            </a:xfrm>
            <a:prstGeom prst="straightConnector1">
              <a:avLst/>
            </a:prstGeom>
            <a:gradFill>
              <a:gsLst>
                <a:gs pos="0">
                  <a:srgbClr val="7A83A2"/>
                </a:gs>
                <a:gs pos="50000">
                  <a:srgbClr val="64739A"/>
                </a:gs>
                <a:gs pos="100000">
                  <a:srgbClr val="566489"/>
                </a:gs>
              </a:gsLst>
              <a:lin ang="5400000" scaled="0"/>
            </a:gradFill>
            <a:ln cap="flat" cmpd="sng" w="9525">
              <a:solidFill>
                <a:srgbClr val="68759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725" name="Google Shape;725;p50"/>
            <p:cNvSpPr/>
            <p:nvPr/>
          </p:nvSpPr>
          <p:spPr>
            <a:xfrm>
              <a:off x="0" y="1883664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0"/>
            <p:cNvSpPr txBox="1"/>
            <p:nvPr/>
          </p:nvSpPr>
          <p:spPr>
            <a:xfrm>
              <a:off x="0" y="1883664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Використання Git, CI/CD, тестування</a:t>
              </a:r>
              <a:endParaRPr b="0" i="0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27" name="Google Shape;727;p50"/>
            <p:cNvCxnSpPr/>
            <p:nvPr/>
          </p:nvCxnSpPr>
          <p:spPr>
            <a:xfrm>
              <a:off x="0" y="2825495"/>
              <a:ext cx="3799763" cy="0"/>
            </a:xfrm>
            <a:prstGeom prst="straightConnector1">
              <a:avLst/>
            </a:prstGeom>
            <a:gradFill>
              <a:gsLst>
                <a:gs pos="0">
                  <a:srgbClr val="6D768D"/>
                </a:gs>
                <a:gs pos="50000">
                  <a:srgbClr val="566480"/>
                </a:gs>
                <a:gs pos="100000">
                  <a:srgbClr val="4B5672"/>
                </a:gs>
              </a:gsLst>
              <a:lin ang="5400000" scaled="0"/>
            </a:gradFill>
            <a:ln cap="flat" cmpd="sng" w="9525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</p:cxnSp>
        <p:sp>
          <p:nvSpPr>
            <p:cNvPr id="728" name="Google Shape;728;p50"/>
            <p:cNvSpPr/>
            <p:nvPr/>
          </p:nvSpPr>
          <p:spPr>
            <a:xfrm>
              <a:off x="0" y="2825495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0"/>
            <p:cNvSpPr txBox="1"/>
            <p:nvPr/>
          </p:nvSpPr>
          <p:spPr>
            <a:xfrm>
              <a:off x="0" y="2825495"/>
              <a:ext cx="3799763" cy="94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Інфраструктура як програмне забезпечення</a:t>
              </a:r>
              <a:endParaRPr b="0" i="0" sz="2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735" name="Google Shape;735;p51"/>
          <p:cNvSpPr txBox="1"/>
          <p:nvPr>
            <p:ph type="title"/>
          </p:nvPr>
        </p:nvSpPr>
        <p:spPr>
          <a:xfrm>
            <a:off x="700088" y="909637"/>
            <a:ext cx="640080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b="1" lang="en-US"/>
              <a:t>ВИСНОВКИ</a:t>
            </a:r>
            <a:endParaRPr/>
          </a:p>
        </p:txBody>
      </p:sp>
      <p:cxnSp>
        <p:nvCxnSpPr>
          <p:cNvPr id="736" name="Google Shape;736;p51"/>
          <p:cNvCxnSpPr/>
          <p:nvPr/>
        </p:nvCxnSpPr>
        <p:spPr>
          <a:xfrm>
            <a:off x="804672" y="723900"/>
            <a:ext cx="10588752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5,131 Conclusion Presentation Royalty-Free Images, Stock Photos &amp; Pictures  | Shutterstock" id="737" name="Google Shape;7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0976" y="2946915"/>
            <a:ext cx="3903980" cy="188367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738" name="Google Shape;738;p51"/>
          <p:cNvCxnSpPr/>
          <p:nvPr/>
        </p:nvCxnSpPr>
        <p:spPr>
          <a:xfrm>
            <a:off x="809065" y="6145599"/>
            <a:ext cx="10582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39" name="Google Shape;739;p51"/>
          <p:cNvGrpSpPr/>
          <p:nvPr/>
        </p:nvGrpSpPr>
        <p:grpSpPr>
          <a:xfrm>
            <a:off x="700088" y="2086154"/>
            <a:ext cx="6826888" cy="3725454"/>
            <a:chOff x="0" y="454"/>
            <a:chExt cx="6826888" cy="3725454"/>
          </a:xfrm>
        </p:grpSpPr>
        <p:cxnSp>
          <p:nvCxnSpPr>
            <p:cNvPr id="740" name="Google Shape;740;p51"/>
            <p:cNvCxnSpPr/>
            <p:nvPr/>
          </p:nvCxnSpPr>
          <p:spPr>
            <a:xfrm>
              <a:off x="0" y="454"/>
              <a:ext cx="6826888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1" name="Google Shape;741;p51"/>
            <p:cNvSpPr/>
            <p:nvPr/>
          </p:nvSpPr>
          <p:spPr>
            <a:xfrm>
              <a:off x="0" y="454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51"/>
            <p:cNvSpPr txBox="1"/>
            <p:nvPr/>
          </p:nvSpPr>
          <p:spPr>
            <a:xfrm>
              <a:off x="0" y="454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IaC виключає людський фактор при налаштуванні хмарних ресурсів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43" name="Google Shape;743;p51"/>
            <p:cNvCxnSpPr/>
            <p:nvPr/>
          </p:nvCxnSpPr>
          <p:spPr>
            <a:xfrm>
              <a:off x="0" y="745545"/>
              <a:ext cx="6826888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4" name="Google Shape;744;p51"/>
            <p:cNvSpPr/>
            <p:nvPr/>
          </p:nvSpPr>
          <p:spPr>
            <a:xfrm>
              <a:off x="0" y="745545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51"/>
            <p:cNvSpPr txBox="1"/>
            <p:nvPr/>
          </p:nvSpPr>
          <p:spPr>
            <a:xfrm>
              <a:off x="0" y="745545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Terraform дозволяє версіонувати інфраструктуру так само, як код додатку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46" name="Google Shape;746;p51"/>
            <p:cNvCxnSpPr/>
            <p:nvPr/>
          </p:nvCxnSpPr>
          <p:spPr>
            <a:xfrm>
              <a:off x="0" y="1490636"/>
              <a:ext cx="6826888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7" name="Google Shape;747;p51"/>
            <p:cNvSpPr/>
            <p:nvPr/>
          </p:nvSpPr>
          <p:spPr>
            <a:xfrm>
              <a:off x="0" y="1490636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1"/>
            <p:cNvSpPr txBox="1"/>
            <p:nvPr/>
          </p:nvSpPr>
          <p:spPr>
            <a:xfrm>
              <a:off x="0" y="1490636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Файл стану є єдиним джерелом істини про реальні ресурси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49" name="Google Shape;749;p51"/>
            <p:cNvCxnSpPr/>
            <p:nvPr/>
          </p:nvCxnSpPr>
          <p:spPr>
            <a:xfrm>
              <a:off x="0" y="2235727"/>
              <a:ext cx="6826888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0" name="Google Shape;750;p51"/>
            <p:cNvSpPr/>
            <p:nvPr/>
          </p:nvSpPr>
          <p:spPr>
            <a:xfrm>
              <a:off x="0" y="2235727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1"/>
            <p:cNvSpPr txBox="1"/>
            <p:nvPr/>
          </p:nvSpPr>
          <p:spPr>
            <a:xfrm>
              <a:off x="0" y="2235727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Декларативний підхід фокусується на «що створити», а не «як це робити»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752" name="Google Shape;752;p51"/>
            <p:cNvCxnSpPr/>
            <p:nvPr/>
          </p:nvCxnSpPr>
          <p:spPr>
            <a:xfrm>
              <a:off x="0" y="2980818"/>
              <a:ext cx="6826888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3" name="Google Shape;753;p51"/>
            <p:cNvSpPr/>
            <p:nvPr/>
          </p:nvSpPr>
          <p:spPr>
            <a:xfrm>
              <a:off x="0" y="2980818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1"/>
            <p:cNvSpPr txBox="1"/>
            <p:nvPr/>
          </p:nvSpPr>
          <p:spPr>
            <a:xfrm>
              <a:off x="0" y="2980818"/>
              <a:ext cx="6826888" cy="745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Адміністратор у 2026 році – це перш за все розробник інфраструктури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9" name="Google Shape;759;p52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0" name="Google Shape;760;p52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1" name="Google Shape;761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762" name="Google Shape;762;p52"/>
          <p:cNvSpPr txBox="1"/>
          <p:nvPr>
            <p:ph type="title"/>
          </p:nvPr>
        </p:nvSpPr>
        <p:spPr>
          <a:xfrm>
            <a:off x="800102" y="960594"/>
            <a:ext cx="5828114" cy="4936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</a:pPr>
            <a:r>
              <a:rPr lang="en-US" sz="6000"/>
              <a:t>ДЯКУЮ ЗА УВАГУ!</a:t>
            </a:r>
            <a:endParaRPr/>
          </a:p>
        </p:txBody>
      </p:sp>
      <p:sp>
        <p:nvSpPr>
          <p:cNvPr id="763" name="Google Shape;763;p52"/>
          <p:cNvSpPr txBox="1"/>
          <p:nvPr>
            <p:ph idx="1" type="body"/>
          </p:nvPr>
        </p:nvSpPr>
        <p:spPr>
          <a:xfrm>
            <a:off x="8002185" y="1390650"/>
            <a:ext cx="3019423" cy="40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Питання?</a:t>
            </a:r>
            <a:endParaRPr/>
          </a:p>
        </p:txBody>
      </p:sp>
      <p:cxnSp>
        <p:nvCxnSpPr>
          <p:cNvPr id="764" name="Google Shape;764;p52"/>
          <p:cNvCxnSpPr/>
          <p:nvPr/>
        </p:nvCxnSpPr>
        <p:spPr>
          <a:xfrm rot="10800000">
            <a:off x="7315200" y="1733549"/>
            <a:ext cx="0" cy="3390901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